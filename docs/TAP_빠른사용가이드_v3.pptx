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페이퍼로지 2 ExtraLight" pitchFamily="2" charset="-127"/>
      <p:regular r:id="rId12"/>
    </p:embeddedFont>
    <p:embeddedFont>
      <p:font typeface="페이퍼로지 4 Regular" pitchFamily="2" charset="-127"/>
      <p:regular r:id="rId13"/>
    </p:embeddedFont>
    <p:embeddedFont>
      <p:font typeface="페이퍼로지 5 Medium" pitchFamily="2" charset="-127"/>
      <p:regular r:id="rId14"/>
    </p:embeddedFont>
    <p:embeddedFont>
      <p:font typeface="페이퍼로지 6 SemiBold" pitchFamily="2" charset="-127"/>
      <p:bold r:id="rId15"/>
    </p:embeddedFont>
    <p:embeddedFont>
      <p:font typeface="페이퍼로지 7 Bold" pitchFamily="2" charset="-127"/>
      <p:bold r:id="rId16"/>
    </p:embeddedFont>
    <p:embeddedFont>
      <p:font typeface="페이퍼로지 8 ExtraBold" pitchFamily="2" charset="-127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guide deck and inherited visual template: docs/TAP_빠른사용가이드_v3.pptx.</a:t>
            </a:r>
          </a:p>
          <a:p>
            <a:r>
              <a:t>- TAP application source, README, and current implemented flows, inspected 2026-08-20.</a:t>
            </a:r>
          </a:p>
          <a:p>
            <a:r>
              <a:t>- TAP education-evaluation review: docs/TAP_교육평가_검토보고서_v2.md.</a:t>
            </a:r>
          </a:p>
          <a:p>
            <a:r>
              <a:t>- Slide 9 screenshot: current organization-report project selection screen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C10F393-A48F-F642-66FB-6D14653B40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DA6C402-FDB4-6270-C720-21D2D9010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UDIO_TOC">
    <p:bg>
      <p:bgPr>
        <a:solidFill>
          <a:srgbClr val="DD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0DB86DE-E6F1-C0EE-E966-8CE196B19517}"/>
              </a:ext>
            </a:extLst>
          </p:cNvPr>
          <p:cNvSpPr>
            <a:spLocks noGrp="1"/>
          </p:cNvSpPr>
          <p:nvPr/>
        </p:nvSpPr>
        <p:spPr>
          <a:xfrm>
            <a:off x="0" y="1000353"/>
            <a:ext cx="18288000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54116" y="2514600"/>
            <a:ext cx="457200" cy="19202"/>
          </a:xfrm>
          <a:prstGeom prst="rect">
            <a:avLst/>
          </a:prstGeom>
        </p:spPr>
      </p:pic>
      <p:pic>
        <p:nvPicPr>
          <p:cNvPr id="21" name="Image 1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7588BFF-A375-4EE5-86EC-882455CAFED7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57150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TAP USER GUIDE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A6555D4-4FC0-43F5-89EA-710ADBB5FE0E}"/>
              </a:ext>
            </a:extLst>
          </p:cNvPr>
          <p:cNvSpPr>
            <a:spLocks noGrp="1"/>
          </p:cNvSpPr>
          <p:nvPr/>
        </p:nvSpPr>
        <p:spPr>
          <a:xfrm>
            <a:off x="1143000" y="1333195"/>
            <a:ext cx="5715000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6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회원사 교육 전후 역량평가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F94598D-D2EA-447C-A288-E759C5A622C0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4859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b="0">
                <a:solidFill>
                  <a:srgbClr val="0A0E10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3800" b="0">
                <a:solidFill>
                  <a:srgbClr val="0A0E10"/>
                </a:solidFill>
                <a:latin typeface="페이퍼로지 8 ExtraBold"/>
                <a:ea typeface="페이퍼로지 8 ExtraBold"/>
                <a:cs typeface="페이퍼로지 8 ExtraBold"/>
              </a:rPr>
              <a:t>TAP 사용설명서</a:t>
            </a:r>
          </a:p>
          <a:p>
            <a:pPr algn="l">
              <a:buNone/>
              <a:defRPr b="0">
                <a:solidFill>
                  <a:srgbClr val="0A0E10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5400" b="0">
                <a:solidFill>
                  <a:srgbClr val="0A0E10"/>
                </a:solidFill>
                <a:latin typeface="페이퍼로지 8 ExtraBold"/>
                <a:ea typeface="페이퍼로지 8 ExtraBold"/>
                <a:cs typeface="페이퍼로지 8 ExtraBold"/>
              </a:rPr>
              <a:t>교육 전후 변화를 다음 개선으로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1895F6A-EFDF-4122-8361-5A1B7C553E9C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7239305" cy="71506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6C7476"/>
                </a:solidFill>
                <a:latin typeface="페이퍼로지 6 SemiBold"/>
                <a:ea typeface="페이퍼로지 6 SemiBold"/>
                <a:cs typeface="페이퍼로지 6 SemiBold"/>
              </a:rPr>
              <a:t>교육담당자 · 참여자 · KMA 관리자  |  2026.08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3249269-3EBF-411F-9214-578C112E70CE}"/>
              </a:ext>
            </a:extLst>
          </p:cNvPr>
          <p:cNvSpPr>
            <a:spLocks noGrp="1"/>
          </p:cNvSpPr>
          <p:nvPr/>
        </p:nvSpPr>
        <p:spPr>
          <a:xfrm>
            <a:off x="1143000" y="7239305"/>
            <a:ext cx="886054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이해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98378CE-77A5-42F4-9386-8900A1B4DAB7}"/>
              </a:ext>
            </a:extLst>
          </p:cNvPr>
          <p:cNvSpPr>
            <a:spLocks noGrp="1"/>
          </p:cNvSpPr>
          <p:nvPr/>
        </p:nvSpPr>
        <p:spPr>
          <a:xfrm>
            <a:off x="2199132" y="7295998"/>
            <a:ext cx="47549" cy="47549"/>
          </a:xfrm>
          <a:prstGeom prst="ellipse">
            <a:avLst/>
          </a:prstGeom>
          <a:solidFill>
            <a:srgbClr val="00B5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7827250-D715-47E9-BF85-D371494E4EEC}"/>
              </a:ext>
            </a:extLst>
          </p:cNvPr>
          <p:cNvSpPr>
            <a:spLocks noGrp="1"/>
          </p:cNvSpPr>
          <p:nvPr/>
        </p:nvSpPr>
        <p:spPr>
          <a:xfrm>
            <a:off x="2418588" y="7239305"/>
            <a:ext cx="1095451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사용 순서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B004A06-9C22-4464-A98C-947C74A78A8E}"/>
              </a:ext>
            </a:extLst>
          </p:cNvPr>
          <p:cNvSpPr>
            <a:spLocks noGrp="1"/>
          </p:cNvSpPr>
          <p:nvPr/>
        </p:nvSpPr>
        <p:spPr>
          <a:xfrm>
            <a:off x="3683203" y="7295998"/>
            <a:ext cx="47549" cy="47549"/>
          </a:xfrm>
          <a:prstGeom prst="ellipse">
            <a:avLst/>
          </a:prstGeom>
          <a:solidFill>
            <a:srgbClr val="00B5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355592F-483C-412C-AFF7-1A7C1D0A40A0}"/>
              </a:ext>
            </a:extLst>
          </p:cNvPr>
          <p:cNvSpPr>
            <a:spLocks noGrp="1"/>
          </p:cNvSpPr>
          <p:nvPr/>
        </p:nvSpPr>
        <p:spPr>
          <a:xfrm>
            <a:off x="3902659" y="7239305"/>
            <a:ext cx="486461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버튼 안내</a:t>
            </a:r>
          </a:p>
        </p:txBody>
      </p:sp>
    </p:spTree>
    <p:extLst>
      <p:ext uri="{BB962C8B-B14F-4D97-AF65-F5344CB8AC3E}">
        <p14:creationId xmlns:p14="http://schemas.microsoft.com/office/powerpoint/2010/main" val="11975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3DFA59CA-2888-E92C-D36A-7C087629D135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7620610" cy="14484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TAP은 교육 전후 변화를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같은 기준으로 확인합니다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F01E7FD-710D-70CA-AB54-FFD4CBA4B38B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7429500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 출발점을 기록하고, 교육 중 현업 적용을 거친 뒤 같은 행동문항으로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후에 다시 측정해 변화와 현업 적용환경을 확인합니다.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979613-820C-68B0-3020-76B2B004410B}"/>
              </a:ext>
            </a:extLst>
          </p:cNvPr>
          <p:cNvSpPr>
            <a:spLocks noGrp="1"/>
          </p:cNvSpPr>
          <p:nvPr/>
        </p:nvSpPr>
        <p:spPr>
          <a:xfrm>
            <a:off x="1143000" y="6476695"/>
            <a:ext cx="228600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F477ABB-A118-6E27-2F73-2B9EDE14DB6C}"/>
              </a:ext>
            </a:extLst>
          </p:cNvPr>
          <p:cNvSpPr>
            <a:spLocks noGrp="1"/>
          </p:cNvSpPr>
          <p:nvPr/>
        </p:nvSpPr>
        <p:spPr>
          <a:xfrm>
            <a:off x="1143000" y="6810451"/>
            <a:ext cx="2286000" cy="2862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 전 검사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B672A9E-C4D6-5620-194E-059E6E40C478}"/>
              </a:ext>
            </a:extLst>
          </p:cNvPr>
          <p:cNvSpPr>
            <a:spLocks noGrp="1"/>
          </p:cNvSpPr>
          <p:nvPr/>
        </p:nvSpPr>
        <p:spPr>
          <a:xfrm>
            <a:off x="1143000" y="7229246"/>
            <a:ext cx="2286000" cy="5056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출발점 기록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188F215-E8C2-D2C2-6890-A9D7E20D5B69}"/>
              </a:ext>
            </a:extLst>
          </p:cNvPr>
          <p:cNvSpPr>
            <a:spLocks noGrp="1"/>
          </p:cNvSpPr>
          <p:nvPr/>
        </p:nvSpPr>
        <p:spPr>
          <a:xfrm>
            <a:off x="4095598" y="6476695"/>
            <a:ext cx="228600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02773F1-F230-E5B7-AB67-E3B93F9DC1A5}"/>
              </a:ext>
            </a:extLst>
          </p:cNvPr>
          <p:cNvSpPr>
            <a:spLocks noGrp="1"/>
          </p:cNvSpPr>
          <p:nvPr/>
        </p:nvSpPr>
        <p:spPr>
          <a:xfrm>
            <a:off x="4095598" y="6810451"/>
            <a:ext cx="2286000" cy="2862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 후 검사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620C19-402F-1A79-B79C-487B4E6A831B}"/>
              </a:ext>
            </a:extLst>
          </p:cNvPr>
          <p:cNvSpPr>
            <a:spLocks noGrp="1"/>
          </p:cNvSpPr>
          <p:nvPr/>
        </p:nvSpPr>
        <p:spPr>
          <a:xfrm>
            <a:off x="4095598" y="7229246"/>
            <a:ext cx="2286000" cy="5056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같은 문항으로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현업 행동 재측정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D33D5E3-3E55-FA73-07C8-351FBE38692C}"/>
              </a:ext>
            </a:extLst>
          </p:cNvPr>
          <p:cNvSpPr>
            <a:spLocks noGrp="1"/>
          </p:cNvSpPr>
          <p:nvPr/>
        </p:nvSpPr>
        <p:spPr>
          <a:xfrm>
            <a:off x="7048195" y="6476695"/>
            <a:ext cx="228600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C86F90E-30AA-F6C6-C349-5ACAB495F580}"/>
              </a:ext>
            </a:extLst>
          </p:cNvPr>
          <p:cNvSpPr>
            <a:spLocks noGrp="1"/>
          </p:cNvSpPr>
          <p:nvPr/>
        </p:nvSpPr>
        <p:spPr>
          <a:xfrm>
            <a:off x="7048195" y="6810451"/>
            <a:ext cx="2286000" cy="2862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다음 행동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6088DD1-10B8-BAE8-4A3D-AB14DA41F3E5}"/>
              </a:ext>
            </a:extLst>
          </p:cNvPr>
          <p:cNvSpPr>
            <a:spLocks noGrp="1"/>
          </p:cNvSpPr>
          <p:nvPr/>
        </p:nvSpPr>
        <p:spPr>
          <a:xfrm>
            <a:off x="7048195" y="7229246"/>
            <a:ext cx="2286000" cy="5056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동일 참여자 변화와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전이 조건 확인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6E0A1F2-D7C3-2D5B-5BB7-AD6A734A57D7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CDD74CE-8565-9840-73F8-F32FDA42C336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D81AE81-1ADF-EC5B-0BB4-A65E6644537C}"/>
              </a:ext>
            </a:extLst>
          </p:cNvPr>
          <p:cNvSpPr>
            <a:spLocks noGrp="1"/>
          </p:cNvSpPr>
          <p:nvPr/>
        </p:nvSpPr>
        <p:spPr>
          <a:xfrm>
            <a:off x="1142999" y="900326"/>
            <a:ext cx="22383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SERVICE SUMMARY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42D43A1-F24C-A8FD-5086-75529A246E43}"/>
              </a:ext>
            </a:extLst>
          </p:cNvPr>
          <p:cNvSpPr>
            <a:spLocks noGrp="1"/>
          </p:cNvSpPr>
          <p:nvPr/>
        </p:nvSpPr>
        <p:spPr>
          <a:xfrm>
            <a:off x="16163925" y="900326"/>
            <a:ext cx="101758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8236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EDC866E3-24F5-49DE-AD0B-5E6E8D8A3358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7C3B50-DC20-4F8A-B5CC-3156A3343C48}"/>
              </a:ext>
            </a:extLst>
          </p:cNvPr>
          <p:cNvSpPr>
            <a:spLocks noGrp="1"/>
          </p:cNvSpPr>
          <p:nvPr/>
        </p:nvSpPr>
        <p:spPr>
          <a:xfrm>
            <a:off x="9905695" y="1714500"/>
            <a:ext cx="7239305" cy="7239305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F889484-E45F-4FEE-BEAA-0F19B0968669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88595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ROLE &amp; ACCESS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00BFA6-B5DA-4B8B-8072-6FE99AD7DC73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8001000" cy="14484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담당자별 다른 화면으로</a:t>
            </a:r>
            <a:endParaRPr sz="4800">
              <a:solidFill>
                <a:srgbClr val="0A0E10"/>
              </a:solidFill>
              <a:latin typeface="페이퍼로지 2 ExtraLight"/>
              <a:ea typeface="페이퍼로지 2 ExtraLight"/>
              <a:cs typeface="페이퍼로지 2 ExtraLight"/>
            </a:endParaRP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열람 범위를 설정합니다.</a:t>
            </a:r>
            <a:endParaRPr sz="4800">
              <a:solidFill>
                <a:srgbClr val="0A0E10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5AB2B7-DC51-4B74-9025-5A22A7873775}"/>
              </a:ext>
            </a:extLst>
          </p:cNvPr>
          <p:cNvSpPr>
            <a:spLocks noGrp="1"/>
          </p:cNvSpPr>
          <p:nvPr/>
        </p:nvSpPr>
        <p:spPr>
          <a:xfrm>
            <a:off x="1143000" y="6286500"/>
            <a:ext cx="362011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8C38AD6-6B0F-4B1B-9621-8BFBA7DA22F9}"/>
              </a:ext>
            </a:extLst>
          </p:cNvPr>
          <p:cNvSpPr>
            <a:spLocks noGrp="1"/>
          </p:cNvSpPr>
          <p:nvPr/>
        </p:nvSpPr>
        <p:spPr>
          <a:xfrm>
            <a:off x="1143000" y="6620256"/>
            <a:ext cx="3620110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교육담당자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1CE548-484D-4A33-9ED7-2E464BA0525B}"/>
              </a:ext>
            </a:extLst>
          </p:cNvPr>
          <p:cNvSpPr>
            <a:spLocks noGrp="1"/>
          </p:cNvSpPr>
          <p:nvPr/>
        </p:nvSpPr>
        <p:spPr>
          <a:xfrm>
            <a:off x="1143000" y="7000646"/>
            <a:ext cx="3620110" cy="2478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일정 · 조직 변화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AF3B7E-D856-4CE0-979E-3C20F8F16FBB}"/>
              </a:ext>
            </a:extLst>
          </p:cNvPr>
          <p:cNvSpPr>
            <a:spLocks noGrp="1"/>
          </p:cNvSpPr>
          <p:nvPr/>
        </p:nvSpPr>
        <p:spPr>
          <a:xfrm>
            <a:off x="5143500" y="6286500"/>
            <a:ext cx="362011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020F00B-53B8-4678-BEC1-E0267DE4DB05}"/>
              </a:ext>
            </a:extLst>
          </p:cNvPr>
          <p:cNvSpPr>
            <a:spLocks noGrp="1"/>
          </p:cNvSpPr>
          <p:nvPr/>
        </p:nvSpPr>
        <p:spPr>
          <a:xfrm>
            <a:off x="5143500" y="6620256"/>
            <a:ext cx="3620110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참여자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42C3DDD-61D8-405A-BD62-70ABE0E5B697}"/>
              </a:ext>
            </a:extLst>
          </p:cNvPr>
          <p:cNvSpPr>
            <a:spLocks noGrp="1"/>
          </p:cNvSpPr>
          <p:nvPr/>
        </p:nvSpPr>
        <p:spPr>
          <a:xfrm>
            <a:off x="5143500" y="7000646"/>
            <a:ext cx="3620110" cy="2478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전후 · 내 변화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2429BE4-CDA5-4001-A698-E2180F1F59E7}"/>
              </a:ext>
            </a:extLst>
          </p:cNvPr>
          <p:cNvSpPr>
            <a:spLocks noGrp="1"/>
          </p:cNvSpPr>
          <p:nvPr/>
        </p:nvSpPr>
        <p:spPr>
          <a:xfrm>
            <a:off x="1143000" y="7810805"/>
            <a:ext cx="362011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5E2A1D7-74E9-4087-BC3E-73178F2623DF}"/>
              </a:ext>
            </a:extLst>
          </p:cNvPr>
          <p:cNvSpPr>
            <a:spLocks noGrp="1"/>
          </p:cNvSpPr>
          <p:nvPr/>
        </p:nvSpPr>
        <p:spPr>
          <a:xfrm>
            <a:off x="1143000" y="8143646"/>
            <a:ext cx="3620110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KMA 관리자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C530BDB-D51B-4622-AEB9-DB0AAA7B5D9E}"/>
              </a:ext>
            </a:extLst>
          </p:cNvPr>
          <p:cNvSpPr>
            <a:spLocks noGrp="1"/>
          </p:cNvSpPr>
          <p:nvPr/>
        </p:nvSpPr>
        <p:spPr>
          <a:xfrm>
            <a:off x="1143000" y="8524951"/>
            <a:ext cx="3620110" cy="2478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운영현황 · 문항검수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0FB7444-4885-4E76-8E01-B6ABBAE6118F}"/>
              </a:ext>
            </a:extLst>
          </p:cNvPr>
          <p:cNvSpPr>
            <a:spLocks noGrp="1"/>
          </p:cNvSpPr>
          <p:nvPr/>
        </p:nvSpPr>
        <p:spPr>
          <a:xfrm>
            <a:off x="5143500" y="7810805"/>
            <a:ext cx="3620110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04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7BC6A3-AD8A-496B-A61D-5B3044338C74}"/>
              </a:ext>
            </a:extLst>
          </p:cNvPr>
          <p:cNvSpPr>
            <a:spLocks noGrp="1"/>
          </p:cNvSpPr>
          <p:nvPr/>
        </p:nvSpPr>
        <p:spPr>
          <a:xfrm>
            <a:off x="5143500" y="8143646"/>
            <a:ext cx="3620110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공통 원칙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D8A459E-A2D9-4E3E-94FE-C42BF67DE789}"/>
              </a:ext>
            </a:extLst>
          </p:cNvPr>
          <p:cNvSpPr>
            <a:spLocks noGrp="1"/>
          </p:cNvSpPr>
          <p:nvPr/>
        </p:nvSpPr>
        <p:spPr>
          <a:xfrm>
            <a:off x="5143500" y="8524951"/>
            <a:ext cx="3620110" cy="2478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개인정보 최소 공개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71015A9-AF87-4399-A204-FADF0CD720ED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32" name="concept-flow-1">
            <a:extLst>
              <a:ext uri="{FF2B5EF4-FFF2-40B4-BE49-F238E27FC236}">
                <a16:creationId xmlns:a16="http://schemas.microsoft.com/office/drawing/2014/main" id="{717CD388-9B7B-4143-8144-38D00D7A5C5C}"/>
              </a:ext>
            </a:extLst>
          </p:cNvPr>
          <p:cNvSpPr>
            <a:spLocks noGrp="1"/>
          </p:cNvSpPr>
          <p:nvPr/>
        </p:nvSpPr>
        <p:spPr>
          <a:xfrm>
            <a:off x="11287125" y="5357524"/>
            <a:ext cx="2238375" cy="0"/>
          </a:xfrm>
          <a:prstGeom prst="line">
            <a:avLst/>
          </a:prstGeom>
          <a:noFill/>
          <a:ln w="20955">
            <a:solidFill>
              <a:srgbClr val="C7D9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concept-flow-2">
            <a:extLst>
              <a:ext uri="{FF2B5EF4-FFF2-40B4-BE49-F238E27FC236}">
                <a16:creationId xmlns:a16="http://schemas.microsoft.com/office/drawing/2014/main" id="{EAD99F34-9C65-45AF-B900-84DB2C533019}"/>
              </a:ext>
            </a:extLst>
          </p:cNvPr>
          <p:cNvSpPr>
            <a:spLocks noGrp="1"/>
          </p:cNvSpPr>
          <p:nvPr/>
        </p:nvSpPr>
        <p:spPr>
          <a:xfrm>
            <a:off x="13525500" y="5357524"/>
            <a:ext cx="2238375" cy="0"/>
          </a:xfrm>
          <a:prstGeom prst="line">
            <a:avLst/>
          </a:prstGeom>
          <a:noFill/>
          <a:ln w="20955">
            <a:solidFill>
              <a:srgbClr val="C7D9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concept-badge">
            <a:extLst>
              <a:ext uri="{FF2B5EF4-FFF2-40B4-BE49-F238E27FC236}">
                <a16:creationId xmlns:a16="http://schemas.microsoft.com/office/drawing/2014/main" id="{A2B430A5-542F-4F96-849E-393283C2AEBA}"/>
              </a:ext>
            </a:extLst>
          </p:cNvPr>
          <p:cNvSpPr>
            <a:spLocks noGrp="1"/>
          </p:cNvSpPr>
          <p:nvPr/>
        </p:nvSpPr>
        <p:spPr>
          <a:xfrm>
            <a:off x="12192000" y="3262024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0B5AC"/>
          </a:solidFill>
          <a:ln w="1333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sz="1600"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>역할별 화면 · 접근 분리</a:t>
            </a:r>
          </a:p>
        </p:txBody>
      </p:sp>
      <p:sp>
        <p:nvSpPr>
          <p:cNvPr id="35" name="concept-a">
            <a:extLst>
              <a:ext uri="{FF2B5EF4-FFF2-40B4-BE49-F238E27FC236}">
                <a16:creationId xmlns:a16="http://schemas.microsoft.com/office/drawing/2014/main" id="{4913A229-4B0F-49E1-AD0D-040DBCD621EC}"/>
              </a:ext>
            </a:extLst>
          </p:cNvPr>
          <p:cNvSpPr>
            <a:spLocks noGrp="1"/>
          </p:cNvSpPr>
          <p:nvPr/>
        </p:nvSpPr>
        <p:spPr>
          <a:xfrm>
            <a:off x="10620375" y="4690774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교육담당자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조직 운영</a:t>
            </a:r>
          </a:p>
        </p:txBody>
      </p:sp>
      <p:sp>
        <p:nvSpPr>
          <p:cNvPr id="36" name="concept-b">
            <a:extLst>
              <a:ext uri="{FF2B5EF4-FFF2-40B4-BE49-F238E27FC236}">
                <a16:creationId xmlns:a16="http://schemas.microsoft.com/office/drawing/2014/main" id="{0C0ADA75-9D8F-485A-AFFB-44A12F4E3B33}"/>
              </a:ext>
            </a:extLst>
          </p:cNvPr>
          <p:cNvSpPr>
            <a:spLocks noGrp="1"/>
          </p:cNvSpPr>
          <p:nvPr/>
        </p:nvSpPr>
        <p:spPr>
          <a:xfrm>
            <a:off x="12858750" y="4690774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참여자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본인 결과</a:t>
            </a:r>
          </a:p>
        </p:txBody>
      </p:sp>
      <p:sp>
        <p:nvSpPr>
          <p:cNvPr id="37" name="concept-ab">
            <a:extLst>
              <a:ext uri="{FF2B5EF4-FFF2-40B4-BE49-F238E27FC236}">
                <a16:creationId xmlns:a16="http://schemas.microsoft.com/office/drawing/2014/main" id="{A6F7D5E1-03AC-4618-A7BC-7F6748D13388}"/>
              </a:ext>
            </a:extLst>
          </p:cNvPr>
          <p:cNvSpPr>
            <a:spLocks noGrp="1"/>
          </p:cNvSpPr>
          <p:nvPr/>
        </p:nvSpPr>
        <p:spPr>
          <a:xfrm>
            <a:off x="15097125" y="4690774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KMA 관리자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도구 품질</a:t>
            </a:r>
          </a:p>
        </p:txBody>
      </p:sp>
      <p:sp>
        <p:nvSpPr>
          <p:cNvPr id="38" name="concept-result-a">
            <a:extLst>
              <a:ext uri="{FF2B5EF4-FFF2-40B4-BE49-F238E27FC236}">
                <a16:creationId xmlns:a16="http://schemas.microsoft.com/office/drawing/2014/main" id="{D308B340-70F6-40D2-B87F-2B77ED548F87}"/>
              </a:ext>
            </a:extLst>
          </p:cNvPr>
          <p:cNvSpPr>
            <a:spLocks noGrp="1"/>
          </p:cNvSpPr>
          <p:nvPr/>
        </p:nvSpPr>
        <p:spPr>
          <a:xfrm>
            <a:off x="10477500" y="6786274"/>
            <a:ext cx="1619250" cy="68580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 w="13335">
            <a:solidFill>
              <a:srgbClr val="C7D9DA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5명 이상 공개</a:t>
            </a:r>
          </a:p>
        </p:txBody>
      </p:sp>
      <p:sp>
        <p:nvSpPr>
          <p:cNvPr id="39" name="concept-result-b">
            <a:extLst>
              <a:ext uri="{FF2B5EF4-FFF2-40B4-BE49-F238E27FC236}">
                <a16:creationId xmlns:a16="http://schemas.microsoft.com/office/drawing/2014/main" id="{2C67017C-0697-481B-A615-F01504C41FAA}"/>
              </a:ext>
            </a:extLst>
          </p:cNvPr>
          <p:cNvSpPr>
            <a:spLocks noGrp="1"/>
          </p:cNvSpPr>
          <p:nvPr/>
        </p:nvSpPr>
        <p:spPr>
          <a:xfrm>
            <a:off x="12715875" y="6786274"/>
            <a:ext cx="1619250" cy="68580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 w="13335">
            <a:solidFill>
              <a:srgbClr val="C7D9DA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공유는 선택</a:t>
            </a:r>
          </a:p>
        </p:txBody>
      </p:sp>
      <p:sp>
        <p:nvSpPr>
          <p:cNvPr id="40" name="concept-result-ab">
            <a:extLst>
              <a:ext uri="{FF2B5EF4-FFF2-40B4-BE49-F238E27FC236}">
                <a16:creationId xmlns:a16="http://schemas.microsoft.com/office/drawing/2014/main" id="{79A65F2B-A3FB-4CFC-84B5-E8FBBFF29F0A}"/>
              </a:ext>
            </a:extLst>
          </p:cNvPr>
          <p:cNvSpPr>
            <a:spLocks noGrp="1"/>
          </p:cNvSpPr>
          <p:nvPr/>
        </p:nvSpPr>
        <p:spPr>
          <a:xfrm>
            <a:off x="14954250" y="6786274"/>
            <a:ext cx="1619250" cy="68580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 w="13335">
            <a:solidFill>
              <a:srgbClr val="C7D9DA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점수 기본 미열람</a:t>
            </a:r>
          </a:p>
        </p:txBody>
      </p:sp>
      <p:sp>
        <p:nvSpPr>
          <p:cNvPr id="41" name="concept-month-1">
            <a:extLst>
              <a:ext uri="{FF2B5EF4-FFF2-40B4-BE49-F238E27FC236}">
                <a16:creationId xmlns:a16="http://schemas.microsoft.com/office/drawing/2014/main" id="{7F624207-AA90-48B2-9A90-37E6FF88799A}"/>
              </a:ext>
            </a:extLst>
          </p:cNvPr>
          <p:cNvSpPr>
            <a:spLocks noGrp="1"/>
          </p:cNvSpPr>
          <p:nvPr/>
        </p:nvSpPr>
        <p:spPr>
          <a:xfrm>
            <a:off x="10572750" y="4233574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3335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교육담당자 · 참여자</a:t>
            </a:r>
          </a:p>
        </p:txBody>
      </p:sp>
      <p:sp>
        <p:nvSpPr>
          <p:cNvPr id="42" name="concept-month-2">
            <a:extLst>
              <a:ext uri="{FF2B5EF4-FFF2-40B4-BE49-F238E27FC236}">
                <a16:creationId xmlns:a16="http://schemas.microsoft.com/office/drawing/2014/main" id="{E967CC4D-5CCF-4290-8FF2-C83C7CD689CF}"/>
              </a:ext>
            </a:extLst>
          </p:cNvPr>
          <p:cNvSpPr>
            <a:spLocks noGrp="1"/>
          </p:cNvSpPr>
          <p:nvPr/>
        </p:nvSpPr>
        <p:spPr>
          <a:xfrm>
            <a:off x="14954250" y="4233574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3335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KMA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9D4BA9D-269E-C719-BC7B-6CB9A8D9A168}"/>
              </a:ext>
            </a:extLst>
          </p:cNvPr>
          <p:cNvSpPr>
            <a:spLocks noGrp="1"/>
          </p:cNvSpPr>
          <p:nvPr/>
        </p:nvSpPr>
        <p:spPr>
          <a:xfrm>
            <a:off x="16163925" y="900326"/>
            <a:ext cx="101758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2463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171F3167-D0F6-A154-3969-882D538188DF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910152-35D2-44BA-B745-A951087A6ABF}"/>
              </a:ext>
            </a:extLst>
          </p:cNvPr>
          <p:cNvSpPr>
            <a:spLocks noGrp="1"/>
          </p:cNvSpPr>
          <p:nvPr/>
        </p:nvSpPr>
        <p:spPr>
          <a:xfrm>
            <a:off x="10287000" y="1714500"/>
            <a:ext cx="6858000" cy="7239305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01D4990-29A3-4468-AD6C-B50C06EADF3C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42875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RESULT USE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474DB0-9A5B-4CE3-AE6B-55D4443B8635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8572500" cy="1353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교육 전후 변화와 전이 조건을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다음 개선에 반영합니다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3CA359B-CBBA-44AE-9F0B-F92792978D3D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8572500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후 점수만으로 교육효과를 단정하지 않습니다.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적용기회 · 상사지원 · 도구 · 권한을 함께 봅니다.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EB2A4FA-C378-46BA-9B70-8E966295EEE0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8287207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71020C2-BC00-4FEB-868A-A7DDB966AC0E}"/>
              </a:ext>
            </a:extLst>
          </p:cNvPr>
          <p:cNvSpPr>
            <a:spLocks noGrp="1"/>
          </p:cNvSpPr>
          <p:nvPr/>
        </p:nvSpPr>
        <p:spPr>
          <a:xfrm>
            <a:off x="1143000" y="5896051"/>
            <a:ext cx="8287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개인 리포트 · 본인의 교육 전후 변화 확인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AD8DDF0-7039-4E27-8B11-2D413AA231FC}"/>
              </a:ext>
            </a:extLst>
          </p:cNvPr>
          <p:cNvSpPr>
            <a:spLocks noGrp="1"/>
          </p:cNvSpPr>
          <p:nvPr/>
        </p:nvSpPr>
        <p:spPr>
          <a:xfrm>
            <a:off x="1143000" y="6258154"/>
            <a:ext cx="8287207" cy="277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동일 문항의 교육 전후 점수 · 관찰 변화 · 현업 적용환경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51D52D4-BF9F-4AEC-A9D4-540643CDAC33}"/>
              </a:ext>
            </a:extLst>
          </p:cNvPr>
          <p:cNvSpPr>
            <a:spLocks noGrp="1"/>
          </p:cNvSpPr>
          <p:nvPr/>
        </p:nvSpPr>
        <p:spPr>
          <a:xfrm>
            <a:off x="1143000" y="7048195"/>
            <a:ext cx="8287207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D8F7B3A-A440-4EC2-98B6-B68C90AE0394}"/>
              </a:ext>
            </a:extLst>
          </p:cNvPr>
          <p:cNvSpPr>
            <a:spLocks noGrp="1"/>
          </p:cNvSpPr>
          <p:nvPr/>
        </p:nvSpPr>
        <p:spPr>
          <a:xfrm>
            <a:off x="1143000" y="7229246"/>
            <a:ext cx="8287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8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조직 리포트 · 동일 참여자의 집단 변화 확인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A2EB170-DEF1-4950-BC23-6D00056C4ACB}"/>
              </a:ext>
            </a:extLst>
          </p:cNvPr>
          <p:cNvSpPr>
            <a:spLocks noGrp="1"/>
          </p:cNvSpPr>
          <p:nvPr/>
        </p:nvSpPr>
        <p:spPr>
          <a:xfrm>
            <a:off x="1143000" y="7886700"/>
            <a:ext cx="1905610" cy="1527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교육 전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F0B1C30-E9DC-4507-A357-EFB59F4EDD41}"/>
              </a:ext>
            </a:extLst>
          </p:cNvPr>
          <p:cNvSpPr>
            <a:spLocks noGrp="1"/>
          </p:cNvSpPr>
          <p:nvPr/>
        </p:nvSpPr>
        <p:spPr>
          <a:xfrm>
            <a:off x="1143000" y="8115300"/>
            <a:ext cx="1905610" cy="1719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5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출발점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74F5C4-63C0-4BB8-9997-93CEC4770FFF}"/>
              </a:ext>
            </a:extLst>
          </p:cNvPr>
          <p:cNvSpPr>
            <a:spLocks noGrp="1"/>
          </p:cNvSpPr>
          <p:nvPr/>
        </p:nvSpPr>
        <p:spPr>
          <a:xfrm>
            <a:off x="3238805" y="7886700"/>
            <a:ext cx="1905610" cy="1527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교육 후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4549F4-E392-4989-B19C-6113A80F3B58}"/>
              </a:ext>
            </a:extLst>
          </p:cNvPr>
          <p:cNvSpPr>
            <a:spLocks noGrp="1"/>
          </p:cNvSpPr>
          <p:nvPr/>
        </p:nvSpPr>
        <p:spPr>
          <a:xfrm>
            <a:off x="3238805" y="8115300"/>
            <a:ext cx="1905610" cy="1719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5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관찰 변화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E03D512-C8BF-4877-ADFC-96AA18065C31}"/>
              </a:ext>
            </a:extLst>
          </p:cNvPr>
          <p:cNvSpPr>
            <a:spLocks noGrp="1"/>
          </p:cNvSpPr>
          <p:nvPr/>
        </p:nvSpPr>
        <p:spPr>
          <a:xfrm>
            <a:off x="5333695" y="7886700"/>
            <a:ext cx="1905610" cy="1527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맥락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50766F9-1E33-49C8-A166-FE4CD03B9538}"/>
              </a:ext>
            </a:extLst>
          </p:cNvPr>
          <p:cNvSpPr>
            <a:spLocks noGrp="1"/>
          </p:cNvSpPr>
          <p:nvPr/>
        </p:nvSpPr>
        <p:spPr>
          <a:xfrm>
            <a:off x="5333695" y="8115300"/>
            <a:ext cx="1905610" cy="1719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5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적용환경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D20431E-E24E-4484-AEB4-E8CEB73ED84B}"/>
              </a:ext>
            </a:extLst>
          </p:cNvPr>
          <p:cNvSpPr>
            <a:spLocks noGrp="1"/>
          </p:cNvSpPr>
          <p:nvPr/>
        </p:nvSpPr>
        <p:spPr>
          <a:xfrm>
            <a:off x="7429500" y="7886700"/>
            <a:ext cx="1905610" cy="1527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공개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66938FE-E18C-48A1-9545-991822C1D64C}"/>
              </a:ext>
            </a:extLst>
          </p:cNvPr>
          <p:cNvSpPr>
            <a:spLocks noGrp="1"/>
          </p:cNvSpPr>
          <p:nvPr/>
        </p:nvSpPr>
        <p:spPr>
          <a:xfrm>
            <a:off x="7429500" y="8115300"/>
            <a:ext cx="1905610" cy="1719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5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5명 이상 공개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C304613-E79C-40DC-BC1B-D2BDFA925719}"/>
              </a:ext>
            </a:extLst>
          </p:cNvPr>
          <p:cNvSpPr>
            <a:spLocks noGrp="1"/>
          </p:cNvSpPr>
          <p:nvPr/>
        </p:nvSpPr>
        <p:spPr>
          <a:xfrm>
            <a:off x="1143000" y="8762695"/>
            <a:ext cx="8287207" cy="1627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rPr>
              <a:t>비교집단이 없으면 교육의 인과효과가 아니라 ‘교육 전후 관찰 변화’로 표현합니다.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9198117-1B7C-4488-A0A9-1F9A26812BBD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04</a:t>
            </a: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22A1526-965E-A627-17A6-4B5087A21748}"/>
              </a:ext>
            </a:extLst>
          </p:cNvPr>
          <p:cNvSpPr>
            <a:spLocks noGrp="1"/>
          </p:cNvSpPr>
          <p:nvPr/>
        </p:nvSpPr>
        <p:spPr>
          <a:xfrm>
            <a:off x="16163925" y="900326"/>
            <a:ext cx="101758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OVERVIEW</a:t>
            </a:r>
          </a:p>
        </p:txBody>
      </p:sp>
      <p:sp>
        <p:nvSpPr>
          <p:cNvPr id="41" name="product-annual-line">
            <a:extLst>
              <a:ext uri="{FF2B5EF4-FFF2-40B4-BE49-F238E27FC236}">
                <a16:creationId xmlns:a16="http://schemas.microsoft.com/office/drawing/2014/main" id="{B82F41F6-AE80-4DA9-9F68-9385B2E21508}"/>
              </a:ext>
            </a:extLst>
          </p:cNvPr>
          <p:cNvSpPr>
            <a:spLocks noGrp="1"/>
          </p:cNvSpPr>
          <p:nvPr/>
        </p:nvSpPr>
        <p:spPr>
          <a:xfrm>
            <a:off x="12287250" y="4476750"/>
            <a:ext cx="3714750" cy="0"/>
          </a:xfrm>
          <a:prstGeom prst="line">
            <a:avLst/>
          </a:prstGeom>
          <a:noFill/>
          <a:ln w="20955">
            <a:solidFill>
              <a:srgbClr val="C7D9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product-theme-line">
            <a:extLst>
              <a:ext uri="{FF2B5EF4-FFF2-40B4-BE49-F238E27FC236}">
                <a16:creationId xmlns:a16="http://schemas.microsoft.com/office/drawing/2014/main" id="{B13F3F1A-3F16-4DF9-BB84-AE79B2612464}"/>
              </a:ext>
            </a:extLst>
          </p:cNvPr>
          <p:cNvSpPr>
            <a:spLocks noGrp="1"/>
          </p:cNvSpPr>
          <p:nvPr/>
        </p:nvSpPr>
        <p:spPr>
          <a:xfrm>
            <a:off x="12287250" y="6191250"/>
            <a:ext cx="3714750" cy="0"/>
          </a:xfrm>
          <a:prstGeom prst="line">
            <a:avLst/>
          </a:prstGeom>
          <a:noFill/>
          <a:ln w="20955">
            <a:solidFill>
              <a:srgbClr val="C7D9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product-badge">
            <a:extLst>
              <a:ext uri="{FF2B5EF4-FFF2-40B4-BE49-F238E27FC236}">
                <a16:creationId xmlns:a16="http://schemas.microsoft.com/office/drawing/2014/main" id="{3760D9C3-F3F9-490A-BE76-9018B51F187B}"/>
              </a:ext>
            </a:extLst>
          </p:cNvPr>
          <p:cNvSpPr>
            <a:spLocks noGrp="1"/>
          </p:cNvSpPr>
          <p:nvPr/>
        </p:nvSpPr>
        <p:spPr>
          <a:xfrm>
            <a:off x="12382500" y="2571750"/>
            <a:ext cx="2667000" cy="495300"/>
          </a:xfrm>
          <a:prstGeom prst="roundRect">
            <a:avLst>
              <a:gd name="adj" fmla="val 23077"/>
            </a:avLst>
          </a:prstGeom>
          <a:solidFill>
            <a:srgbClr val="00B5AC"/>
          </a:solidFill>
          <a:ln w="1333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>교육 전후 해석의 흐름</a:t>
            </a:r>
          </a:p>
        </p:txBody>
      </p:sp>
      <p:sp>
        <p:nvSpPr>
          <p:cNvPr id="44" name="product-week-1회차">
            <a:extLst>
              <a:ext uri="{FF2B5EF4-FFF2-40B4-BE49-F238E27FC236}">
                <a16:creationId xmlns:a16="http://schemas.microsoft.com/office/drawing/2014/main" id="{913EB834-8A3F-46C3-A5AF-4239B34A0CF6}"/>
              </a:ext>
            </a:extLst>
          </p:cNvPr>
          <p:cNvSpPr>
            <a:spLocks noGrp="1"/>
          </p:cNvSpPr>
          <p:nvPr/>
        </p:nvSpPr>
        <p:spPr>
          <a:xfrm>
            <a:off x="12763500" y="3333750"/>
            <a:ext cx="952500" cy="342900"/>
          </a:xfrm>
          <a:prstGeom prst="rect">
            <a:avLst/>
          </a:prstGeom>
          <a:solidFill>
            <a:srgbClr val="FFFFFF"/>
          </a:solidFill>
          <a:ln w="13335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rPr>
              <a:t>개인</a:t>
            </a:r>
          </a:p>
        </p:txBody>
      </p:sp>
      <p:sp>
        <p:nvSpPr>
          <p:cNvPr id="45" name="product-week-2회차">
            <a:extLst>
              <a:ext uri="{FF2B5EF4-FFF2-40B4-BE49-F238E27FC236}">
                <a16:creationId xmlns:a16="http://schemas.microsoft.com/office/drawing/2014/main" id="{22583FA1-351B-4078-810F-BA5ECE2AC948}"/>
              </a:ext>
            </a:extLst>
          </p:cNvPr>
          <p:cNvSpPr>
            <a:spLocks noGrp="1"/>
          </p:cNvSpPr>
          <p:nvPr/>
        </p:nvSpPr>
        <p:spPr>
          <a:xfrm>
            <a:off x="14192250" y="3333750"/>
            <a:ext cx="952500" cy="342900"/>
          </a:xfrm>
          <a:prstGeom prst="rect">
            <a:avLst/>
          </a:prstGeom>
          <a:solidFill>
            <a:srgbClr val="FFFFFF"/>
          </a:solidFill>
          <a:ln w="13335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rPr>
              <a:t>조직</a:t>
            </a:r>
          </a:p>
        </p:txBody>
      </p:sp>
      <p:sp>
        <p:nvSpPr>
          <p:cNvPr id="46" name="product-week-3회차">
            <a:extLst>
              <a:ext uri="{FF2B5EF4-FFF2-40B4-BE49-F238E27FC236}">
                <a16:creationId xmlns:a16="http://schemas.microsoft.com/office/drawing/2014/main" id="{1DA250B1-DC53-40ED-AD75-C55B993F2DEA}"/>
              </a:ext>
            </a:extLst>
          </p:cNvPr>
          <p:cNvSpPr>
            <a:spLocks noGrp="1"/>
          </p:cNvSpPr>
          <p:nvPr/>
        </p:nvSpPr>
        <p:spPr>
          <a:xfrm>
            <a:off x="15621000" y="3333750"/>
            <a:ext cx="952500" cy="342900"/>
          </a:xfrm>
          <a:prstGeom prst="rect">
            <a:avLst/>
          </a:prstGeom>
          <a:solidFill>
            <a:srgbClr val="FFFFFF"/>
          </a:solidFill>
          <a:ln w="13335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98A4A6"/>
                </a:solidFill>
                <a:latin typeface="페이퍼로지 4 Regular"/>
                <a:ea typeface="페이퍼로지 4 Regular"/>
                <a:cs typeface="페이퍼로지 4 Regular"/>
              </a:rPr>
              <a:t>결정</a:t>
            </a:r>
          </a:p>
        </p:txBody>
      </p:sp>
      <p:sp>
        <p:nvSpPr>
          <p:cNvPr id="47" name="product-annual-label">
            <a:extLst>
              <a:ext uri="{FF2B5EF4-FFF2-40B4-BE49-F238E27FC236}">
                <a16:creationId xmlns:a16="http://schemas.microsoft.com/office/drawing/2014/main" id="{D2F84F77-15D2-4019-985F-C148DA686998}"/>
              </a:ext>
            </a:extLst>
          </p:cNvPr>
          <p:cNvSpPr>
            <a:spLocks noGrp="1"/>
          </p:cNvSpPr>
          <p:nvPr/>
        </p:nvSpPr>
        <p:spPr>
          <a:xfrm>
            <a:off x="11001375" y="4048125"/>
            <a:ext cx="1381125" cy="857250"/>
          </a:xfrm>
          <a:prstGeom prst="roundRect">
            <a:avLst>
              <a:gd name="adj" fmla="val 13333"/>
            </a:avLst>
          </a:prstGeom>
          <a:solidFill>
            <a:srgbClr val="F2F8F7"/>
          </a:solidFill>
          <a:ln w="13335">
            <a:solidFill>
              <a:srgbClr val="00B5A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리포트</a:t>
            </a:r>
          </a:p>
        </p:txBody>
      </p:sp>
      <p:sp>
        <p:nvSpPr>
          <p:cNvPr id="48" name="product-theme-label">
            <a:extLst>
              <a:ext uri="{FF2B5EF4-FFF2-40B4-BE49-F238E27FC236}">
                <a16:creationId xmlns:a16="http://schemas.microsoft.com/office/drawing/2014/main" id="{73C35CB7-594D-4761-9194-430E0566C69C}"/>
              </a:ext>
            </a:extLst>
          </p:cNvPr>
          <p:cNvSpPr>
            <a:spLocks noGrp="1"/>
          </p:cNvSpPr>
          <p:nvPr/>
        </p:nvSpPr>
        <p:spPr>
          <a:xfrm>
            <a:off x="11001375" y="5762625"/>
            <a:ext cx="1381125" cy="857250"/>
          </a:xfrm>
          <a:prstGeom prst="roundRect">
            <a:avLst>
              <a:gd name="adj" fmla="val 13333"/>
            </a:avLst>
          </a:prstGeom>
          <a:solidFill>
            <a:srgbClr val="F2F8F7"/>
          </a:solidFill>
          <a:ln w="13335">
            <a:solidFill>
              <a:srgbClr val="00B5A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다음</a:t>
            </a:r>
          </a:p>
          <a:p>
            <a:pPr algn="ctr">
              <a:buNone/>
              <a:def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행동</a:t>
            </a:r>
          </a:p>
        </p:txBody>
      </p:sp>
      <p:sp>
        <p:nvSpPr>
          <p:cNvPr id="49" name="annual-A">
            <a:extLst>
              <a:ext uri="{FF2B5EF4-FFF2-40B4-BE49-F238E27FC236}">
                <a16:creationId xmlns:a16="http://schemas.microsoft.com/office/drawing/2014/main" id="{3E0747A5-2467-4FCF-A3AE-B07303EEB263}"/>
              </a:ext>
            </a:extLst>
          </p:cNvPr>
          <p:cNvSpPr>
            <a:spLocks noGrp="1"/>
          </p:cNvSpPr>
          <p:nvPr/>
        </p:nvSpPr>
        <p:spPr>
          <a:xfrm>
            <a:off x="12858750" y="4095750"/>
            <a:ext cx="762000" cy="762000"/>
          </a:xfrm>
          <a:prstGeom prst="ellipse">
            <a:avLst/>
          </a:prstGeom>
          <a:solidFill>
            <a:srgbClr val="00B5AC"/>
          </a:solidFill>
          <a:ln w="1714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교육 전</a:t>
            </a:r>
          </a:p>
          <a:p>
            <a:pPr algn="ctr">
              <a:buNone/>
              <a:defRPr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출발점</a:t>
            </a:r>
          </a:p>
        </p:txBody>
      </p:sp>
      <p:sp>
        <p:nvSpPr>
          <p:cNvPr id="50" name="theme-A">
            <a:extLst>
              <a:ext uri="{FF2B5EF4-FFF2-40B4-BE49-F238E27FC236}">
                <a16:creationId xmlns:a16="http://schemas.microsoft.com/office/drawing/2014/main" id="{CA249E1C-D3E3-49DE-9559-039A8241D22C}"/>
              </a:ext>
            </a:extLst>
          </p:cNvPr>
          <p:cNvSpPr>
            <a:spLocks noGrp="1"/>
          </p:cNvSpPr>
          <p:nvPr/>
        </p:nvSpPr>
        <p:spPr>
          <a:xfrm>
            <a:off x="12858750" y="5810250"/>
            <a:ext cx="762000" cy="762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B5A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전이</a:t>
            </a:r>
          </a:p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조건</a:t>
            </a:r>
          </a:p>
        </p:txBody>
      </p:sp>
      <p:sp>
        <p:nvSpPr>
          <p:cNvPr id="51" name="annual-B">
            <a:extLst>
              <a:ext uri="{FF2B5EF4-FFF2-40B4-BE49-F238E27FC236}">
                <a16:creationId xmlns:a16="http://schemas.microsoft.com/office/drawing/2014/main" id="{524F543A-20B4-4A6D-BC7D-F783536503AA}"/>
              </a:ext>
            </a:extLst>
          </p:cNvPr>
          <p:cNvSpPr>
            <a:spLocks noGrp="1"/>
          </p:cNvSpPr>
          <p:nvPr/>
        </p:nvSpPr>
        <p:spPr>
          <a:xfrm>
            <a:off x="14287500" y="4095750"/>
            <a:ext cx="762000" cy="762000"/>
          </a:xfrm>
          <a:prstGeom prst="ellipse">
            <a:avLst/>
          </a:prstGeom>
          <a:solidFill>
            <a:srgbClr val="00B5AC"/>
          </a:solidFill>
          <a:ln w="1714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교육 후</a:t>
            </a:r>
          </a:p>
          <a:p>
            <a:pPr algn="ctr">
              <a:buNone/>
              <a:defRPr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재측정</a:t>
            </a:r>
          </a:p>
        </p:txBody>
      </p:sp>
      <p:sp>
        <p:nvSpPr>
          <p:cNvPr id="52" name="theme-B">
            <a:extLst>
              <a:ext uri="{FF2B5EF4-FFF2-40B4-BE49-F238E27FC236}">
                <a16:creationId xmlns:a16="http://schemas.microsoft.com/office/drawing/2014/main" id="{ED8BD520-A6CF-436B-AB1A-A4465F5F714A}"/>
              </a:ext>
            </a:extLst>
          </p:cNvPr>
          <p:cNvSpPr>
            <a:spLocks noGrp="1"/>
          </p:cNvSpPr>
          <p:nvPr/>
        </p:nvSpPr>
        <p:spPr>
          <a:xfrm>
            <a:off x="14287500" y="5810250"/>
            <a:ext cx="762000" cy="762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B5A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교육</a:t>
            </a:r>
          </a:p>
          <a:p>
            <a:pPr algn="ctr">
              <a:buNone/>
              <a:defRPr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보완</a:t>
            </a:r>
          </a:p>
        </p:txBody>
      </p:sp>
      <p:sp>
        <p:nvSpPr>
          <p:cNvPr id="53" name="annual-A+B">
            <a:extLst>
              <a:ext uri="{FF2B5EF4-FFF2-40B4-BE49-F238E27FC236}">
                <a16:creationId xmlns:a16="http://schemas.microsoft.com/office/drawing/2014/main" id="{0FD316B6-4539-49B5-87E1-DDF9631D71DC}"/>
              </a:ext>
            </a:extLst>
          </p:cNvPr>
          <p:cNvSpPr>
            <a:spLocks noGrp="1"/>
          </p:cNvSpPr>
          <p:nvPr/>
        </p:nvSpPr>
        <p:spPr>
          <a:xfrm>
            <a:off x="15716250" y="4095750"/>
            <a:ext cx="762000" cy="762000"/>
          </a:xfrm>
          <a:prstGeom prst="ellipse">
            <a:avLst/>
          </a:prstGeom>
          <a:solidFill>
            <a:srgbClr val="00B5AC"/>
          </a:solidFill>
          <a:ln w="1714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동일인</a:t>
            </a:r>
            <a:endParaRPr sz="1300">
              <a:solidFill>
                <a:srgbClr val="FFFFFF"/>
              </a:solidFill>
              <a:latin typeface="페이퍼로지 4 Regular"/>
              <a:ea typeface="페이퍼로지 4 Regular"/>
              <a:cs typeface="페이퍼로지 4 Regular"/>
            </a:endParaRPr>
          </a:p>
          <a:p>
            <a:pPr algn="ctr">
              <a:buNone/>
              <a:defRPr b="0"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변화</a:t>
            </a:r>
            <a:endParaRPr sz="1300">
              <a:solidFill>
                <a:srgbClr val="FFFFFF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54" name="theme-A+B">
            <a:extLst>
              <a:ext uri="{FF2B5EF4-FFF2-40B4-BE49-F238E27FC236}">
                <a16:creationId xmlns:a16="http://schemas.microsoft.com/office/drawing/2014/main" id="{67D05F8C-4624-454C-97BA-E6F20C964CA4}"/>
              </a:ext>
            </a:extLst>
          </p:cNvPr>
          <p:cNvSpPr>
            <a:spLocks noGrp="1"/>
          </p:cNvSpPr>
          <p:nvPr/>
        </p:nvSpPr>
        <p:spPr>
          <a:xfrm>
            <a:off x="15716250" y="5810250"/>
            <a:ext cx="762000" cy="762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B5A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환경</a:t>
            </a:r>
            <a:endParaRPr sz="1300">
              <a:solidFill>
                <a:srgbClr val="00B5AC"/>
              </a:solidFill>
              <a:latin typeface="페이퍼로지 4 Regular"/>
              <a:ea typeface="페이퍼로지 4 Regular"/>
              <a:cs typeface="페이퍼로지 4 Regular"/>
            </a:endParaRPr>
          </a:p>
          <a:p>
            <a:pPr algn="ctr">
              <a:buNone/>
              <a:defRPr b="0">
                <a:latin typeface="페이퍼로지 4 Regular"/>
                <a:ea typeface="페이퍼로지 4 Regular"/>
                <a:cs typeface="페이퍼로지 4 Regular"/>
              </a:defRPr>
            </a:pPr>
            <a:r>
              <a:rPr sz="13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개선</a:t>
            </a:r>
            <a:endParaRPr sz="1300">
              <a:solidFill>
                <a:srgbClr val="00B5AC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55" name="product-benefit">
            <a:extLst>
              <a:ext uri="{FF2B5EF4-FFF2-40B4-BE49-F238E27FC236}">
                <a16:creationId xmlns:a16="http://schemas.microsoft.com/office/drawing/2014/main" id="{0C6965AD-0789-46DC-B44E-F64BBF731A2B}"/>
              </a:ext>
            </a:extLst>
          </p:cNvPr>
          <p:cNvSpPr>
            <a:spLocks noGrp="1"/>
          </p:cNvSpPr>
          <p:nvPr/>
        </p:nvSpPr>
        <p:spPr>
          <a:xfrm>
            <a:off x="11525250" y="7334250"/>
            <a:ext cx="43815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C7D9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57150" tIns="38100" rIns="57150" bIns="38100" anchor="ctr">
            <a:noAutofit/>
          </a:bodyPr>
          <a:lstStyle/>
          <a:p>
            <a:pPr algn="ctr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2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개인 순위가 아니라 같은 참여자의 교육 전후 변화를 확인</a:t>
            </a:r>
          </a:p>
        </p:txBody>
      </p:sp>
    </p:spTree>
    <p:extLst>
      <p:ext uri="{BB962C8B-B14F-4D97-AF65-F5344CB8AC3E}">
        <p14:creationId xmlns:p14="http://schemas.microsoft.com/office/powerpoint/2010/main" val="110971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>
            <a:extLst>
              <a:ext uri="{FF2B5EF4-FFF2-40B4-BE49-F238E27FC236}">
                <a16:creationId xmlns:a16="http://schemas.microsoft.com/office/drawing/2014/main" id="{DFFD3695-F4CE-7F05-F62D-9234A7C5CAE3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E36D6B-AAE7-4745-BBE8-7F3E095C4F79}"/>
              </a:ext>
            </a:extLst>
          </p:cNvPr>
          <p:cNvSpPr>
            <a:spLocks noGrp="1"/>
          </p:cNvSpPr>
          <p:nvPr/>
        </p:nvSpPr>
        <p:spPr>
          <a:xfrm>
            <a:off x="11239805" y="1524305"/>
            <a:ext cx="5905195" cy="7429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2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476756" y="6777075"/>
            <a:ext cx="9334195" cy="9144"/>
          </a:xfrm>
          <a:prstGeom prst="rect">
            <a:avLst/>
          </a:prstGeom>
        </p:spPr>
      </p:pic>
      <p:pic>
        <p:nvPicPr>
          <p:cNvPr id="63" name="Image 1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55A03E1A-500F-43BA-8D8D-2C40EDAE40C0}"/>
              </a:ext>
            </a:extLst>
          </p:cNvPr>
          <p:cNvSpPr>
            <a:spLocks noGrp="1"/>
          </p:cNvSpPr>
          <p:nvPr/>
        </p:nvSpPr>
        <p:spPr>
          <a:xfrm>
            <a:off x="1333195" y="6638544"/>
            <a:ext cx="286207" cy="286207"/>
          </a:xfrm>
          <a:prstGeom prst="ellipse">
            <a:avLst/>
          </a:prstGeom>
          <a:solidFill>
            <a:srgbClr val="00B5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E9CCB4B-2805-4887-882D-B4B8F38B9686}"/>
              </a:ext>
            </a:extLst>
          </p:cNvPr>
          <p:cNvSpPr>
            <a:spLocks noGrp="1"/>
          </p:cNvSpPr>
          <p:nvPr/>
        </p:nvSpPr>
        <p:spPr>
          <a:xfrm>
            <a:off x="3076956" y="6638544"/>
            <a:ext cx="286207" cy="286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5AC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676C237-6975-4C28-82DF-27164021DF68}"/>
              </a:ext>
            </a:extLst>
          </p:cNvPr>
          <p:cNvSpPr>
            <a:spLocks noGrp="1"/>
          </p:cNvSpPr>
          <p:nvPr/>
        </p:nvSpPr>
        <p:spPr>
          <a:xfrm>
            <a:off x="4819802" y="6638544"/>
            <a:ext cx="286207" cy="286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5AC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49BBD11-29AE-4DE3-A09E-F9003C101EEA}"/>
              </a:ext>
            </a:extLst>
          </p:cNvPr>
          <p:cNvSpPr>
            <a:spLocks noGrp="1"/>
          </p:cNvSpPr>
          <p:nvPr/>
        </p:nvSpPr>
        <p:spPr>
          <a:xfrm>
            <a:off x="6562649" y="6638544"/>
            <a:ext cx="286207" cy="286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5AC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BF5E9EB-F52C-4C5A-AFBC-A0724921C174}"/>
              </a:ext>
            </a:extLst>
          </p:cNvPr>
          <p:cNvSpPr>
            <a:spLocks noGrp="1"/>
          </p:cNvSpPr>
          <p:nvPr/>
        </p:nvSpPr>
        <p:spPr>
          <a:xfrm>
            <a:off x="8305495" y="6638544"/>
            <a:ext cx="286207" cy="286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5AC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639CFC6-290C-42BA-AAAD-725CE6DC0FF9}"/>
              </a:ext>
            </a:extLst>
          </p:cNvPr>
          <p:cNvSpPr>
            <a:spLocks noGrp="1"/>
          </p:cNvSpPr>
          <p:nvPr/>
        </p:nvSpPr>
        <p:spPr>
          <a:xfrm>
            <a:off x="10049256" y="6638544"/>
            <a:ext cx="286207" cy="286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5AC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3C3DC5B-79EE-452E-B0C7-5323746F522E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9525305" cy="1353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프로젝트 코드로 교육 전후를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같은 기록에 연결합니다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9E43FD1-69AB-4180-AB23-736C3ED61A8A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8572500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설정 저장 뒤 프로젝트 코드를 공유합니다. 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참여자는 프로젝트 코드·접속코드·동일한 교육 참여자 ID로 교육 전후 검사를 연결합니다.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15FDC9C-48C3-48EB-8973-21C532BF2145}"/>
              </a:ext>
            </a:extLst>
          </p:cNvPr>
          <p:cNvSpPr>
            <a:spLocks noGrp="1"/>
          </p:cNvSpPr>
          <p:nvPr/>
        </p:nvSpPr>
        <p:spPr>
          <a:xfrm>
            <a:off x="1333195" y="6638544"/>
            <a:ext cx="286207" cy="2862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9D4B285-3741-488C-AE8F-790DDB810D2E}"/>
              </a:ext>
            </a:extLst>
          </p:cNvPr>
          <p:cNvSpPr>
            <a:spLocks noGrp="1"/>
          </p:cNvSpPr>
          <p:nvPr/>
        </p:nvSpPr>
        <p:spPr>
          <a:xfrm>
            <a:off x="3076956" y="6648145"/>
            <a:ext cx="286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9A4515C-4CF3-4CC7-BB34-F3C881FDE798}"/>
              </a:ext>
            </a:extLst>
          </p:cNvPr>
          <p:cNvSpPr>
            <a:spLocks noGrp="1"/>
          </p:cNvSpPr>
          <p:nvPr/>
        </p:nvSpPr>
        <p:spPr>
          <a:xfrm>
            <a:off x="4819802" y="6648145"/>
            <a:ext cx="286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C3F31E1-5500-4C62-A986-5A2D52877BBF}"/>
              </a:ext>
            </a:extLst>
          </p:cNvPr>
          <p:cNvSpPr>
            <a:spLocks noGrp="1"/>
          </p:cNvSpPr>
          <p:nvPr/>
        </p:nvSpPr>
        <p:spPr>
          <a:xfrm>
            <a:off x="6562649" y="6648145"/>
            <a:ext cx="286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04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7726A4D-1C6D-416F-9AA1-C89C80D891FE}"/>
              </a:ext>
            </a:extLst>
          </p:cNvPr>
          <p:cNvSpPr>
            <a:spLocks noGrp="1"/>
          </p:cNvSpPr>
          <p:nvPr/>
        </p:nvSpPr>
        <p:spPr>
          <a:xfrm>
            <a:off x="8305495" y="6648145"/>
            <a:ext cx="286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05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71A4D62-57C3-43EA-B275-5C716565B613}"/>
              </a:ext>
            </a:extLst>
          </p:cNvPr>
          <p:cNvSpPr>
            <a:spLocks noGrp="1"/>
          </p:cNvSpPr>
          <p:nvPr/>
        </p:nvSpPr>
        <p:spPr>
          <a:xfrm>
            <a:off x="10049256" y="6648145"/>
            <a:ext cx="286207" cy="2670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06</a:t>
            </a: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EE894BA-ED08-4782-879A-A6A0D93658B0}"/>
              </a:ext>
            </a:extLst>
          </p:cNvPr>
          <p:cNvSpPr>
            <a:spLocks noGrp="1"/>
          </p:cNvSpPr>
          <p:nvPr/>
        </p:nvSpPr>
        <p:spPr>
          <a:xfrm>
            <a:off x="1143000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교육·평가 설정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FCB2D47B-38DC-428D-9401-8439B13B403C}"/>
              </a:ext>
            </a:extLst>
          </p:cNvPr>
          <p:cNvSpPr>
            <a:spLocks noGrp="1"/>
          </p:cNvSpPr>
          <p:nvPr/>
        </p:nvSpPr>
        <p:spPr>
          <a:xfrm>
            <a:off x="1143000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프로젝트 코드 · 기간 · 역량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B3FAAC6-34DB-4740-BC91-526756D39077}"/>
              </a:ext>
            </a:extLst>
          </p:cNvPr>
          <p:cNvSpPr>
            <a:spLocks noGrp="1"/>
          </p:cNvSpPr>
          <p:nvPr/>
        </p:nvSpPr>
        <p:spPr>
          <a:xfrm>
            <a:off x="2885846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 전 검사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609AE952-13E5-41C0-8499-84492CE50A91}"/>
              </a:ext>
            </a:extLst>
          </p:cNvPr>
          <p:cNvSpPr>
            <a:spLocks noGrp="1"/>
          </p:cNvSpPr>
          <p:nvPr/>
        </p:nvSpPr>
        <p:spPr>
          <a:xfrm>
            <a:off x="2885846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접속코드 · 참여자 ID</a:t>
            </a: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A385B14C-0A4B-4E96-B75A-5C11FA833B04}"/>
              </a:ext>
            </a:extLst>
          </p:cNvPr>
          <p:cNvSpPr>
            <a:spLocks noGrp="1"/>
          </p:cNvSpPr>
          <p:nvPr/>
        </p:nvSpPr>
        <p:spPr>
          <a:xfrm>
            <a:off x="4629607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rPr>
              <a:t>완료 기록 저장</a:t>
            </a: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8B8A766-BC78-43EC-A80A-DC8CC4CD4636}"/>
              </a:ext>
            </a:extLst>
          </p:cNvPr>
          <p:cNvSpPr>
            <a:spLocks noGrp="1"/>
          </p:cNvSpPr>
          <p:nvPr/>
        </p:nvSpPr>
        <p:spPr>
          <a:xfrm>
            <a:off x="4629607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교육 전 완료 시 데이터 저장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F94BEDD4-E69A-45CB-92AF-1F081A759413}"/>
              </a:ext>
            </a:extLst>
          </p:cNvPr>
          <p:cNvSpPr>
            <a:spLocks noGrp="1"/>
          </p:cNvSpPr>
          <p:nvPr/>
        </p:nvSpPr>
        <p:spPr>
          <a:xfrm>
            <a:off x="6372454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rPr>
              <a:t>교육 중 현업 적용</a:t>
            </a: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557F20A-9E54-482C-B95B-4A164FF188E0}"/>
              </a:ext>
            </a:extLst>
          </p:cNvPr>
          <p:cNvSpPr>
            <a:spLocks noGrp="1"/>
          </p:cNvSpPr>
          <p:nvPr/>
        </p:nvSpPr>
        <p:spPr>
          <a:xfrm>
            <a:off x="6372454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프로젝트 코드 · 동일 ID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2F01A551-9FA6-41F0-90CC-CD8914708B53}"/>
              </a:ext>
            </a:extLst>
          </p:cNvPr>
          <p:cNvSpPr>
            <a:spLocks noGrp="1"/>
          </p:cNvSpPr>
          <p:nvPr/>
        </p:nvSpPr>
        <p:spPr>
          <a:xfrm>
            <a:off x="8115300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0B5AC"/>
                </a:solidFill>
                <a:latin typeface="페이퍼로지 6 SemiBold"/>
                <a:ea typeface="페이퍼로지 6 SemiBold"/>
                <a:cs typeface="페이퍼로지 6 SemiBold"/>
              </a:rPr>
              <a:t>교육 후 검사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2F56802D-9FC0-46D8-BB13-A34B6A58676B}"/>
              </a:ext>
            </a:extLst>
          </p:cNvPr>
          <p:cNvSpPr>
            <a:spLocks noGrp="1"/>
          </p:cNvSpPr>
          <p:nvPr/>
        </p:nvSpPr>
        <p:spPr>
          <a:xfrm>
            <a:off x="8115300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같은 문항 · 최근 8주</a:t>
            </a: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20AE0D34-4484-413E-A09D-20B22915EBCD}"/>
              </a:ext>
            </a:extLst>
          </p:cNvPr>
          <p:cNvSpPr>
            <a:spLocks noGrp="1"/>
          </p:cNvSpPr>
          <p:nvPr/>
        </p:nvSpPr>
        <p:spPr>
          <a:xfrm>
            <a:off x="9858146" y="7239305"/>
            <a:ext cx="1524305" cy="2478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 전후 비교</a:t>
            </a: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D580D4D-B2D7-49BE-8321-783180D51B36}"/>
              </a:ext>
            </a:extLst>
          </p:cNvPr>
          <p:cNvSpPr>
            <a:spLocks noGrp="1"/>
          </p:cNvSpPr>
          <p:nvPr/>
        </p:nvSpPr>
        <p:spPr>
          <a:xfrm>
            <a:off x="9858146" y="7582205"/>
            <a:ext cx="1524305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동일 참여자 변화 · 전이</a:t>
            </a: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6D54F027-2C71-4711-88CC-C99E29FC3FBF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05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F0C2400-A4E8-4661-877A-68C2953EEA0F}"/>
              </a:ext>
            </a:extLst>
          </p:cNvPr>
          <p:cNvSpPr>
            <a:spLocks noGrp="1"/>
          </p:cNvSpPr>
          <p:nvPr/>
        </p:nvSpPr>
        <p:spPr>
          <a:xfrm>
            <a:off x="1143000" y="900326"/>
            <a:ext cx="179916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HOW IT WORKS</a:t>
            </a: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FC0E9950-180D-5539-F231-2D96284EE6F9}"/>
              </a:ext>
            </a:extLst>
          </p:cNvPr>
          <p:cNvSpPr>
            <a:spLocks noGrp="1"/>
          </p:cNvSpPr>
          <p:nvPr/>
        </p:nvSpPr>
        <p:spPr>
          <a:xfrm>
            <a:off x="16322675" y="900326"/>
            <a:ext cx="864864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PROCESS</a:t>
            </a:r>
          </a:p>
        </p:txBody>
      </p:sp>
      <p:sp>
        <p:nvSpPr>
          <p:cNvPr id="53" name="journey-orbit">
            <a:extLst>
              <a:ext uri="{FF2B5EF4-FFF2-40B4-BE49-F238E27FC236}">
                <a16:creationId xmlns:a16="http://schemas.microsoft.com/office/drawing/2014/main" id="{BE1C8383-40D3-45B9-83F5-153EABFDD24E}"/>
              </a:ext>
            </a:extLst>
          </p:cNvPr>
          <p:cNvSpPr>
            <a:spLocks noGrp="1"/>
          </p:cNvSpPr>
          <p:nvPr/>
        </p:nvSpPr>
        <p:spPr>
          <a:xfrm>
            <a:off x="11713405" y="2857500"/>
            <a:ext cx="5048250" cy="5143500"/>
          </a:xfrm>
          <a:prstGeom prst="ellipse">
            <a:avLst/>
          </a:prstGeom>
          <a:noFill/>
          <a:ln w="13335">
            <a:solidFill>
              <a:srgbClr val="C7D9D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4" name="journey-a-card">
            <a:extLst>
              <a:ext uri="{FF2B5EF4-FFF2-40B4-BE49-F238E27FC236}">
                <a16:creationId xmlns:a16="http://schemas.microsoft.com/office/drawing/2014/main" id="{80A3C995-7464-4B56-940C-C5C7327C951A}"/>
              </a:ext>
            </a:extLst>
          </p:cNvPr>
          <p:cNvSpPr>
            <a:spLocks noGrp="1"/>
          </p:cNvSpPr>
          <p:nvPr/>
        </p:nvSpPr>
        <p:spPr>
          <a:xfrm>
            <a:off x="11570530" y="3333750"/>
            <a:ext cx="1714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57150" rIns="76200" bIns="5715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1. 프로젝트 설정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코드 공유</a:t>
            </a:r>
          </a:p>
        </p:txBody>
      </p:sp>
      <p:sp>
        <p:nvSpPr>
          <p:cNvPr id="55" name="journey-b-card">
            <a:extLst>
              <a:ext uri="{FF2B5EF4-FFF2-40B4-BE49-F238E27FC236}">
                <a16:creationId xmlns:a16="http://schemas.microsoft.com/office/drawing/2014/main" id="{B01C52AA-9481-4E17-8479-B9E602CFF682}"/>
              </a:ext>
            </a:extLst>
          </p:cNvPr>
          <p:cNvSpPr>
            <a:spLocks noGrp="1"/>
          </p:cNvSpPr>
          <p:nvPr/>
        </p:nvSpPr>
        <p:spPr>
          <a:xfrm>
            <a:off x="14999530" y="3333750"/>
            <a:ext cx="1714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57150" rIns="76200" bIns="5715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2. 교육 전 완료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데이터 저장</a:t>
            </a:r>
          </a:p>
        </p:txBody>
      </p:sp>
      <p:sp>
        <p:nvSpPr>
          <p:cNvPr id="56" name="journey-hub">
            <a:extLst>
              <a:ext uri="{FF2B5EF4-FFF2-40B4-BE49-F238E27FC236}">
                <a16:creationId xmlns:a16="http://schemas.microsoft.com/office/drawing/2014/main" id="{5DD05311-937C-4606-8996-474A450C82DE}"/>
              </a:ext>
            </a:extLst>
          </p:cNvPr>
          <p:cNvSpPr>
            <a:spLocks noGrp="1"/>
          </p:cNvSpPr>
          <p:nvPr/>
        </p:nvSpPr>
        <p:spPr>
          <a:xfrm>
            <a:off x="13285030" y="4667250"/>
            <a:ext cx="1714500" cy="1714500"/>
          </a:xfrm>
          <a:prstGeom prst="ellipse">
            <a:avLst/>
          </a:prstGeom>
          <a:solidFill>
            <a:srgbClr val="FFFFFF"/>
          </a:solidFill>
          <a:ln w="24765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76200" rIns="76200" bIns="7620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8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TAP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전후 비교</a:t>
            </a:r>
          </a:p>
        </p:txBody>
      </p:sp>
      <p:sp>
        <p:nvSpPr>
          <p:cNvPr id="57" name="journey-ab-card">
            <a:extLst>
              <a:ext uri="{FF2B5EF4-FFF2-40B4-BE49-F238E27FC236}">
                <a16:creationId xmlns:a16="http://schemas.microsoft.com/office/drawing/2014/main" id="{6BB557C9-D1B7-4AE7-9DB1-2E871989D98E}"/>
              </a:ext>
            </a:extLst>
          </p:cNvPr>
          <p:cNvSpPr>
            <a:spLocks noGrp="1"/>
          </p:cNvSpPr>
          <p:nvPr/>
        </p:nvSpPr>
        <p:spPr>
          <a:xfrm>
            <a:off x="13237405" y="7382027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F2F8F7"/>
          </a:solidFill>
          <a:ln w="19050">
            <a:solidFill>
              <a:srgbClr val="00B5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76200" tIns="57150" rIns="76200" bIns="57150" anchor="ctr">
            <a:noAutofit/>
          </a:bodyPr>
          <a:lstStyle/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000" b="0">
                <a:solidFill>
                  <a:srgbClr val="00B5AC"/>
                </a:solidFill>
                <a:latin typeface="페이퍼로지 4 Regular"/>
                <a:ea typeface="페이퍼로지 4 Regular"/>
                <a:cs typeface="페이퍼로지 4 Regular"/>
              </a:rPr>
              <a:t>3–4. 같은 ID</a:t>
            </a:r>
          </a:p>
          <a:p>
            <a:pPr algn="ctr">
              <a:buNone/>
              <a:defRPr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500" b="0">
                <a:solidFill>
                  <a:srgbClr val="0A0E10"/>
                </a:solidFill>
                <a:latin typeface="페이퍼로지 4 Regular"/>
                <a:ea typeface="페이퍼로지 4 Regular"/>
                <a:cs typeface="페이퍼로지 4 Regular"/>
              </a:rPr>
              <a:t>복원·교육 후</a:t>
            </a:r>
          </a:p>
        </p:txBody>
      </p:sp>
    </p:spTree>
    <p:extLst>
      <p:ext uri="{BB962C8B-B14F-4D97-AF65-F5344CB8AC3E}">
        <p14:creationId xmlns:p14="http://schemas.microsoft.com/office/powerpoint/2010/main" val="82946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>
            <a:extLst>
              <a:ext uri="{FF2B5EF4-FFF2-40B4-BE49-F238E27FC236}">
                <a16:creationId xmlns:a16="http://schemas.microsoft.com/office/drawing/2014/main" id="{F30779E8-3BB0-07A3-A5C2-4335A8A00D40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CBCC2D-79DE-4D7F-BA3A-AE2D0769CF15}"/>
              </a:ext>
            </a:extLst>
          </p:cNvPr>
          <p:cNvSpPr>
            <a:spLocks noGrp="1"/>
          </p:cNvSpPr>
          <p:nvPr/>
        </p:nvSpPr>
        <p:spPr>
          <a:xfrm>
            <a:off x="10287000" y="1714500"/>
            <a:ext cx="6858000" cy="7239305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72AEE46-C5BC-43CA-81A0-C4CC1DDFB952}"/>
              </a:ext>
            </a:extLst>
          </p:cNvPr>
          <p:cNvSpPr>
            <a:spLocks noGrp="1"/>
          </p:cNvSpPr>
          <p:nvPr/>
        </p:nvSpPr>
        <p:spPr>
          <a:xfrm>
            <a:off x="10668305" y="2095805"/>
            <a:ext cx="60963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687D63-D9FD-4DA1-B6D5-4A927FC8712A}"/>
              </a:ext>
            </a:extLst>
          </p:cNvPr>
          <p:cNvSpPr>
            <a:spLocks noGrp="1"/>
          </p:cNvSpPr>
          <p:nvPr/>
        </p:nvSpPr>
        <p:spPr>
          <a:xfrm>
            <a:off x="1143001" y="914400"/>
            <a:ext cx="2606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EDUCATION MANAGER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7226CD-850C-48F4-ACEC-6547FD786B6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8572500" cy="14484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관리자 대시보드는 완료된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합성 데이터를 누적합니다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0B94F5-E34E-439A-85C6-EB97756BE028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8382305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분기의 완료된 교육 전후 스냅샷을 프로젝트 코드 기준으로 합산합니다. 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연결이 없거나 오류가 나면 현재 세션 데이터로 전환합니다.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177B3C0-595E-4B1A-82C1-453F395C11CA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ED0C0A-171F-432E-81D9-7BF539799F38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대시보드 확인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435C2F4-B3FA-428B-9CAF-C7FCE6C3B41D}"/>
              </a:ext>
            </a:extLst>
          </p:cNvPr>
          <p:cNvSpPr>
            <a:spLocks noGrp="1"/>
          </p:cNvSpPr>
          <p:nvPr/>
        </p:nvSpPr>
        <p:spPr>
          <a:xfrm>
            <a:off x="1143000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AE81C31-959F-429F-BA62-AB1DB5D71DC8}"/>
              </a:ext>
            </a:extLst>
          </p:cNvPr>
          <p:cNvSpPr>
            <a:spLocks noGrp="1"/>
          </p:cNvSpPr>
          <p:nvPr/>
        </p:nvSpPr>
        <p:spPr>
          <a:xfrm>
            <a:off x="1143000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E5A276E-B50F-46BA-BF64-838FEDC610C7}"/>
              </a:ext>
            </a:extLst>
          </p:cNvPr>
          <p:cNvSpPr>
            <a:spLocks noGrp="1"/>
          </p:cNvSpPr>
          <p:nvPr/>
        </p:nvSpPr>
        <p:spPr>
          <a:xfrm>
            <a:off x="1561795" y="6734556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누적 프로젝트 · 참여자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9794151-C72F-461A-9C72-67A44F6A12A3}"/>
              </a:ext>
            </a:extLst>
          </p:cNvPr>
          <p:cNvSpPr>
            <a:spLocks noGrp="1"/>
          </p:cNvSpPr>
          <p:nvPr/>
        </p:nvSpPr>
        <p:spPr>
          <a:xfrm>
            <a:off x="1143000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97F8390-919A-4E93-9FC7-C2B179759DC2}"/>
              </a:ext>
            </a:extLst>
          </p:cNvPr>
          <p:cNvSpPr>
            <a:spLocks noGrp="1"/>
          </p:cNvSpPr>
          <p:nvPr/>
        </p:nvSpPr>
        <p:spPr>
          <a:xfrm>
            <a:off x="1143000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9EA2631-5CE1-44A0-A1C9-C5B6F09B9B18}"/>
              </a:ext>
            </a:extLst>
          </p:cNvPr>
          <p:cNvSpPr>
            <a:spLocks noGrp="1"/>
          </p:cNvSpPr>
          <p:nvPr/>
        </p:nvSpPr>
        <p:spPr>
          <a:xfrm>
            <a:off x="1561795" y="7200900"/>
            <a:ext cx="2115007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교육 전후 완료 건수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0845004-FC9D-44FF-B41C-6E6FBDFC85A4}"/>
              </a:ext>
            </a:extLst>
          </p:cNvPr>
          <p:cNvSpPr>
            <a:spLocks noGrp="1"/>
          </p:cNvSpPr>
          <p:nvPr/>
        </p:nvSpPr>
        <p:spPr>
          <a:xfrm>
            <a:off x="1143000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87EAB91-EDCB-42BD-8C0F-E839D53845F9}"/>
              </a:ext>
            </a:extLst>
          </p:cNvPr>
          <p:cNvSpPr>
            <a:spLocks noGrp="1"/>
          </p:cNvSpPr>
          <p:nvPr/>
        </p:nvSpPr>
        <p:spPr>
          <a:xfrm>
            <a:off x="1561814" y="7667244"/>
            <a:ext cx="3238500" cy="1910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동일 참여자 변화 상태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340757C-0C44-4234-A89C-4C7C0D4B3BEF}"/>
              </a:ext>
            </a:extLst>
          </p:cNvPr>
          <p:cNvSpPr>
            <a:spLocks noGrp="1"/>
          </p:cNvSpPr>
          <p:nvPr/>
        </p:nvSpPr>
        <p:spPr>
          <a:xfrm>
            <a:off x="5524805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E13A3FC-B644-45E8-AF69-C0617F159A02}"/>
              </a:ext>
            </a:extLst>
          </p:cNvPr>
          <p:cNvSpPr>
            <a:spLocks noGrp="1"/>
          </p:cNvSpPr>
          <p:nvPr/>
        </p:nvSpPr>
        <p:spPr>
          <a:xfrm>
            <a:off x="5524805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프로젝트 설정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4A8C342-8728-4D07-99FB-2A3FD1978639}"/>
              </a:ext>
            </a:extLst>
          </p:cNvPr>
          <p:cNvSpPr>
            <a:spLocks noGrp="1"/>
          </p:cNvSpPr>
          <p:nvPr/>
        </p:nvSpPr>
        <p:spPr>
          <a:xfrm>
            <a:off x="5524805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36AD3B4-C1E8-4E93-A5E8-BE737A6CC618}"/>
              </a:ext>
            </a:extLst>
          </p:cNvPr>
          <p:cNvSpPr>
            <a:spLocks noGrp="1"/>
          </p:cNvSpPr>
          <p:nvPr/>
        </p:nvSpPr>
        <p:spPr>
          <a:xfrm>
            <a:off x="5524805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AC25647-B6EC-47D5-BEA8-EA1FB31AB161}"/>
              </a:ext>
            </a:extLst>
          </p:cNvPr>
          <p:cNvSpPr>
            <a:spLocks noGrp="1"/>
          </p:cNvSpPr>
          <p:nvPr/>
        </p:nvSpPr>
        <p:spPr>
          <a:xfrm>
            <a:off x="5943600" y="6734556"/>
            <a:ext cx="1355141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프로젝트 코드 생성</a:t>
            </a: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E090FA4-8832-4AFB-9FAB-46A6FC41C722}"/>
              </a:ext>
            </a:extLst>
          </p:cNvPr>
          <p:cNvSpPr>
            <a:spLocks noGrp="1"/>
          </p:cNvSpPr>
          <p:nvPr/>
        </p:nvSpPr>
        <p:spPr>
          <a:xfrm>
            <a:off x="5524805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1566A8A-A84B-4188-B248-302C6C69DB81}"/>
              </a:ext>
            </a:extLst>
          </p:cNvPr>
          <p:cNvSpPr>
            <a:spLocks noGrp="1"/>
          </p:cNvSpPr>
          <p:nvPr/>
        </p:nvSpPr>
        <p:spPr>
          <a:xfrm>
            <a:off x="5524805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28D19DB-F148-4AD9-A213-97AF2663B9BB}"/>
              </a:ext>
            </a:extLst>
          </p:cNvPr>
          <p:cNvSpPr>
            <a:spLocks noGrp="1"/>
          </p:cNvSpPr>
          <p:nvPr/>
        </p:nvSpPr>
        <p:spPr>
          <a:xfrm>
            <a:off x="5943600" y="7200900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교육일 · 전후 기간</a:t>
            </a:r>
            <a:endParaRPr sz="1050" b="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1B75202-9135-4FB8-B6F1-9552255CEE86}"/>
              </a:ext>
            </a:extLst>
          </p:cNvPr>
          <p:cNvSpPr>
            <a:spLocks noGrp="1"/>
          </p:cNvSpPr>
          <p:nvPr/>
        </p:nvSpPr>
        <p:spPr>
          <a:xfrm>
            <a:off x="5524805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0316E86-0655-4F78-8603-3C47FB1EE20D}"/>
              </a:ext>
            </a:extLst>
          </p:cNvPr>
          <p:cNvSpPr>
            <a:spLocks noGrp="1"/>
          </p:cNvSpPr>
          <p:nvPr/>
        </p:nvSpPr>
        <p:spPr>
          <a:xfrm>
            <a:off x="5943600" y="7667244"/>
            <a:ext cx="1950415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역량 선택 · 저장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3888DDB-5708-4506-B9A6-283C707B23E8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06</a:t>
            </a:r>
          </a:p>
        </p:txBody>
      </p:sp>
      <p:pic>
        <p:nvPicPr>
          <p:cNvPr id="72" name="그림 7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68286" y="3619563"/>
            <a:ext cx="6096286" cy="3429161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DC6EC16D-228E-BF40-A991-9E8CFE0D18CD}"/>
              </a:ext>
            </a:extLst>
          </p:cNvPr>
          <p:cNvSpPr>
            <a:spLocks noGrp="1"/>
          </p:cNvSpPr>
          <p:nvPr/>
        </p:nvSpPr>
        <p:spPr>
          <a:xfrm>
            <a:off x="16411575" y="900326"/>
            <a:ext cx="77690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HOW TO</a:t>
            </a:r>
          </a:p>
        </p:txBody>
      </p:sp>
    </p:spTree>
    <p:extLst>
      <p:ext uri="{BB962C8B-B14F-4D97-AF65-F5344CB8AC3E}">
        <p14:creationId xmlns:p14="http://schemas.microsoft.com/office/powerpoint/2010/main" val="134023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>
            <a:extLst>
              <a:ext uri="{FF2B5EF4-FFF2-40B4-BE49-F238E27FC236}">
                <a16:creationId xmlns:a16="http://schemas.microsoft.com/office/drawing/2014/main" id="{F30779E8-3BB0-07A3-A5C2-4335A8A00D40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CBCC2D-79DE-4D7F-BA3A-AE2D0769CF15}"/>
              </a:ext>
            </a:extLst>
          </p:cNvPr>
          <p:cNvSpPr>
            <a:spLocks noGrp="1"/>
          </p:cNvSpPr>
          <p:nvPr/>
        </p:nvSpPr>
        <p:spPr>
          <a:xfrm>
            <a:off x="10287000" y="1714500"/>
            <a:ext cx="6858000" cy="7239305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72AEE46-C5BC-43CA-81A0-C4CC1DDFB952}"/>
              </a:ext>
            </a:extLst>
          </p:cNvPr>
          <p:cNvSpPr>
            <a:spLocks noGrp="1"/>
          </p:cNvSpPr>
          <p:nvPr/>
        </p:nvSpPr>
        <p:spPr>
          <a:xfrm>
            <a:off x="10668305" y="2095805"/>
            <a:ext cx="60963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687D63-D9FD-4DA1-B6D5-4A927FC8712A}"/>
              </a:ext>
            </a:extLst>
          </p:cNvPr>
          <p:cNvSpPr>
            <a:spLocks noGrp="1"/>
          </p:cNvSpPr>
          <p:nvPr/>
        </p:nvSpPr>
        <p:spPr>
          <a:xfrm>
            <a:off x="1143001" y="914400"/>
            <a:ext cx="157836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PARTICIPANT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7226CD-850C-48F4-ACEC-6547FD786B6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8572500" cy="14484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프로젝트 코드·접속코드·ID로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실제 검사에 참여합니다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0B94F5-E34E-439A-85C6-EB97756BE028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8382305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전후 완료 시점에 데이터를 저장합니다. 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후 검사는 같은 프로젝트 코드와 참여자 ID로 교육 전 결과를 불러옵니다.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177B3C0-595E-4B1A-82C1-453F395C11CA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ED0C0A-171F-432E-81D9-7BF539799F38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검사 순서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435C2F4-B3FA-428B-9CAF-C7FCE6C3B41D}"/>
              </a:ext>
            </a:extLst>
          </p:cNvPr>
          <p:cNvSpPr>
            <a:spLocks noGrp="1"/>
          </p:cNvSpPr>
          <p:nvPr/>
        </p:nvSpPr>
        <p:spPr>
          <a:xfrm>
            <a:off x="1143000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AE81C31-959F-429F-BA62-AB1DB5D71DC8}"/>
              </a:ext>
            </a:extLst>
          </p:cNvPr>
          <p:cNvSpPr>
            <a:spLocks noGrp="1"/>
          </p:cNvSpPr>
          <p:nvPr/>
        </p:nvSpPr>
        <p:spPr>
          <a:xfrm>
            <a:off x="1143000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E5A276E-B50F-46BA-BF64-838FEDC610C7}"/>
              </a:ext>
            </a:extLst>
          </p:cNvPr>
          <p:cNvSpPr>
            <a:spLocks noGrp="1"/>
          </p:cNvSpPr>
          <p:nvPr/>
        </p:nvSpPr>
        <p:spPr>
          <a:xfrm>
            <a:off x="1561795" y="6734556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프로젝트 코드 입력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9794151-C72F-461A-9C72-67A44F6A12A3}"/>
              </a:ext>
            </a:extLst>
          </p:cNvPr>
          <p:cNvSpPr>
            <a:spLocks noGrp="1"/>
          </p:cNvSpPr>
          <p:nvPr/>
        </p:nvSpPr>
        <p:spPr>
          <a:xfrm>
            <a:off x="1143000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97F8390-919A-4E93-9FC7-C2B179759DC2}"/>
              </a:ext>
            </a:extLst>
          </p:cNvPr>
          <p:cNvSpPr>
            <a:spLocks noGrp="1"/>
          </p:cNvSpPr>
          <p:nvPr/>
        </p:nvSpPr>
        <p:spPr>
          <a:xfrm>
            <a:off x="1143000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9EA2631-5CE1-44A0-A1C9-C5B6F09B9B18}"/>
              </a:ext>
            </a:extLst>
          </p:cNvPr>
          <p:cNvSpPr>
            <a:spLocks noGrp="1"/>
          </p:cNvSpPr>
          <p:nvPr/>
        </p:nvSpPr>
        <p:spPr>
          <a:xfrm>
            <a:off x="1561795" y="7200900"/>
            <a:ext cx="2115007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기획검증 접속코드 입력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0845004-FC9D-44FF-B41C-6E6FBDFC85A4}"/>
              </a:ext>
            </a:extLst>
          </p:cNvPr>
          <p:cNvSpPr>
            <a:spLocks noGrp="1"/>
          </p:cNvSpPr>
          <p:nvPr/>
        </p:nvSpPr>
        <p:spPr>
          <a:xfrm>
            <a:off x="1143000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87EAB91-EDCB-42BD-8C0F-E839D53845F9}"/>
              </a:ext>
            </a:extLst>
          </p:cNvPr>
          <p:cNvSpPr>
            <a:spLocks noGrp="1"/>
          </p:cNvSpPr>
          <p:nvPr/>
        </p:nvSpPr>
        <p:spPr>
          <a:xfrm>
            <a:off x="1561814" y="7667244"/>
            <a:ext cx="3238500" cy="1910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참여자 ID · 응답 · 완료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340757C-0C44-4234-A89C-4C7C0D4B3BEF}"/>
              </a:ext>
            </a:extLst>
          </p:cNvPr>
          <p:cNvSpPr>
            <a:spLocks noGrp="1"/>
          </p:cNvSpPr>
          <p:nvPr/>
        </p:nvSpPr>
        <p:spPr>
          <a:xfrm>
            <a:off x="5524805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E13A3FC-B644-45E8-AF69-C0617F159A02}"/>
              </a:ext>
            </a:extLst>
          </p:cNvPr>
          <p:cNvSpPr>
            <a:spLocks noGrp="1"/>
          </p:cNvSpPr>
          <p:nvPr/>
        </p:nvSpPr>
        <p:spPr>
          <a:xfrm>
            <a:off x="5524805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교육 후 연결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4A8C342-8728-4D07-99FB-2A3FD1978639}"/>
              </a:ext>
            </a:extLst>
          </p:cNvPr>
          <p:cNvSpPr>
            <a:spLocks noGrp="1"/>
          </p:cNvSpPr>
          <p:nvPr/>
        </p:nvSpPr>
        <p:spPr>
          <a:xfrm>
            <a:off x="5524805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36AD3B4-C1E8-4E93-A5E8-BE737A6CC618}"/>
              </a:ext>
            </a:extLst>
          </p:cNvPr>
          <p:cNvSpPr>
            <a:spLocks noGrp="1"/>
          </p:cNvSpPr>
          <p:nvPr/>
        </p:nvSpPr>
        <p:spPr>
          <a:xfrm>
            <a:off x="5524805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AC25647-B6EC-47D5-BEA8-EA1FB31AB161}"/>
              </a:ext>
            </a:extLst>
          </p:cNvPr>
          <p:cNvSpPr>
            <a:spLocks noGrp="1"/>
          </p:cNvSpPr>
          <p:nvPr/>
        </p:nvSpPr>
        <p:spPr>
          <a:xfrm>
            <a:off x="5943600" y="6734556"/>
            <a:ext cx="1355141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같은 코드 · ID로 접속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E090FA4-8832-4AFB-9FAB-46A6FC41C722}"/>
              </a:ext>
            </a:extLst>
          </p:cNvPr>
          <p:cNvSpPr>
            <a:spLocks noGrp="1"/>
          </p:cNvSpPr>
          <p:nvPr/>
        </p:nvSpPr>
        <p:spPr>
          <a:xfrm>
            <a:off x="5524805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1566A8A-A84B-4188-B248-302C6C69DB81}"/>
              </a:ext>
            </a:extLst>
          </p:cNvPr>
          <p:cNvSpPr>
            <a:spLocks noGrp="1"/>
          </p:cNvSpPr>
          <p:nvPr/>
        </p:nvSpPr>
        <p:spPr>
          <a:xfrm>
            <a:off x="5524805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28D19DB-F148-4AD9-A213-97AF2663B9BB}"/>
              </a:ext>
            </a:extLst>
          </p:cNvPr>
          <p:cNvSpPr>
            <a:spLocks noGrp="1"/>
          </p:cNvSpPr>
          <p:nvPr/>
        </p:nvSpPr>
        <p:spPr>
          <a:xfrm>
            <a:off x="5943600" y="7200900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교육 전 완료 기록 불러오기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1B75202-9135-4FB8-B6F1-9552255CEE86}"/>
              </a:ext>
            </a:extLst>
          </p:cNvPr>
          <p:cNvSpPr>
            <a:spLocks noGrp="1"/>
          </p:cNvSpPr>
          <p:nvPr/>
        </p:nvSpPr>
        <p:spPr>
          <a:xfrm>
            <a:off x="5524805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0316E86-0655-4F78-8603-3C47FB1EE20D}"/>
              </a:ext>
            </a:extLst>
          </p:cNvPr>
          <p:cNvSpPr>
            <a:spLocks noGrp="1"/>
          </p:cNvSpPr>
          <p:nvPr/>
        </p:nvSpPr>
        <p:spPr>
          <a:xfrm>
            <a:off x="5943600" y="7667244"/>
            <a:ext cx="1950415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실패 시 JSON 업로드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3888DDB-5708-4506-B9A6-283C707B23E8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07</a:t>
            </a:r>
          </a:p>
        </p:txBody>
      </p:sp>
      <p:pic>
        <p:nvPicPr>
          <p:cNvPr id="72" name="그림 7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68286" y="3619563"/>
            <a:ext cx="6096286" cy="3429161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41948DA5-54FE-3AE4-D9EE-43FBCF2B42BA}"/>
              </a:ext>
            </a:extLst>
          </p:cNvPr>
          <p:cNvSpPr>
            <a:spLocks noGrp="1"/>
          </p:cNvSpPr>
          <p:nvPr/>
        </p:nvSpPr>
        <p:spPr>
          <a:xfrm>
            <a:off x="16411575" y="900326"/>
            <a:ext cx="77690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HOW TO</a:t>
            </a:r>
          </a:p>
        </p:txBody>
      </p:sp>
    </p:spTree>
    <p:extLst>
      <p:ext uri="{BB962C8B-B14F-4D97-AF65-F5344CB8AC3E}">
        <p14:creationId xmlns:p14="http://schemas.microsoft.com/office/powerpoint/2010/main" val="134023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>
            <a:extLst>
              <a:ext uri="{FF2B5EF4-FFF2-40B4-BE49-F238E27FC236}">
                <a16:creationId xmlns:a16="http://schemas.microsoft.com/office/drawing/2014/main" id="{F30779E8-3BB0-07A3-A5C2-4335A8A00D40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CBCC2D-79DE-4D7F-BA3A-AE2D0769CF15}"/>
              </a:ext>
            </a:extLst>
          </p:cNvPr>
          <p:cNvSpPr>
            <a:spLocks noGrp="1"/>
          </p:cNvSpPr>
          <p:nvPr/>
        </p:nvSpPr>
        <p:spPr>
          <a:xfrm>
            <a:off x="10287000" y="1714500"/>
            <a:ext cx="6858000" cy="7239305"/>
          </a:xfrm>
          <a:prstGeom prst="rect">
            <a:avLst/>
          </a:prstGeom>
          <a:solidFill>
            <a:srgbClr val="F4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72AEE46-C5BC-43CA-81A0-C4CC1DDFB952}"/>
              </a:ext>
            </a:extLst>
          </p:cNvPr>
          <p:cNvSpPr>
            <a:spLocks noGrp="1"/>
          </p:cNvSpPr>
          <p:nvPr/>
        </p:nvSpPr>
        <p:spPr>
          <a:xfrm>
            <a:off x="10668305" y="2095805"/>
            <a:ext cx="60963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687D63-D9FD-4DA1-B6D5-4A927FC8712A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2798233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ORGANIZATION REPORT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7226CD-850C-48F4-ACEC-6547FD786B6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8572500" cy="14484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실시 프로젝트에서 교육 전후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조직 리포트를 바로 엽니다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0B94F5-E34E-439A-85C6-EB97756BE028}"/>
              </a:ext>
            </a:extLst>
          </p:cNvPr>
          <p:cNvSpPr>
            <a:spLocks noGrp="1"/>
          </p:cNvSpPr>
          <p:nvPr/>
        </p:nvSpPr>
        <p:spPr>
          <a:xfrm>
            <a:off x="1143000" y="3810305"/>
            <a:ext cx="8382305" cy="7150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프로젝트를 선택해 완료 데이터를 불러옵니다. 교육 전후 완료 인원과 동일 참여자 변화를 확인하고, 공개 가능한 3~8개 역량을 N각형 레이더로 비교합니다.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177B3C0-595E-4B1A-82C1-453F395C11CA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ED0C0A-171F-432E-81D9-7BF539799F38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준비 순서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435C2F4-B3FA-428B-9CAF-C7FCE6C3B41D}"/>
              </a:ext>
            </a:extLst>
          </p:cNvPr>
          <p:cNvSpPr>
            <a:spLocks noGrp="1"/>
          </p:cNvSpPr>
          <p:nvPr/>
        </p:nvSpPr>
        <p:spPr>
          <a:xfrm>
            <a:off x="1143000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AE81C31-959F-429F-BA62-AB1DB5D71DC8}"/>
              </a:ext>
            </a:extLst>
          </p:cNvPr>
          <p:cNvSpPr>
            <a:spLocks noGrp="1"/>
          </p:cNvSpPr>
          <p:nvPr/>
        </p:nvSpPr>
        <p:spPr>
          <a:xfrm>
            <a:off x="1143000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E5A276E-B50F-46BA-BF64-838FEDC610C7}"/>
              </a:ext>
            </a:extLst>
          </p:cNvPr>
          <p:cNvSpPr>
            <a:spLocks noGrp="1"/>
          </p:cNvSpPr>
          <p:nvPr/>
        </p:nvSpPr>
        <p:spPr>
          <a:xfrm>
            <a:off x="1561795" y="6734556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실시 프로젝트 선택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9794151-C72F-461A-9C72-67A44F6A12A3}"/>
              </a:ext>
            </a:extLst>
          </p:cNvPr>
          <p:cNvSpPr>
            <a:spLocks noGrp="1"/>
          </p:cNvSpPr>
          <p:nvPr/>
        </p:nvSpPr>
        <p:spPr>
          <a:xfrm>
            <a:off x="1143000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97F8390-919A-4E93-9FC7-C2B179759DC2}"/>
              </a:ext>
            </a:extLst>
          </p:cNvPr>
          <p:cNvSpPr>
            <a:spLocks noGrp="1"/>
          </p:cNvSpPr>
          <p:nvPr/>
        </p:nvSpPr>
        <p:spPr>
          <a:xfrm>
            <a:off x="1143000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9EA2631-5CE1-44A0-A1C9-C5B6F09B9B18}"/>
              </a:ext>
            </a:extLst>
          </p:cNvPr>
          <p:cNvSpPr>
            <a:spLocks noGrp="1"/>
          </p:cNvSpPr>
          <p:nvPr/>
        </p:nvSpPr>
        <p:spPr>
          <a:xfrm>
            <a:off x="1561795" y="7200900"/>
            <a:ext cx="2115007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프로젝트 새로고침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0845004-FC9D-44FF-B41C-6E6FBDFC85A4}"/>
              </a:ext>
            </a:extLst>
          </p:cNvPr>
          <p:cNvSpPr>
            <a:spLocks noGrp="1"/>
          </p:cNvSpPr>
          <p:nvPr/>
        </p:nvSpPr>
        <p:spPr>
          <a:xfrm>
            <a:off x="1143000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87EAB91-EDCB-42BD-8C0F-E839D53845F9}"/>
              </a:ext>
            </a:extLst>
          </p:cNvPr>
          <p:cNvSpPr>
            <a:spLocks noGrp="1"/>
          </p:cNvSpPr>
          <p:nvPr/>
        </p:nvSpPr>
        <p:spPr>
          <a:xfrm>
            <a:off x="1561814" y="7667244"/>
            <a:ext cx="3238500" cy="1910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교육 전후 리포트 확인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340757C-0C44-4234-A89C-4C7C0D4B3BEF}"/>
              </a:ext>
            </a:extLst>
          </p:cNvPr>
          <p:cNvSpPr>
            <a:spLocks noGrp="1"/>
          </p:cNvSpPr>
          <p:nvPr/>
        </p:nvSpPr>
        <p:spPr>
          <a:xfrm>
            <a:off x="5524805" y="5715000"/>
            <a:ext cx="3810305" cy="19202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E13A3FC-B644-45E8-AF69-C0617F159A02}"/>
              </a:ext>
            </a:extLst>
          </p:cNvPr>
          <p:cNvSpPr>
            <a:spLocks noGrp="1"/>
          </p:cNvSpPr>
          <p:nvPr/>
        </p:nvSpPr>
        <p:spPr>
          <a:xfrm>
            <a:off x="5524805" y="5943600"/>
            <a:ext cx="3810305" cy="3337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22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해석 기준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4A8C342-8728-4D07-99FB-2A3FD1978639}"/>
              </a:ext>
            </a:extLst>
          </p:cNvPr>
          <p:cNvSpPr>
            <a:spLocks noGrp="1"/>
          </p:cNvSpPr>
          <p:nvPr/>
        </p:nvSpPr>
        <p:spPr>
          <a:xfrm>
            <a:off x="5524805" y="7058254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36AD3B4-C1E8-4E93-A5E8-BE737A6CC618}"/>
              </a:ext>
            </a:extLst>
          </p:cNvPr>
          <p:cNvSpPr>
            <a:spLocks noGrp="1"/>
          </p:cNvSpPr>
          <p:nvPr/>
        </p:nvSpPr>
        <p:spPr>
          <a:xfrm>
            <a:off x="5524805" y="6734556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AC25647-B6EC-47D5-BEA8-EA1FB31AB161}"/>
              </a:ext>
            </a:extLst>
          </p:cNvPr>
          <p:cNvSpPr>
            <a:spLocks noGrp="1"/>
          </p:cNvSpPr>
          <p:nvPr/>
        </p:nvSpPr>
        <p:spPr>
          <a:xfrm>
            <a:off x="5943600" y="6734556"/>
            <a:ext cx="1355141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동일 ID · 역량 · 버전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E090FA4-8832-4AFB-9FAB-46A6FC41C722}"/>
              </a:ext>
            </a:extLst>
          </p:cNvPr>
          <p:cNvSpPr>
            <a:spLocks noGrp="1"/>
          </p:cNvSpPr>
          <p:nvPr/>
        </p:nvSpPr>
        <p:spPr>
          <a:xfrm>
            <a:off x="5524805" y="7524598"/>
            <a:ext cx="3810305" cy="9144"/>
          </a:xfrm>
          <a:prstGeom prst="rect">
            <a:avLst/>
          </a:prstGeom>
          <a:solidFill>
            <a:srgbClr val="DCE3E5"/>
          </a:solidFill>
          <a:ln w="12700">
            <a:solidFill>
              <a:srgbClr val="DCE3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1566A8A-A84B-4188-B248-302C6C69DB81}"/>
              </a:ext>
            </a:extLst>
          </p:cNvPr>
          <p:cNvSpPr>
            <a:spLocks noGrp="1"/>
          </p:cNvSpPr>
          <p:nvPr/>
        </p:nvSpPr>
        <p:spPr>
          <a:xfrm>
            <a:off x="5524805" y="7200900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28D19DB-F148-4AD9-A213-97AF2663B9BB}"/>
              </a:ext>
            </a:extLst>
          </p:cNvPr>
          <p:cNvSpPr>
            <a:spLocks noGrp="1"/>
          </p:cNvSpPr>
          <p:nvPr/>
        </p:nvSpPr>
        <p:spPr>
          <a:xfrm>
            <a:off x="5943600" y="7200900"/>
            <a:ext cx="1783994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역량별 5명 이상 공개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1B75202-9135-4FB8-B6F1-9552255CEE86}"/>
              </a:ext>
            </a:extLst>
          </p:cNvPr>
          <p:cNvSpPr>
            <a:spLocks noGrp="1"/>
          </p:cNvSpPr>
          <p:nvPr/>
        </p:nvSpPr>
        <p:spPr>
          <a:xfrm>
            <a:off x="5524805" y="7667244"/>
            <a:ext cx="228600" cy="1911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0316E86-0655-4F78-8603-3C47FB1EE20D}"/>
              </a:ext>
            </a:extLst>
          </p:cNvPr>
          <p:cNvSpPr>
            <a:spLocks noGrp="1"/>
          </p:cNvSpPr>
          <p:nvPr/>
        </p:nvSpPr>
        <p:spPr>
          <a:xfrm>
            <a:off x="5943600" y="7667244"/>
            <a:ext cx="1950415" cy="191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1E2324"/>
                </a:solidFill>
                <a:latin typeface="페이퍼로지 4 Regular"/>
                <a:ea typeface="페이퍼로지 4 Regular"/>
                <a:cs typeface="페이퍼로지 4 Regular"/>
              </a:rPr>
              <a:t>3~8축 레이더 · CSV 보조</a:t>
            </a:r>
            <a:endParaRPr sz="1100">
              <a:solidFill>
                <a:srgbClr val="1E232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3888DDB-5708-4506-B9A6-283C707B23E8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08</a:t>
            </a: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2D176D0E-E021-3CE6-1764-753858F49422}"/>
              </a:ext>
            </a:extLst>
          </p:cNvPr>
          <p:cNvSpPr>
            <a:spLocks noGrp="1"/>
          </p:cNvSpPr>
          <p:nvPr/>
        </p:nvSpPr>
        <p:spPr>
          <a:xfrm>
            <a:off x="16411575" y="900326"/>
            <a:ext cx="77690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HOW TO</a:t>
            </a: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68286" y="3663354"/>
            <a:ext cx="6096286" cy="334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3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334195"/>
            <a:ext cx="16002000" cy="9144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30EFA37-99E2-42F7-9B30-C86EB20D885D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9525286" cy="1353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검사 참여·측정 원칙·PDF 안내서를</a:t>
            </a:r>
          </a:p>
          <a:p>
            <a:pPr algn="l">
              <a:buNone/>
              <a:def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4800" b="0">
                <a:solidFill>
                  <a:srgbClr val="0A0E10"/>
                </a:solidFill>
                <a:latin typeface="페이퍼로지 7 Bold"/>
                <a:ea typeface="페이퍼로지 7 Bold"/>
                <a:cs typeface="페이퍼로지 7 Bold"/>
              </a:rPr>
              <a:t>오픈페이지에서 확인합니다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E0293-CB7C-4821-A850-B5D20056D79A}"/>
              </a:ext>
            </a:extLst>
          </p:cNvPr>
          <p:cNvSpPr>
            <a:spLocks noGrp="1"/>
          </p:cNvSpPr>
          <p:nvPr/>
        </p:nvSpPr>
        <p:spPr>
          <a:xfrm>
            <a:off x="1143000" y="3143706"/>
            <a:ext cx="8572500" cy="6281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검사 참여는 교육 전 검사로, 측정 원칙은 내부 섹션으로 이동합니다.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6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상·하단 사용설명서는 PDF로 바로 내려받습니다.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F5621F2-7E1A-417F-A7BC-C1D1C7E42600}"/>
              </a:ext>
            </a:extLst>
          </p:cNvPr>
          <p:cNvSpPr>
            <a:spLocks noGrp="1"/>
          </p:cNvSpPr>
          <p:nvPr/>
        </p:nvSpPr>
        <p:spPr>
          <a:xfrm>
            <a:off x="1143000" y="4953286"/>
            <a:ext cx="3143726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C9B1CA6-5EFE-423D-8385-F9414181916B}"/>
              </a:ext>
            </a:extLst>
          </p:cNvPr>
          <p:cNvSpPr>
            <a:spLocks noGrp="1"/>
          </p:cNvSpPr>
          <p:nvPr/>
        </p:nvSpPr>
        <p:spPr>
          <a:xfrm>
            <a:off x="1143000" y="5134356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01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99714DA-1B0A-44B9-A5CC-57117CC1F261}"/>
              </a:ext>
            </a:extLst>
          </p:cNvPr>
          <p:cNvSpPr>
            <a:spLocks noGrp="1"/>
          </p:cNvSpPr>
          <p:nvPr/>
        </p:nvSpPr>
        <p:spPr>
          <a:xfrm>
            <a:off x="1143000" y="5429726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검사 참여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C3F7DAF-2F7C-490D-8692-BC8E51964329}"/>
              </a:ext>
            </a:extLst>
          </p:cNvPr>
          <p:cNvSpPr>
            <a:spLocks noGrp="1"/>
          </p:cNvSpPr>
          <p:nvPr/>
        </p:nvSpPr>
        <p:spPr>
          <a:xfrm>
            <a:off x="1143000" y="5772626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 검사로 이동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14EE024-6A3C-48F6-91EC-F06E76E5D2D0}"/>
              </a:ext>
            </a:extLst>
          </p:cNvPr>
          <p:cNvSpPr>
            <a:spLocks noGrp="1"/>
          </p:cNvSpPr>
          <p:nvPr/>
        </p:nvSpPr>
        <p:spPr>
          <a:xfrm>
            <a:off x="4572000" y="4953286"/>
            <a:ext cx="3143726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23BA0B2-799B-4814-972B-4F3396102954}"/>
              </a:ext>
            </a:extLst>
          </p:cNvPr>
          <p:cNvSpPr>
            <a:spLocks noGrp="1"/>
          </p:cNvSpPr>
          <p:nvPr/>
        </p:nvSpPr>
        <p:spPr>
          <a:xfrm>
            <a:off x="4572000" y="5134356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02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199BE3A-107D-44AD-B647-87EC264D6D37}"/>
              </a:ext>
            </a:extLst>
          </p:cNvPr>
          <p:cNvSpPr>
            <a:spLocks noGrp="1"/>
          </p:cNvSpPr>
          <p:nvPr/>
        </p:nvSpPr>
        <p:spPr>
          <a:xfrm>
            <a:off x="4572000" y="5429726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측정 원칙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3B3DB5B-314A-4E06-805C-10692F76508C}"/>
              </a:ext>
            </a:extLst>
          </p:cNvPr>
          <p:cNvSpPr>
            <a:spLocks noGrp="1"/>
          </p:cNvSpPr>
          <p:nvPr/>
        </p:nvSpPr>
        <p:spPr>
          <a:xfrm>
            <a:off x="4572000" y="5772626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오픈페이지 내부 섹션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21EFE92-4587-4748-B14A-9D9F2D68C188}"/>
              </a:ext>
            </a:extLst>
          </p:cNvPr>
          <p:cNvSpPr>
            <a:spLocks noGrp="1"/>
          </p:cNvSpPr>
          <p:nvPr/>
        </p:nvSpPr>
        <p:spPr>
          <a:xfrm>
            <a:off x="8001000" y="4953286"/>
            <a:ext cx="3143726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86AC1DD-1138-4608-95E4-ACC4AD4CA8EE}"/>
              </a:ext>
            </a:extLst>
          </p:cNvPr>
          <p:cNvSpPr>
            <a:spLocks noGrp="1"/>
          </p:cNvSpPr>
          <p:nvPr/>
        </p:nvSpPr>
        <p:spPr>
          <a:xfrm>
            <a:off x="8001000" y="5134356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03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10E28FE-FEC6-4772-BB61-56C1706CAD0D}"/>
              </a:ext>
            </a:extLst>
          </p:cNvPr>
          <p:cNvSpPr>
            <a:spLocks noGrp="1"/>
          </p:cNvSpPr>
          <p:nvPr/>
        </p:nvSpPr>
        <p:spPr>
          <a:xfrm>
            <a:off x="8001000" y="5429726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사용설명서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6979E87-403E-4A3C-8CB0-8D20F8284E61}"/>
              </a:ext>
            </a:extLst>
          </p:cNvPr>
          <p:cNvSpPr>
            <a:spLocks noGrp="1"/>
          </p:cNvSpPr>
          <p:nvPr/>
        </p:nvSpPr>
        <p:spPr>
          <a:xfrm>
            <a:off x="8001000" y="5772626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상·하단 PDF 즉시 다운로드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F11405C-2B35-4634-B2B2-F84CE1D1EC93}"/>
              </a:ext>
            </a:extLst>
          </p:cNvPr>
          <p:cNvSpPr>
            <a:spLocks noGrp="1"/>
          </p:cNvSpPr>
          <p:nvPr/>
        </p:nvSpPr>
        <p:spPr>
          <a:xfrm>
            <a:off x="1143000" y="6953060"/>
            <a:ext cx="3143726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D156304-AB10-4748-9C89-1A8DBA3D532E}"/>
              </a:ext>
            </a:extLst>
          </p:cNvPr>
          <p:cNvSpPr>
            <a:spLocks noGrp="1"/>
          </p:cNvSpPr>
          <p:nvPr/>
        </p:nvSpPr>
        <p:spPr>
          <a:xfrm>
            <a:off x="1143000" y="7134130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04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D3AB4FE-E9B0-436F-9804-AB8D8352B3EC}"/>
              </a:ext>
            </a:extLst>
          </p:cNvPr>
          <p:cNvSpPr>
            <a:spLocks noGrp="1"/>
          </p:cNvSpPr>
          <p:nvPr/>
        </p:nvSpPr>
        <p:spPr>
          <a:xfrm>
            <a:off x="1143000" y="7429500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개인 결과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875FD6-6CB6-40CF-BE5D-931858FEA283}"/>
              </a:ext>
            </a:extLst>
          </p:cNvPr>
          <p:cNvSpPr>
            <a:spLocks noGrp="1"/>
          </p:cNvSpPr>
          <p:nvPr/>
        </p:nvSpPr>
        <p:spPr>
          <a:xfrm>
            <a:off x="1143000" y="7772400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내 변화 리포트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결과 CSV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96A554A3-71BB-4BD8-ADB9-78815C733A3C}"/>
              </a:ext>
            </a:extLst>
          </p:cNvPr>
          <p:cNvSpPr>
            <a:spLocks noGrp="1"/>
          </p:cNvSpPr>
          <p:nvPr/>
        </p:nvSpPr>
        <p:spPr>
          <a:xfrm>
            <a:off x="4572000" y="6953060"/>
            <a:ext cx="3143726" cy="9144"/>
          </a:xfrm>
          <a:prstGeom prst="rect">
            <a:avLst/>
          </a:prstGeom>
          <a:solidFill>
            <a:srgbClr val="0A0E10"/>
          </a:solidFill>
          <a:ln w="12700">
            <a:solidFill>
              <a:srgbClr val="0A0E1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F877655-4879-46FC-9EBF-4753ACB5F8B1}"/>
              </a:ext>
            </a:extLst>
          </p:cNvPr>
          <p:cNvSpPr>
            <a:spLocks noGrp="1"/>
          </p:cNvSpPr>
          <p:nvPr/>
        </p:nvSpPr>
        <p:spPr>
          <a:xfrm>
            <a:off x="4572000" y="7134130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05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BE550DE3-D125-447F-A9EC-72F0E54B2A61}"/>
              </a:ext>
            </a:extLst>
          </p:cNvPr>
          <p:cNvSpPr>
            <a:spLocks noGrp="1"/>
          </p:cNvSpPr>
          <p:nvPr/>
        </p:nvSpPr>
        <p:spPr>
          <a:xfrm>
            <a:off x="4572000" y="7429500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조직 결과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28BC621-A9F5-432B-870B-6B3704E34E15}"/>
              </a:ext>
            </a:extLst>
          </p:cNvPr>
          <p:cNvSpPr>
            <a:spLocks noGrp="1"/>
          </p:cNvSpPr>
          <p:nvPr/>
        </p:nvSpPr>
        <p:spPr>
          <a:xfrm>
            <a:off x="4572000" y="7772400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교육 전후 리포트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프로젝트 새로고침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DAA8528-FAD8-4B7F-9389-0AB49B43B52D}"/>
              </a:ext>
            </a:extLst>
          </p:cNvPr>
          <p:cNvSpPr>
            <a:spLocks noGrp="1"/>
          </p:cNvSpPr>
          <p:nvPr/>
        </p:nvSpPr>
        <p:spPr>
          <a:xfrm>
            <a:off x="8001000" y="6953060"/>
            <a:ext cx="3143726" cy="9144"/>
          </a:xfrm>
          <a:prstGeom prst="rect">
            <a:avLst/>
          </a:prstGeom>
          <a:solidFill>
            <a:srgbClr val="00B5AC"/>
          </a:solidFill>
          <a:ln w="12700">
            <a:solidFill>
              <a:srgbClr val="00B5A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CA61648-0CC5-4E14-BDEA-A3F57C861805}"/>
              </a:ext>
            </a:extLst>
          </p:cNvPr>
          <p:cNvSpPr>
            <a:spLocks noGrp="1"/>
          </p:cNvSpPr>
          <p:nvPr/>
        </p:nvSpPr>
        <p:spPr>
          <a:xfrm>
            <a:off x="8001000" y="7134130"/>
            <a:ext cx="3143726" cy="1627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06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5709CAD-3028-460F-8460-A230793AE376}"/>
              </a:ext>
            </a:extLst>
          </p:cNvPr>
          <p:cNvSpPr>
            <a:spLocks noGrp="1"/>
          </p:cNvSpPr>
          <p:nvPr/>
        </p:nvSpPr>
        <p:spPr>
          <a:xfrm>
            <a:off x="8001000" y="7429500"/>
            <a:ext cx="3143726" cy="24784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1600" b="0">
                <a:solidFill>
                  <a:srgbClr val="0A0E10"/>
                </a:solidFill>
                <a:latin typeface="페이퍼로지 6 SemiBold"/>
                <a:ea typeface="페이퍼로지 6 SemiBold"/>
                <a:cs typeface="페이퍼로지 6 SemiBold"/>
              </a:rPr>
              <a:t>KMA 검수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348CF7F-B2E7-42B4-AECE-37EB59C31333}"/>
              </a:ext>
            </a:extLst>
          </p:cNvPr>
          <p:cNvSpPr>
            <a:spLocks noGrp="1"/>
          </p:cNvSpPr>
          <p:nvPr/>
        </p:nvSpPr>
        <p:spPr>
          <a:xfrm>
            <a:off x="8001000" y="7772400"/>
            <a:ext cx="314372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관리자 대시보드</a:t>
            </a:r>
          </a:p>
          <a:p>
            <a:pPr algn="l">
              <a:buNone/>
              <a:defRPr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sz="1100" b="0">
                <a:solidFill>
                  <a:srgbClr val="6C7476"/>
                </a:solidFill>
                <a:latin typeface="페이퍼로지 4 Regular"/>
                <a:ea typeface="페이퍼로지 4 Regular"/>
                <a:cs typeface="페이퍼로지 4 Regular"/>
              </a:rPr>
              <a:t>문항은행 검수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62D4CCB-80F4-4177-93B6-4CE9FF1969B4}"/>
              </a:ext>
            </a:extLst>
          </p:cNvPr>
          <p:cNvSpPr>
            <a:spLocks noGrp="1"/>
          </p:cNvSpPr>
          <p:nvPr/>
        </p:nvSpPr>
        <p:spPr>
          <a:xfrm>
            <a:off x="15430500" y="9620402"/>
            <a:ext cx="1714500" cy="1719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100" b="0">
                <a:solidFill>
                  <a:srgbClr val="98A4A6"/>
                </a:solidFill>
                <a:latin typeface="페이퍼로지 5 Medium"/>
                <a:ea typeface="페이퍼로지 5 Medium"/>
                <a:cs typeface="페이퍼로지 5 Medium"/>
              </a:rPr>
              <a:t>09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23A4B73-AE3C-952C-FF8B-B9B24C870D8F}"/>
              </a:ext>
            </a:extLst>
          </p:cNvPr>
          <p:cNvSpPr>
            <a:spLocks noGrp="1"/>
          </p:cNvSpPr>
          <p:nvPr/>
        </p:nvSpPr>
        <p:spPr>
          <a:xfrm>
            <a:off x="1150939" y="1000353"/>
            <a:ext cx="15986124" cy="0"/>
          </a:xfrm>
          <a:prstGeom prst="line">
            <a:avLst/>
          </a:prstGeom>
          <a:noFill/>
          <a:ln w="10160">
            <a:gradFill rotWithShape="1">
              <a:gsLst>
                <a:gs pos="50000">
                  <a:srgbClr val="73C9BD"/>
                </a:gs>
                <a:gs pos="0">
                  <a:srgbClr val="6C7476"/>
                </a:gs>
                <a:gs pos="100000">
                  <a:srgbClr val="73C9BD"/>
                </a:gs>
              </a:gsLst>
              <a:lin ang="0" scaled="1"/>
              <a:tileRect/>
            </a:gra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A9A140-5B7D-C748-6354-81546788C9B9}"/>
              </a:ext>
            </a:extLst>
          </p:cNvPr>
          <p:cNvSpPr>
            <a:spLocks noGrp="1"/>
          </p:cNvSpPr>
          <p:nvPr/>
        </p:nvSpPr>
        <p:spPr>
          <a:xfrm>
            <a:off x="15363825" y="900326"/>
            <a:ext cx="1824658" cy="237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00B5AC"/>
                </a:solidFill>
                <a:latin typeface="페이퍼로지 5 Medium"/>
                <a:ea typeface="페이퍼로지 5 Medium"/>
                <a:cs typeface="페이퍼로지 5 Medium"/>
              </a:rPr>
              <a:t>BUTTON REFERENCE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B8CEDBE-7D90-4A6A-9273-96AEE50309E8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392767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>
            <a:lvl1pPr indent="0">
              <a:buNone/>
              <a:defRPr sz="1300" b="0" spc="297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l">
              <a:buNone/>
              <a:defRPr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00" b="0">
                <a:solidFill>
                  <a:srgbClr val="6C7476"/>
                </a:solidFill>
                <a:latin typeface="페이퍼로지 5 Medium"/>
                <a:ea typeface="페이퍼로지 5 Medium"/>
                <a:cs typeface="페이퍼로지 5 Medium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42771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</Words>
  <Application>Microsoft Office PowerPoint</Application>
  <DocSecurity>0</DocSecurity>
  <PresentationFormat>사용자 지정</PresentationFormat>
  <Paragraphs>272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페이퍼로지 7 Bold</vt:lpstr>
      <vt:lpstr>페이퍼로지 5 Medium</vt:lpstr>
      <vt:lpstr>페이퍼로지 8 ExtraBold</vt:lpstr>
      <vt:lpstr>페이퍼로지 6 SemiBold</vt:lpstr>
      <vt:lpstr>페이퍼로지 2 ExtraLight</vt:lpstr>
      <vt:lpstr>페이퍼로지 4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김도환</cp:lastModifiedBy>
  <cp:revision>1</cp:revision>
  <dcterms:created xsi:type="dcterms:W3CDTF">2026-08-20T07:54:02Z</dcterms:created>
  <dcterms:modified xsi:type="dcterms:W3CDTF">2026-08-20T08:07:56Z</dcterms:modified>
</cp:coreProperties>
</file>
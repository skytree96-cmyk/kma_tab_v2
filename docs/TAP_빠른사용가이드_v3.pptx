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24a3feacefd4a78" /><Relationship Type="http://schemas.openxmlformats.org/officeDocument/2006/relationships/extended-properties" Target="/docProps/app.xml" Id="R0901264e87af4a62" /><Relationship Type="http://schemas.openxmlformats.org/officeDocument/2006/relationships/officeDocument" Target="/ppt/presentation.xml" Id="R5331cbf412714b6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718c3381974cfa"/>
  </p:sldMasterIdLst>
  <p:notesMasterIdLst>
    <p:notesMasterId xmlns:r="http://schemas.openxmlformats.org/officeDocument/2006/relationships" r:id="R663f4000e4264ea7"/>
  </p:notesMasterIdLst>
  <p:sldIdLst>
    <p:sldId xmlns:r="http://schemas.openxmlformats.org/officeDocument/2006/relationships" id="256" r:id="R8cab738111af40fa"/>
    <p:sldId xmlns:r="http://schemas.openxmlformats.org/officeDocument/2006/relationships" id="257" r:id="Rb566b1cff3674855"/>
    <p:sldId xmlns:r="http://schemas.openxmlformats.org/officeDocument/2006/relationships" id="258" r:id="R8f95c2de7f54471d"/>
    <p:sldId xmlns:r="http://schemas.openxmlformats.org/officeDocument/2006/relationships" id="259" r:id="Rc11af562d5644864"/>
    <p:sldId xmlns:r="http://schemas.openxmlformats.org/officeDocument/2006/relationships" id="260" r:id="R091356f9bd124fdd"/>
    <p:sldId xmlns:r="http://schemas.openxmlformats.org/officeDocument/2006/relationships" id="261" r:id="Rda1d94d9df554aef"/>
    <p:sldId xmlns:r="http://schemas.openxmlformats.org/officeDocument/2006/relationships" id="262" r:id="R8ff4bf4e3c7c4cb7"/>
    <p:sldId xmlns:r="http://schemas.openxmlformats.org/officeDocument/2006/relationships" id="263" r:id="R3dbc54836d984b41"/>
    <p:sldId xmlns:r="http://schemas.openxmlformats.org/officeDocument/2006/relationships" id="264" r:id="Rbcc3a16b9b994397"/>
    <p:sldId xmlns:r="http://schemas.openxmlformats.org/officeDocument/2006/relationships" id="265" r:id="R20c6c954f172440c"/>
    <p:sldId xmlns:r="http://schemas.openxmlformats.org/officeDocument/2006/relationships" id="266" r:id="R86d0f67d7b314265"/>
    <p:sldId xmlns:r="http://schemas.openxmlformats.org/officeDocument/2006/relationships" id="267" r:id="R4f8a3660d2684fa3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08665cd610c4bcb" /><Relationship Type="http://schemas.openxmlformats.org/officeDocument/2006/relationships/slideMaster" Target="/ppt/slideMasters/slideMaster1.xml" Id="R5e718c3381974cfa" /><Relationship Type="http://schemas.openxmlformats.org/officeDocument/2006/relationships/notesMaster" Target="/ppt/notesMasters/notesMaster1.xml" Id="R663f4000e4264ea7" /><Relationship Type="http://schemas.openxmlformats.org/officeDocument/2006/relationships/presProps" Target="/ppt/presProps.xml" Id="R9da1c98d8a444024" /><Relationship Type="http://schemas.openxmlformats.org/officeDocument/2006/relationships/viewProps" Target="/ppt/viewProps.xml" Id="Rb187d3b7df3342df" /><Relationship Type="http://schemas.openxmlformats.org/officeDocument/2006/relationships/tableStyles" Target="/ppt/tableStyles.xml" Id="R1185b09dffa94a10" /><Relationship Type="http://schemas.openxmlformats.org/officeDocument/2006/relationships/slide" Target="/ppt/slides/slide1.xml" Id="R8cab738111af40fa" /><Relationship Type="http://schemas.openxmlformats.org/officeDocument/2006/relationships/slide" Target="/ppt/slides/slide2.xml" Id="Rb566b1cff3674855" /><Relationship Type="http://schemas.openxmlformats.org/officeDocument/2006/relationships/slide" Target="/ppt/slides/slide3.xml" Id="R8f95c2de7f54471d" /><Relationship Type="http://schemas.openxmlformats.org/officeDocument/2006/relationships/slide" Target="/ppt/slides/slide4.xml" Id="Rc11af562d5644864" /><Relationship Type="http://schemas.openxmlformats.org/officeDocument/2006/relationships/slide" Target="/ppt/slides/slide5.xml" Id="R091356f9bd124fdd" /><Relationship Type="http://schemas.openxmlformats.org/officeDocument/2006/relationships/slide" Target="/ppt/slides/slide6.xml" Id="Rda1d94d9df554aef" /><Relationship Type="http://schemas.openxmlformats.org/officeDocument/2006/relationships/slide" Target="/ppt/slides/slide7.xml" Id="R8ff4bf4e3c7c4cb7" /><Relationship Type="http://schemas.openxmlformats.org/officeDocument/2006/relationships/slide" Target="/ppt/slides/slide8.xml" Id="R3dbc54836d984b41" /><Relationship Type="http://schemas.openxmlformats.org/officeDocument/2006/relationships/slide" Target="/ppt/slides/slide9.xml" Id="Rbcc3a16b9b994397" /><Relationship Type="http://schemas.openxmlformats.org/officeDocument/2006/relationships/slide" Target="/ppt/slides/slide10.xml" Id="R20c6c954f172440c" /><Relationship Type="http://schemas.openxmlformats.org/officeDocument/2006/relationships/slide" Target="/ppt/slides/slide11.xml" Id="R86d0f67d7b314265" /><Relationship Type="http://schemas.openxmlformats.org/officeDocument/2006/relationships/slide" Target="/ppt/slides/slide12.xml" Id="R4f8a3660d2684fa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05b13a7084d438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02ee09401d481a" /><Relationship Type="http://schemas.openxmlformats.org/officeDocument/2006/relationships/notesMaster" Target="/ppt/notesMasters/notesMaster1.xml" Id="Rad1b7ba9777740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fcd275783814294" /><Relationship Type="http://schemas.openxmlformats.org/officeDocument/2006/relationships/notesMaster" Target="/ppt/notesMasters/notesMaster1.xml" Id="Ra4a5aac8b8e4493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890e4ef60954f9c" /><Relationship Type="http://schemas.openxmlformats.org/officeDocument/2006/relationships/notesMaster" Target="/ppt/notesMasters/notesMaster1.xml" Id="Rca9707792b31442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25ddb45a944e38" /><Relationship Type="http://schemas.openxmlformats.org/officeDocument/2006/relationships/notesMaster" Target="/ppt/notesMasters/notesMaster1.xml" Id="Rcd13004cb842465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0db427af68b40d5" /><Relationship Type="http://schemas.openxmlformats.org/officeDocument/2006/relationships/notesMaster" Target="/ppt/notesMasters/notesMaster1.xml" Id="R7df4791fb347482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43b799fc63c45b4" /><Relationship Type="http://schemas.openxmlformats.org/officeDocument/2006/relationships/notesMaster" Target="/ppt/notesMasters/notesMaster1.xml" Id="R0d21782bbd74430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a53260008cf47ef" /><Relationship Type="http://schemas.openxmlformats.org/officeDocument/2006/relationships/notesMaster" Target="/ppt/notesMasters/notesMaster1.xml" Id="R7204c0ed14ed4b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c43db007f0b405d" /><Relationship Type="http://schemas.openxmlformats.org/officeDocument/2006/relationships/notesMaster" Target="/ppt/notesMasters/notesMaster1.xml" Id="R10a66e1065384b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f1f13d0a1a143df" /><Relationship Type="http://schemas.openxmlformats.org/officeDocument/2006/relationships/notesMaster" Target="/ppt/notesMasters/notesMaster1.xml" Id="R1d7f0cc4f6e44ea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760d134b06004f64" /><Relationship Type="http://schemas.openxmlformats.org/officeDocument/2006/relationships/notesMaster" Target="/ppt/notesMasters/notesMaster1.xml" Id="R97e2b12fadb74f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cee34d3d5a8401a" /><Relationship Type="http://schemas.openxmlformats.org/officeDocument/2006/relationships/notesMaster" Target="/ppt/notesMasters/notesMaster1.xml" Id="R59e01f1e20c842b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81bdfa022ea4dd0" /><Relationship Type="http://schemas.openxmlformats.org/officeDocument/2006/relationships/notesMaster" Target="/ppt/notesMasters/notesMaster1.xml" Id="R7062524f7d6d40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2026-08-13.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(dashboard.png),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(assessment.png),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(organization-report.png),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Screenshot: locally verified TAP screen (question-bank.png), 2026-08-16.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User-provided template: 수지향_사업개편_PPT기획안_v13.pptx.</a:t>
            </a:r>
          </a:p>
          <a:p xmlns:a="http://schemas.openxmlformats.org/drawingml/2006/main">
            <a:r>
              <a:t>- TAP Streamlit application source and locally verified UI/content, 2026-08-16.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01b53722e4436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51c7f949214f89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DC10F393-A48F-F642-66FB-6D14653B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1">
            <a:extLst xmlns:a="http://schemas.openxmlformats.org/drawingml/2006/main">
              <a:ext uri="{FF2B5EF4-FFF2-40B4-BE49-F238E27FC236}">
                <a16:creationId xmlns:a16="http://schemas.microsoft.com/office/drawing/2014/main" id="{FDA6C402-FDB4-6270-C720-21D2D901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TUDIO_TOC">
    <p:bg>
      <p:bgPr>
        <a:solidFill xmlns:a="http://schemas.openxmlformats.org/drawingml/2006/main">
          <a:srgbClr val="DD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hape 0">
            <a:extLst xmlns:a="http://schemas.openxmlformats.org/drawingml/2006/main">
              <a:ext uri="{FF2B5EF4-FFF2-40B4-BE49-F238E27FC236}">
                <a16:creationId xmlns:a16="http://schemas.microsoft.com/office/drawing/2014/main" id="{30DB86DE-E6F1-C0EE-E966-8CE196B1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00353"/>
            <a:ext cx="1828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66ce07a26464def" /><Relationship Type="http://schemas.openxmlformats.org/officeDocument/2006/relationships/slideLayout" Target="/ppt/slideLayouts/slideLayout1.xml" Id="Rd4a81bd6afaa471e" /><Relationship Type="http://schemas.openxmlformats.org/officeDocument/2006/relationships/slideLayout" Target="/ppt/slideLayouts/slideLayout2.xml" Id="R499ca122ee014e02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4a81bd6afaa471e"/>
    <p:sldLayoutId xmlns:r="http://schemas.openxmlformats.org/officeDocument/2006/relationships" id="2147483650" r:id="R499ca122ee014e02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c2e077de294b08" /><Relationship Type="http://schemas.openxmlformats.org/officeDocument/2006/relationships/image" Target="/ppt/media/image.png" Id="R749dfbe7c695436a" /><Relationship Type="http://schemas.openxmlformats.org/officeDocument/2006/relationships/image" Target="/ppt/media/image2.png" Id="R30c766c67d464c8d" /><Relationship Type="http://schemas.openxmlformats.org/officeDocument/2006/relationships/notesSlide" Target="/ppt/notesSlides/notesSlide1.xml" Id="R15d0607e4a8b475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947779d4b24a85" /><Relationship Type="http://schemas.openxmlformats.org/officeDocument/2006/relationships/image" Target="/ppt/media/image2.png" Id="R6fcefc68130e4e13" /><Relationship Type="http://schemas.openxmlformats.org/officeDocument/2006/relationships/notesSlide" Target="/ppt/notesSlides/notesSlide2.xml" Id="Rc2e8990b50704f9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3e232f6b41467a" /><Relationship Type="http://schemas.openxmlformats.org/officeDocument/2006/relationships/image" Target="/ppt/media/image2.png" Id="R97202d65c3c547c6" /><Relationship Type="http://schemas.openxmlformats.org/officeDocument/2006/relationships/notesSlide" Target="/ppt/notesSlides/notesSlide3.xml" Id="R96737dbbaf3c49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c46d2ad9984f81" /><Relationship Type="http://schemas.openxmlformats.org/officeDocument/2006/relationships/image" Target="/ppt/media/image2.png" Id="R518646dc08bf4645" /><Relationship Type="http://schemas.openxmlformats.org/officeDocument/2006/relationships/notesSlide" Target="/ppt/notesSlides/notesSlide4.xml" Id="R24873996228749e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5d548e429a4123" /><Relationship Type="http://schemas.openxmlformats.org/officeDocument/2006/relationships/image" Target="/ppt/media/image2.png" Id="R0d99b3122f0642ee" /><Relationship Type="http://schemas.openxmlformats.org/officeDocument/2006/relationships/notesSlide" Target="/ppt/notesSlides/notesSlide5.xml" Id="Rc84c6f10b9114c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10b53b4ca4ee1" /><Relationship Type="http://schemas.openxmlformats.org/officeDocument/2006/relationships/image" Target="/ppt/media/image3.png" Id="Re91471a7824a44b4" /><Relationship Type="http://schemas.openxmlformats.org/officeDocument/2006/relationships/image" Target="/ppt/media/image2.png" Id="R5e86cd7bff714aa3" /><Relationship Type="http://schemas.openxmlformats.org/officeDocument/2006/relationships/notesSlide" Target="/ppt/notesSlides/notesSlide6.xml" Id="R109c03f6242940e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7eab1d68964e75" /><Relationship Type="http://schemas.openxmlformats.org/officeDocument/2006/relationships/image" Target="/ppt/media/image2.png" Id="R3baf8946ae38419d" /><Relationship Type="http://schemas.openxmlformats.org/officeDocument/2006/relationships/image" Target="/ppt/media/image.jpeg" Id="R144e251c962a4446" /><Relationship Type="http://schemas.openxmlformats.org/officeDocument/2006/relationships/notesSlide" Target="/ppt/notesSlides/notesSlide7.xml" Id="R6a1c832df51e409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83140089e0456c" /><Relationship Type="http://schemas.openxmlformats.org/officeDocument/2006/relationships/image" Target="/ppt/media/image2.png" Id="R442900fc6afc464f" /><Relationship Type="http://schemas.openxmlformats.org/officeDocument/2006/relationships/image" Target="/ppt/media/image2.jpeg" Id="R4d2056b855e14be3" /><Relationship Type="http://schemas.openxmlformats.org/officeDocument/2006/relationships/notesSlide" Target="/ppt/notesSlides/notesSlide8.xml" Id="R8b04fe85569d429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6f00c4af174a61" /><Relationship Type="http://schemas.openxmlformats.org/officeDocument/2006/relationships/image" Target="/ppt/media/image2.png" Id="Rb144f754570345a3" /><Relationship Type="http://schemas.openxmlformats.org/officeDocument/2006/relationships/image" Target="/ppt/media/image3.jpeg" Id="Rb1a2162992c64c30" /><Relationship Type="http://schemas.openxmlformats.org/officeDocument/2006/relationships/notesSlide" Target="/ppt/notesSlides/notesSlide9.xml" Id="R3d06b80ed4a1451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3e75236ff14814" /><Relationship Type="http://schemas.openxmlformats.org/officeDocument/2006/relationships/image" Target="/ppt/media/image2.png" Id="Rff0b04ea54444cdb" /><Relationship Type="http://schemas.openxmlformats.org/officeDocument/2006/relationships/image" Target="/ppt/media/image4.jpeg" Id="R162e0e55c36e4685" /><Relationship Type="http://schemas.openxmlformats.org/officeDocument/2006/relationships/notesSlide" Target="/ppt/notesSlides/notesSlide10.xml" Id="R42810de270b844d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5c0730dd60e4f9f" /><Relationship Type="http://schemas.openxmlformats.org/officeDocument/2006/relationships/image" Target="/ppt/media/image2.png" Id="Rd57c85cacda2443f" /><Relationship Type="http://schemas.openxmlformats.org/officeDocument/2006/relationships/notesSlide" Target="/ppt/notesSlides/notesSlide11.xml" Id="R1762bcc237ef432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d990b3ac324db0" /><Relationship Type="http://schemas.openxmlformats.org/officeDocument/2006/relationships/image" Target="/ppt/media/image3.png" Id="R9e598b83357d4753" /><Relationship Type="http://schemas.openxmlformats.org/officeDocument/2006/relationships/image" Target="/ppt/media/image2.png" Id="R69f79df3266f4516" /><Relationship Type="http://schemas.openxmlformats.org/officeDocument/2006/relationships/notesSlide" Target="/ppt/notesSlides/notesSlide12.xml" Id="R2c75b66484544a7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9dfbe7c695436a"/>
          <a:srcRect xmlns:a="http://schemas.openxmlformats.org/drawingml/2006/main" l="0" t="-400" r="0" b="-400"/>
          <a:stretch xmlns:a="http://schemas.openxmlformats.org/drawingml/2006/main"/>
        </p:blipFill>
        <p:spPr>
          <a:xfrm xmlns:a="http://schemas.openxmlformats.org/drawingml/2006/main">
            <a:off x="1154116" y="2514600"/>
            <a:ext cx="457200" cy="19202"/>
          </a:xfrm>
          <a:prstGeom xmlns:a="http://schemas.openxmlformats.org/drawingml/2006/main" prst="rect">
            <a:avLst/>
          </a:prstGeom>
        </p:spPr>
      </p:pic>
      <p:pic>
        <p:nvPicPr>
          <p:cNvPr id="2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766c67d464c8d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7588BFF-A375-4EE5-86EC-882455CA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TAP USER GUIDE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A6555D4-4FC0-43F5-89EA-710ADBB5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33195"/>
            <a:ext cx="571500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6C7476"/>
                </a:solidFill>
                <a:latin typeface="페이퍼로지 5 Medium"/>
                <a:ea typeface="페이퍼로지 5 Medium"/>
                <a:cs typeface="페이퍼로지 5 Medium"/>
              </a:rPr>
              <a:t>회원사 교육 전후 역량평가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F94598D-D2EA-447C-A288-E759C5A6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1485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"/>
              </a:spcAft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3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 사용설명서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54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교육 전후 변화를 다음 개선으로</a:t>
            </a: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1895F6A-EFDF-4122-8361-5A1B7C55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7239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교육담당자 · 참여자 · KMA 관리자  |  2026.08</a:t>
            </a:r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3249269-3EBF-411F-9214-578C112E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886054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이해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98378CE-77A5-42F4-9386-8900A1B4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132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7827250-D715-47E9-BF85-D371494E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588" y="7239305"/>
            <a:ext cx="109545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사용 순서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B004A06-9C22-4464-A98C-947C74A7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203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355592F-483C-412C-AFF7-1A7C1D0A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7239305"/>
            <a:ext cx="48646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000">
                <a:solidFill>
                  <a:srgbClr val="1E2324"/>
                </a:solidFill>
                <a:latin typeface="페이퍼로지 3 Light"/>
                <a:ea typeface="페이퍼로지 3 Light"/>
                <a:cs typeface="페이퍼로지 3 Light"/>
              </a:rPr>
              <a:t>버튼 안내</a:t>
            </a:r>
          </a:p>
        </p:txBody>
      </p:sp>
    </p:spTree>
    <p:extLst>
      <p:ext uri="{BB962C8B-B14F-4D97-AF65-F5344CB8AC3E}">
        <p14:creationId xmlns:p14="http://schemas.microsoft.com/office/powerpoint/2010/main" val="1197576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cefc68130e4e13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FA59CA-2888-E92C-D36A-7C087629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762061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TAP은 교육 전후의 변화를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같은 기준으로 확인합니다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F01E7FD-710D-70CA-AB54-FFD4CBA4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 전 출발점을 기록하고, 현업 적용 8~10주 후 같은 행동문항으로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다시 측정해 변화와 현업 적용환경을 확인합니다.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979613-820C-68B0-3020-76B2B004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F477ABB-A118-6E27-2F73-2B9EDE14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사전검사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B672A9E-C4D6-5620-194E-059E6E40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전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출발점 기록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0188F215-E8C2-D2C2-6890-A9D7E20D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02773F1-F230-E5B7-AB67-E3B93F9D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사후검사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2620C19-402F-1A79-B79C-487B4E6A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같은 문항으로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현업 행동 재측정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D33D5E3-3E55-FA73-07C8-351FBE38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C86F90E-30AA-F6C6-C349-5ACAB495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9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 행동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56088DD1-10B8-BAE8-4A3D-AB14DA41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짝지은 변화와 전이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조건 확인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96E0A1F2-D7C3-2D5B-5BB7-AD6A734A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02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CDD74CE-8565-9840-73F8-F32FDA42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4">
            <a:extLst xmlns:a="http://schemas.openxmlformats.org/drawingml/2006/main">
              <a:ext uri="{FF2B5EF4-FFF2-40B4-BE49-F238E27FC236}">
                <a16:creationId xmlns:a16="http://schemas.microsoft.com/office/drawing/2014/main" id="{2921C518-2F6B-707E-1DAC-2C05193F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D81AE81-1ADF-EC5B-0BB4-A65E6644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1638701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SERVICE SUMMARY</a:t>
            </a:r>
          </a:p>
        </p:txBody>
      </p:sp>
    </p:spTree>
    <p:extLst>
      <p:ext uri="{BB962C8B-B14F-4D97-AF65-F5344CB8AC3E}">
        <p14:creationId xmlns:p14="http://schemas.microsoft.com/office/powerpoint/2010/main" val="16823617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hape 0">
            <a:extLst xmlns:a="http://schemas.openxmlformats.org/drawingml/2006/main">
              <a:ext uri="{FF2B5EF4-FFF2-40B4-BE49-F238E27FC236}">
                <a16:creationId xmlns:a16="http://schemas.microsoft.com/office/drawing/2014/main" id="{EDC866E3-24F5-49DE-AD0B-5E6E8D8A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57C3B50-DC20-4F8A-B5CC-3156A334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5695" y="1714500"/>
            <a:ext cx="7239305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202d65c3c547c6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F889484-E45F-4FEE-BEAA-0F19B096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43759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ROLE &amp; ACCESS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800BFA6-B5DA-4B8B-8072-6FE99AD7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0010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역할마다 필요한 화면과</a:t>
            </a:r>
            <a:endParaRPr sz="4800">
              <a:solidFill>
                <a:srgbClr val="0A0E10"/>
              </a:solidFill>
              <a:latin typeface="페이퍼로지 2 ExtraLight"/>
              <a:ea typeface="페이퍼로지 2 ExtraLight"/>
              <a:cs typeface="페이퍼로지 2 ExtraLight"/>
            </a:endParaRP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기본 열람범위가 다릅니다</a:t>
            </a:r>
            <a:endParaRPr sz="4800">
              <a:solidFill>
                <a:srgbClr val="0A0E10"/>
              </a:solidFill>
              <a:latin typeface="페이퍼로지 6 SemiBold"/>
              <a:ea typeface="페이퍼로지 6 SemiBold"/>
              <a:cs typeface="페이퍼로지 6 SemiBold"/>
            </a:endParaR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9084758-1CD5-4C2D-8E2D-0F5EF636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역할 전환은 데모 화면 안내용이며 실제 운영 권한 인증을 대신하지 않습니다.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D5AB2B7-DC51-4B74-9025-5A22A787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8C38AD6-6B0F-4B1B-9621-8BFBA7DA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A1CE548-484D-4A33-9ED7-2E464BA0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 일정 · 조직 변화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FAF3B7E-D856-4CE0-979E-3C20F8F1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F020F00B-53B8-4678-BEC1-E0267DE4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42C3DDD-61D8-405A-BD62-70ABE0E5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사전·사후 · 내 변화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82429BE4-CDA5-4001-A698-E2180F1F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5E2A1D7-74E9-4087-BC3E-73178F26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C530BDB-D51B-4622-AEB9-DB0AAA7B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운영현황 · 문항검수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0FB7444-4885-4E76-8E01-B6ABBAE6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07BC6A3-AD8A-496B-A61D-5B304433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공통 원칙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D8A459E-A2D9-4E3E-94FE-C42BF67D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개인정보 최소 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71015A9-AF87-4399-A204-FADF0CD7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03</a:t>
            </a:r>
          </a:p>
        </p:txBody>
      </p:sp>
      <p:sp>
        <p:nvSpPr>
          <p:cNvPr id="30" name="Text 4">
            <a:extLst xmlns:a="http://schemas.openxmlformats.org/drawingml/2006/main">
              <a:ext uri="{FF2B5EF4-FFF2-40B4-BE49-F238E27FC236}">
                <a16:creationId xmlns:a16="http://schemas.microsoft.com/office/drawing/2014/main" id="{EB6CD4AC-0BA3-CCDE-E960-058897DF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7074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32" name="concept-flow-1">
            <a:extLst xmlns:a="http://schemas.openxmlformats.org/drawingml/2006/main">
              <a:ext uri="{FF2B5EF4-FFF2-40B4-BE49-F238E27FC236}">
                <a16:creationId xmlns:a16="http://schemas.microsoft.com/office/drawing/2014/main" id="{717CD388-9B7B-4143-8144-38D00D7A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concept-flow-2">
            <a:extLst xmlns:a="http://schemas.openxmlformats.org/drawingml/2006/main">
              <a:ext uri="{FF2B5EF4-FFF2-40B4-BE49-F238E27FC236}">
                <a16:creationId xmlns:a16="http://schemas.microsoft.com/office/drawing/2014/main" id="{EAD99F34-9C65-45AF-B900-84DB2C53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concept-badge">
            <a:extLst xmlns:a="http://schemas.openxmlformats.org/drawingml/2006/main">
              <a:ext uri="{FF2B5EF4-FFF2-40B4-BE49-F238E27FC236}">
                <a16:creationId xmlns:a16="http://schemas.microsoft.com/office/drawing/2014/main" id="{A2B430A5-542F-4F96-849E-393283C2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3262024"/>
            <a:ext cx="2667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7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역할별 화면 · 접근 분리</a:t>
            </a:r>
          </a:p>
        </p:txBody>
      </p:sp>
      <p:sp>
        <p:nvSpPr>
          <p:cNvPr id="35" name="concept-a">
            <a:extLst xmlns:a="http://schemas.openxmlformats.org/drawingml/2006/main">
              <a:ext uri="{FF2B5EF4-FFF2-40B4-BE49-F238E27FC236}">
                <a16:creationId xmlns:a16="http://schemas.microsoft.com/office/drawing/2014/main" id="{4913A229-4B0F-49E1-AD0D-040DBCD6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교육담당자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운영</a:t>
            </a:r>
          </a:p>
        </p:txBody>
      </p:sp>
      <p:sp>
        <p:nvSpPr>
          <p:cNvPr id="36" name="concept-b">
            <a:extLst xmlns:a="http://schemas.openxmlformats.org/drawingml/2006/main">
              <a:ext uri="{FF2B5EF4-FFF2-40B4-BE49-F238E27FC236}">
                <a16:creationId xmlns:a16="http://schemas.microsoft.com/office/drawing/2014/main" id="{0C0ADA75-9D8F-485A-AFFB-44A12F4E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참여자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본인 결과</a:t>
            </a:r>
          </a:p>
        </p:txBody>
      </p:sp>
      <p:sp>
        <p:nvSpPr>
          <p:cNvPr id="37" name="concept-ab">
            <a:extLst xmlns:a="http://schemas.openxmlformats.org/drawingml/2006/main">
              <a:ext uri="{FF2B5EF4-FFF2-40B4-BE49-F238E27FC236}">
                <a16:creationId xmlns:a16="http://schemas.microsoft.com/office/drawing/2014/main" id="{A6F7D5E1-03AC-4618-A7BC-7F6748D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관리자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도구 품질</a:t>
            </a:r>
          </a:p>
        </p:txBody>
      </p:sp>
      <p:sp>
        <p:nvSpPr>
          <p:cNvPr id="38" name="concept-result-a">
            <a:extLst xmlns:a="http://schemas.openxmlformats.org/drawingml/2006/main">
              <a:ext uri="{FF2B5EF4-FFF2-40B4-BE49-F238E27FC236}">
                <a16:creationId xmlns:a16="http://schemas.microsoft.com/office/drawing/2014/main" id="{D308B340-70F6-40D2-B87F-2B77ED54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N≥5 집계</a:t>
            </a:r>
          </a:p>
        </p:txBody>
      </p:sp>
      <p:sp>
        <p:nvSpPr>
          <p:cNvPr id="39" name="concept-result-b">
            <a:extLst xmlns:a="http://schemas.openxmlformats.org/drawingml/2006/main">
              <a:ext uri="{FF2B5EF4-FFF2-40B4-BE49-F238E27FC236}">
                <a16:creationId xmlns:a16="http://schemas.microsoft.com/office/drawing/2014/main" id="{2C67017C-0697-481B-A615-F01504C4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공유는 선택</a:t>
            </a:r>
          </a:p>
        </p:txBody>
      </p:sp>
      <p:sp>
        <p:nvSpPr>
          <p:cNvPr id="40" name="concept-result-ab">
            <a:extLst xmlns:a="http://schemas.openxmlformats.org/drawingml/2006/main">
              <a:ext uri="{FF2B5EF4-FFF2-40B4-BE49-F238E27FC236}">
                <a16:creationId xmlns:a16="http://schemas.microsoft.com/office/drawing/2014/main" id="{79A65F2B-A3FB-4CFC-84B5-E8FBBFF2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점수 기본 미열람</a:t>
            </a:r>
          </a:p>
        </p:txBody>
      </p:sp>
      <p:sp>
        <p:nvSpPr>
          <p:cNvPr id="41" name="concept-month-1">
            <a:extLst xmlns:a="http://schemas.openxmlformats.org/drawingml/2006/main">
              <a:ext uri="{FF2B5EF4-FFF2-40B4-BE49-F238E27FC236}">
                <a16:creationId xmlns:a16="http://schemas.microsoft.com/office/drawing/2014/main" id="{7F624207-AA90-48B2-9A90-37E6FF88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3574"/>
            <a:ext cx="3714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교육담당자 · 참여자</a:t>
            </a:r>
          </a:p>
        </p:txBody>
      </p:sp>
      <p:sp>
        <p:nvSpPr>
          <p:cNvPr id="42" name="concept-month-2">
            <a:extLst xmlns:a="http://schemas.openxmlformats.org/drawingml/2006/main">
              <a:ext uri="{FF2B5EF4-FFF2-40B4-BE49-F238E27FC236}">
                <a16:creationId xmlns:a16="http://schemas.microsoft.com/office/drawing/2014/main" id="{E967CC4D-5CCF-4290-8FF2-C83C7CD6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4233574"/>
            <a:ext cx="1619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1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KMA</a:t>
            </a:r>
          </a:p>
        </p:txBody>
      </p:sp>
    </p:spTree>
    <p:extLst>
      <p:ext uri="{BB962C8B-B14F-4D97-AF65-F5344CB8AC3E}">
        <p14:creationId xmlns:p14="http://schemas.microsoft.com/office/powerpoint/2010/main" val="11246306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hape 0">
            <a:extLst xmlns:a="http://schemas.openxmlformats.org/drawingml/2006/main">
              <a:ext uri="{FF2B5EF4-FFF2-40B4-BE49-F238E27FC236}">
                <a16:creationId xmlns:a16="http://schemas.microsoft.com/office/drawing/2014/main" id="{171F3167-D0F6-A154-3969-882D5381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6910152-35D2-44BA-B745-A951087A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8646dc08bf4645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01D4990-29A3-4468-AD6C-B50C06EA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66860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RESULT USE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0474DB0-9A5B-4CE3-AE6B-55D4443B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전후 변화와 전이 조건으로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다음 개선을 정합니다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3CA359B-CBBA-44AE-9F0B-F9279297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사후점수만으로 교육효과를 단정하지 않습니다.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적용기회 · 상사지원 · 도구 · 권한을 함께 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1EB2A4FA-C378-46BA-9B70-8E966295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71020C2-BC00-4FEB-868A-A7DDB966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96051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리포트 · 본인의 사전·사후 변화 확인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AD8DDF0-7039-4E27-8B11-2D413AA2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58154"/>
            <a:ext cx="8287207" cy="277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2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동일 문항의 전후 점수 · 관찰 변화 · 현업 적용환경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51D52D4-BF9F-4AEC-A9D4-540643CD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48195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DD8F7B3A-A440-4EC2-98B6-B68C90AE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8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리포트 · 짝지어진 집단 변화 확인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A2EB170-DEF1-4950-BC23-6D00056C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사전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F0B1C30-E9DC-4507-A357-EFB59F4E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출발점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774F5C4-63C0-4BB8-9997-93CEC477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사후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54549F4-E392-4989-B19C-6113A80F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관찰 변화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E03D512-C8BF-4877-ADFC-96AA1806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맥락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50766F9-1E33-49C8-A166-FE4CD03B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적용환경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D20431E-E24E-4484-AEB4-E8CEB73E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공개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66938FE-E18C-48A1-9545-991822C1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N≥5 집계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304613-E79C-40DC-BC1B-D2BDFA92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762695"/>
            <a:ext cx="82872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비교집단이 없으면 교육의 인과효과가 아니라 ‘교육 전후 관찰된 변화’로 표현합니다.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F9198117-1B7C-4488-A0A9-1F9A2681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04</a:t>
            </a:r>
          </a:p>
        </p:txBody>
      </p:sp>
      <p:sp>
        <p:nvSpPr>
          <p:cNvPr id="39" name="Text 4">
            <a:extLst xmlns:a="http://schemas.openxmlformats.org/drawingml/2006/main">
              <a:ext uri="{FF2B5EF4-FFF2-40B4-BE49-F238E27FC236}">
                <a16:creationId xmlns:a16="http://schemas.microsoft.com/office/drawing/2014/main" id="{622A1526-965E-A627-17A6-4B5087A2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7579" y="900326"/>
            <a:ext cx="177393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41" name="product-annual-line">
            <a:extLst xmlns:a="http://schemas.openxmlformats.org/drawingml/2006/main">
              <a:ext uri="{FF2B5EF4-FFF2-40B4-BE49-F238E27FC236}">
                <a16:creationId xmlns:a16="http://schemas.microsoft.com/office/drawing/2014/main" id="{B82F41F6-AE80-4DA9-9F68-9385B2E2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767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product-theme-line">
            <a:extLst xmlns:a="http://schemas.openxmlformats.org/drawingml/2006/main">
              <a:ext uri="{FF2B5EF4-FFF2-40B4-BE49-F238E27FC236}">
                <a16:creationId xmlns:a16="http://schemas.microsoft.com/office/drawing/2014/main" id="{B13F3F1A-3F16-4DF9-BB84-AE79B261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1912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product-badge">
            <a:extLst xmlns:a="http://schemas.openxmlformats.org/drawingml/2006/main">
              <a:ext uri="{FF2B5EF4-FFF2-40B4-BE49-F238E27FC236}">
                <a16:creationId xmlns:a16="http://schemas.microsoft.com/office/drawing/2014/main" id="{3760D9C3-F3F9-490A-BE76-9018B51F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571750"/>
            <a:ext cx="266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6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교육 전후 해석의 흐름</a:t>
            </a:r>
          </a:p>
        </p:txBody>
      </p:sp>
      <p:sp>
        <p:nvSpPr>
          <p:cNvPr id="44" name="product-week-1회차">
            <a:extLst xmlns:a="http://schemas.openxmlformats.org/drawingml/2006/main">
              <a:ext uri="{FF2B5EF4-FFF2-40B4-BE49-F238E27FC236}">
                <a16:creationId xmlns:a16="http://schemas.microsoft.com/office/drawing/2014/main" id="{913EB834-8A3F-46C3-A5AF-4239B34A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개인</a:t>
            </a:r>
          </a:p>
        </p:txBody>
      </p:sp>
      <p:sp>
        <p:nvSpPr>
          <p:cNvPr id="45" name="product-week-2회차">
            <a:extLst xmlns:a="http://schemas.openxmlformats.org/drawingml/2006/main">
              <a:ext uri="{FF2B5EF4-FFF2-40B4-BE49-F238E27FC236}">
                <a16:creationId xmlns:a16="http://schemas.microsoft.com/office/drawing/2014/main" id="{22583FA1-351B-4078-810F-BA5ECE2A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조직</a:t>
            </a:r>
          </a:p>
        </p:txBody>
      </p:sp>
      <p:sp>
        <p:nvSpPr>
          <p:cNvPr id="46" name="product-week-3회차">
            <a:extLst xmlns:a="http://schemas.openxmlformats.org/drawingml/2006/main">
              <a:ext uri="{FF2B5EF4-FFF2-40B4-BE49-F238E27FC236}">
                <a16:creationId xmlns:a16="http://schemas.microsoft.com/office/drawing/2014/main" id="{1DA250B1-DC53-40ED-AD75-C55B993F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결정</a:t>
            </a:r>
          </a:p>
        </p:txBody>
      </p:sp>
      <p:sp>
        <p:nvSpPr>
          <p:cNvPr id="47" name="product-annual-label">
            <a:extLst xmlns:a="http://schemas.openxmlformats.org/drawingml/2006/main">
              <a:ext uri="{FF2B5EF4-FFF2-40B4-BE49-F238E27FC236}">
                <a16:creationId xmlns:a16="http://schemas.microsoft.com/office/drawing/2014/main" id="{D2F84F77-15D2-4019-985F-C148DA6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0481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3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리포트</a:t>
            </a:r>
          </a:p>
        </p:txBody>
      </p:sp>
      <p:sp>
        <p:nvSpPr>
          <p:cNvPr id="48" name="product-theme-label">
            <a:extLst xmlns:a="http://schemas.openxmlformats.org/drawingml/2006/main">
              <a:ext uri="{FF2B5EF4-FFF2-40B4-BE49-F238E27FC236}">
                <a16:creationId xmlns:a16="http://schemas.microsoft.com/office/drawing/2014/main" id="{73C35CB7-594D-4761-9194-430E0566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57626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다음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행동</a:t>
            </a:r>
          </a:p>
        </p:txBody>
      </p:sp>
      <p:sp>
        <p:nvSpPr>
          <p:cNvPr id="49" name="annual-A">
            <a:extLst xmlns:a="http://schemas.openxmlformats.org/drawingml/2006/main">
              <a:ext uri="{FF2B5EF4-FFF2-40B4-BE49-F238E27FC236}">
                <a16:creationId xmlns:a16="http://schemas.microsoft.com/office/drawing/2014/main" id="{3E0747A5-2467-4FCF-A3AE-B07303EE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사전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출발점</a:t>
            </a:r>
          </a:p>
        </p:txBody>
      </p:sp>
      <p:sp>
        <p:nvSpPr>
          <p:cNvPr id="50" name="theme-A">
            <a:extLst xmlns:a="http://schemas.openxmlformats.org/drawingml/2006/main">
              <a:ext uri="{FF2B5EF4-FFF2-40B4-BE49-F238E27FC236}">
                <a16:creationId xmlns:a16="http://schemas.microsoft.com/office/drawing/2014/main" id="{CA249E1C-D3E3-49DE-9559-039A8241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전이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조건</a:t>
            </a:r>
          </a:p>
        </p:txBody>
      </p:sp>
      <p:sp>
        <p:nvSpPr>
          <p:cNvPr id="51" name="annual-B">
            <a:extLst xmlns:a="http://schemas.openxmlformats.org/drawingml/2006/main">
              <a:ext uri="{FF2B5EF4-FFF2-40B4-BE49-F238E27FC236}">
                <a16:creationId xmlns:a16="http://schemas.microsoft.com/office/drawing/2014/main" id="{524F543A-20B4-4A6D-BC7D-F7835365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사후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재측정</a:t>
            </a:r>
          </a:p>
        </p:txBody>
      </p:sp>
      <p:sp>
        <p:nvSpPr>
          <p:cNvPr id="52" name="theme-B">
            <a:extLst xmlns:a="http://schemas.openxmlformats.org/drawingml/2006/main">
              <a:ext uri="{FF2B5EF4-FFF2-40B4-BE49-F238E27FC236}">
                <a16:creationId xmlns:a16="http://schemas.microsoft.com/office/drawing/2014/main" id="{ED8BD520-A6CF-436B-AB1A-A4465F5F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교육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3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보완</a:t>
            </a:r>
          </a:p>
        </p:txBody>
      </p:sp>
      <p:sp>
        <p:nvSpPr>
          <p:cNvPr id="53" name="annual-A+B">
            <a:extLst xmlns:a="http://schemas.openxmlformats.org/drawingml/2006/main">
              <a:ext uri="{FF2B5EF4-FFF2-40B4-BE49-F238E27FC236}">
                <a16:creationId xmlns:a16="http://schemas.microsoft.com/office/drawing/2014/main" id="{0FD316B6-4539-49B5-87E1-DDF9631D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짝지은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FFFFFF"/>
                </a:solidFill>
                <a:latin typeface="페이퍼로지 6 SemiBold"/>
                <a:ea typeface="페이퍼로지 6 SemiBold"/>
                <a:cs typeface="페이퍼로지 6 SemiBold"/>
              </a:rPr>
              <a:t>변화</a:t>
            </a:r>
          </a:p>
        </p:txBody>
      </p:sp>
      <p:sp>
        <p:nvSpPr>
          <p:cNvPr id="54" name="theme-A+B">
            <a:extLst xmlns:a="http://schemas.openxmlformats.org/drawingml/2006/main">
              <a:ext uri="{FF2B5EF4-FFF2-40B4-BE49-F238E27FC236}">
                <a16:creationId xmlns:a16="http://schemas.microsoft.com/office/drawing/2014/main" id="{67D05F8C-4624-454C-97BA-E6F20C96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환경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defRPr>
            </a:pPr>
            <a:r>
              <a:rPr sz="1100">
                <a:solidFill>
                  <a:srgbClr val="00B5AC"/>
                </a:solidFill>
                <a:latin typeface="페이퍼로지 6 SemiBold"/>
                <a:ea typeface="페이퍼로지 6 SemiBold"/>
                <a:cs typeface="페이퍼로지 6 SemiBold"/>
              </a:rPr>
              <a:t>개선</a:t>
            </a:r>
          </a:p>
        </p:txBody>
      </p:sp>
      <p:sp>
        <p:nvSpPr>
          <p:cNvPr id="55" name="product-benefit">
            <a:extLst xmlns:a="http://schemas.openxmlformats.org/drawingml/2006/main">
              <a:ext uri="{FF2B5EF4-FFF2-40B4-BE49-F238E27FC236}">
                <a16:creationId xmlns:a16="http://schemas.microsoft.com/office/drawing/2014/main" id="{0C6965AD-0789-46DC-B44E-F64BBF73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7334250"/>
            <a:ext cx="4381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200">
                <a:solidFill>
                  <a:srgbClr val="1E2324"/>
                </a:solidFill>
                <a:latin typeface="페이퍼로지 5 Medium"/>
                <a:ea typeface="페이퍼로지 5 Medium"/>
                <a:cs typeface="페이퍼로지 5 Medium"/>
              </a:rPr>
              <a:t>개인 순위가 아니라 같은 사람의 전후 변화를 확인</a:t>
            </a:r>
          </a:p>
        </p:txBody>
      </p:sp>
    </p:spTree>
    <p:extLst>
      <p:ext uri="{BB962C8B-B14F-4D97-AF65-F5344CB8AC3E}">
        <p14:creationId xmlns:p14="http://schemas.microsoft.com/office/powerpoint/2010/main" val="11097139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99b3122f0642ee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개인순위 · 인사평가 ·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소수집단 공개는 하지 않습니다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교육개발용 자기보고 전후 평가입니다. 아래 여섯 가지 경계를 지켜 사용합니다.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개인순위 없음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백분위 · 규준 아님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인사평가 금지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채용 · 승진 · 보상 금지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개인결과 공유는 선택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본인 동의 필요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N&lt;5 비공개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공개 최소기준일 뿐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공개 데모 실데이터 금지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세션에만 임시 저장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인과효과 아님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비교집단 없으면 관찰 변화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05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SAFE USE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E36D6B-AAE7-4745-BBE8-7F3E095C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805" y="1524305"/>
            <a:ext cx="5905195" cy="742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1471a7824a44b4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86cd7bff714aa3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사전 완료 - 기준파일 저장 -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사후 복원·비교 순서입니다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사전 완료 직후 기준파일 JSON을 저장하고, 8~10주 뒤 불러와 사후검사를 시작합니다.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교육·평가 설정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교육일 · 전후 기간 · 역량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사전검사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동일 ID · 동일 문항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기준파일 저장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JSON 내려받기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8~10주 후 복원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JSON 업로드 · 확인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사후검사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같은 문항 · 최근 8주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전후 비교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짝지은 변화 · 전이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06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234134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HOW IT WORKS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PROCESS</a:t>
            </a:r>
          </a:p>
        </p:txBody>
      </p:sp>
      <p:sp>
        <p:nvSpPr>
          <p:cNvPr id="53" name="journey-orbit">
            <a:extLst xmlns:a="http://schemas.openxmlformats.org/drawingml/2006/main">
              <a:ext uri="{FF2B5EF4-FFF2-40B4-BE49-F238E27FC236}">
                <a16:creationId xmlns:a16="http://schemas.microsoft.com/office/drawing/2014/main" id="{BE1C8383-40D3-45B9-83F5-153EABFD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57500"/>
            <a:ext cx="5048250" cy="514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7D9DA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journey-a-card">
            <a:extLst xmlns:a="http://schemas.openxmlformats.org/drawingml/2006/main">
              <a:ext uri="{FF2B5EF4-FFF2-40B4-BE49-F238E27FC236}">
                <a16:creationId xmlns:a16="http://schemas.microsoft.com/office/drawing/2014/main" id="{80A3C995-7464-4B56-940C-C5C7327C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8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1. 설정·사전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ID 입력·응답</a:t>
            </a:r>
          </a:p>
        </p:txBody>
      </p:sp>
      <p:sp>
        <p:nvSpPr>
          <p:cNvPr id="55" name="journey-b-card">
            <a:extLst xmlns:a="http://schemas.openxmlformats.org/drawingml/2006/main">
              <a:ext uri="{FF2B5EF4-FFF2-40B4-BE49-F238E27FC236}">
                <a16:creationId xmlns:a16="http://schemas.microsoft.com/office/drawing/2014/main" id="{B01C52AA-9481-4E17-8479-B9E602CF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2. 기준파일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JSON 저장</a:t>
            </a:r>
          </a:p>
        </p:txBody>
      </p:sp>
      <p:sp>
        <p:nvSpPr>
          <p:cNvPr id="56" name="journey-hub">
            <a:extLst xmlns:a="http://schemas.openxmlformats.org/drawingml/2006/main">
              <a:ext uri="{FF2B5EF4-FFF2-40B4-BE49-F238E27FC236}">
                <a16:creationId xmlns:a16="http://schemas.microsoft.com/office/drawing/2014/main" id="{5DD05311-937C-4606-8996-474A450C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4667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TAP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전후 비교</a:t>
            </a:r>
          </a:p>
        </p:txBody>
      </p:sp>
      <p:sp>
        <p:nvSpPr>
          <p:cNvPr id="57" name="journey-ab-card">
            <a:extLst xmlns:a="http://schemas.openxmlformats.org/drawingml/2006/main">
              <a:ext uri="{FF2B5EF4-FFF2-40B4-BE49-F238E27FC236}">
                <a16:creationId xmlns:a16="http://schemas.microsoft.com/office/drawing/2014/main" id="{6BB557C9-D1B7-4AE7-9DB1-2E871989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6858000"/>
            <a:ext cx="1809750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3–4. 8~10주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5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복원·사후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af8946ae38419d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EDUCATION MANAGER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관리자 대시보드는 현재 세션의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실제 상태만 보여줍니다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사전검사는 프로젝트를 만든 동일 브라우저에서만 시작합니다. 홈은 0/1 프로젝트·참여자와 전후 상태를 표시하며 서버 DB·타 브라우저는 합산하지 않습니다.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대시보드 확인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프로젝트 · 참여자 0/1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사전·사후 응답 · 완료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짝지은 완료 상태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프로젝트 설정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교육평가 프로젝트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교육일 · 전후 기간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역량 선택 · 저장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07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4e251c962a4446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2900fc6afc464f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PARTICIPANT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교육 참여자 ID를 입력하고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실제 검사를 진행합니다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ID가 비어 있어도 문항은 보이지만 저장은 차단됩니다. 사전 완료 뒤 기준파일 JSON을 저장하고, 사후 시작 전에 업로드해 복원합니다.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검사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 참여자 ID 입력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응답 선택 → 다음 문항 →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사전 완료 → 기준파일 저장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사후 복원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동일 ID로 접속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기준파일 JSON 업로드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복원 확인 → 사후검사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08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2056b855e14be3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44f754570345a3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ORGANIZATION REPORT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개인 결과 CSV를 취합해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조직 전후 리포트를 만듭니다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공유 체크만으로 결과는 자동 전송되지 않습니다. 조직 집계는 개인 결과 CSV를 안전하게 별도 전달·취합해 업로드합니다. 동일 ID를 짝지으며 역량별 N≥5만 공개하고, ‘예시 리포트 보기’는 샘플입니다.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준비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개인 결과 CSV 취합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조직결과 CSV로 병합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조직 리포트에 업로드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해석 기준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동일 ID · 역량 · 버전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역량별 짝지은 N≥5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예시 · 실데이터 구분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09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a2162992c64c30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0b04ea54444cdb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KMA ADMIN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실제 세션과 KMA 운영 목업을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구분해 확인합니다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교육담당자 홈은 현재 브라우저 실데이터입니다. KMA ‘회원사 운영 화면’의 회원사·프로젝트 수치는 목업이며 문항 검수와 별개입니다.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화면 구분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교육담당자 홈 = 실세션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KMA 운영 화면 = 목업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타 브라우저 미합산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22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검수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필터 결과 CSV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0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1E2324"/>
                </a:solidFill>
                <a:latin typeface="페이퍼로지 4 Regular"/>
                <a:ea typeface="페이퍼로지 4 Regular"/>
                <a:cs typeface="페이퍼로지 4 Regular"/>
              </a:rPr>
              <a:t>파일럿 후보 CSV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10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2e0e55c36e4685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7c85cacda2443f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기타 버튼은 최신 명칭으로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확인하면 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자주 찾는 기능만 모았습니다. 상세 순서는 앞선 역할별 화면을 따르세요.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시작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처음 사용 안내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사용설명서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이동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교육평가 프로젝트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사전·사후 검사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응답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다음 문항 →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이전 문항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개인 결과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내 변화 리포트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결과 CSV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 결과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예시 리포트 보기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조직결과 CSV 업로드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9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6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KMA 검수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회원사 운영 화면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전체 문항은행 검수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11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BUTTON REFERENCE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32209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598b83357d4753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5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f79df3266f4516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rPr>
              <a:t>기준파일·N&lt;5·세션 초기화를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2 ExtraLight"/>
                <a:ea typeface="페이퍼로지 2 ExtraLight"/>
                <a:cs typeface="페이퍼로지 2 ExtraLight"/>
              </a:defRPr>
            </a:pPr>
            <a:r>
              <a:rPr sz="4800">
                <a:solidFill>
                  <a:srgbClr val="0A0E10"/>
                </a:solidFill>
                <a:latin typeface="페이퍼로지 6 SemiBold"/>
                <a:ea typeface="페이퍼로지 6 SemiBold"/>
                <a:cs typeface="페이퍼로지 6 SemiBold"/>
              </a:rPr>
              <a:t>먼저 확인하세요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defRPr>
            </a:pPr>
            <a:r>
              <a:rPr sz="1600">
                <a:solidFill>
                  <a:srgbClr val="6C7476"/>
                </a:solidFill>
                <a:latin typeface="페이퍼로지 3 Light"/>
                <a:ea typeface="페이퍼로지 3 Light"/>
                <a:cs typeface="페이퍼로지 3 Light"/>
              </a:rPr>
              <a:t>브라우저 세션은 서버 DB가 아닙니다. 기준파일과 결과 CSV를 내려받아 보관하고, 필요하면 사이드바의 사용설명서 PDF를 확인하세요.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FFFFFF"/>
                </a:solidFill>
                <a:latin typeface="페이퍼로지 5 Medium"/>
                <a:ea typeface="페이퍼로지 5 Medium"/>
                <a:cs typeface="페이퍼로지 5 Medium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800">
                <a:solidFill>
                  <a:srgbClr val="00B5AC"/>
                </a:solidFill>
                <a:latin typeface="페이퍼로지 5 Medium"/>
                <a:ea typeface="페이퍼로지 5 Medium"/>
                <a:cs typeface="페이퍼로지 5 Medium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기준파일 없음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사전 완료 후 JSON 저장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사후 복원 실패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동일 ID · JSON 확인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N&lt;5 비공개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표본 보호 정상 동작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세션 초기화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프로젝트 다시 설정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조직결과 없음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CSV 업로드 확인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defRPr>
            </a:pPr>
            <a:r>
              <a:rPr sz="1500">
                <a:solidFill>
                  <a:srgbClr val="0A0E10"/>
                </a:solidFill>
                <a:latin typeface="페이퍼로지 5 Medium"/>
                <a:ea typeface="페이퍼로지 5 Medium"/>
                <a:cs typeface="페이퍼로지 5 Medium"/>
              </a:rPr>
              <a:t>다시 시작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05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실제 검사 메뉴 확인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100">
                <a:solidFill>
                  <a:srgbClr val="98A4A6"/>
                </a:solidFill>
                <a:latin typeface="페이퍼로지 4 Regular"/>
                <a:ea typeface="페이퍼로지 4 Regular"/>
                <a:cs typeface="페이퍼로지 4 Regular"/>
              </a:rPr>
              <a:t>12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0326"/>
            <a:ext cx="196509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6C7476"/>
                </a:solidFill>
                <a:latin typeface="페이퍼로지 4 Regular"/>
                <a:ea typeface="페이퍼로지 4 Regular"/>
                <a:cs typeface="페이퍼로지 4 Regular"/>
              </a:rPr>
              <a:t>QUICK START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defRPr>
            </a:pPr>
            <a:r>
              <a:rPr sz="1300">
                <a:solidFill>
                  <a:srgbClr val="00B5AC"/>
                </a:solidFill>
                <a:latin typeface="페이퍼로지 4 Regular"/>
                <a:ea typeface="페이퍼로지 4 Regular"/>
                <a:cs typeface="페이퍼로지 4 Regular"/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2026-08-16T15:41:58.1740000Z</dcterms:created>
  <dcterms:modified xsi:type="dcterms:W3CDTF">2026-08-16T15:41:58.1740000Z</dcterms:modified>
</coreProperties>
</file>
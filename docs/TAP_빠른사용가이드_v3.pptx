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4426f2ca194b5d" /><Relationship Type="http://schemas.openxmlformats.org/officeDocument/2006/relationships/extended-properties" Target="/docProps/app.xml" Id="R2a4c3cc154324bc0" /><Relationship Type="http://schemas.openxmlformats.org/officeDocument/2006/relationships/officeDocument" Target="/ppt/presentation.xml" Id="Reb4d474b1b6543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03d42e6acb4a13"/>
  </p:sldMasterIdLst>
  <p:notesMasterIdLst>
    <p:notesMasterId xmlns:r="http://schemas.openxmlformats.org/officeDocument/2006/relationships" r:id="R67140de23a874947"/>
  </p:notesMasterIdLst>
  <p:sldIdLst>
    <p:sldId xmlns:r="http://schemas.openxmlformats.org/officeDocument/2006/relationships" id="256" r:id="R223fcd8e2e7e4916"/>
    <p:sldId xmlns:r="http://schemas.openxmlformats.org/officeDocument/2006/relationships" id="257" r:id="R48f81ee1f284464f"/>
    <p:sldId xmlns:r="http://schemas.openxmlformats.org/officeDocument/2006/relationships" id="258" r:id="Rf0bd8f261546480a"/>
    <p:sldId xmlns:r="http://schemas.openxmlformats.org/officeDocument/2006/relationships" id="259" r:id="Raf96e82311724744"/>
    <p:sldId xmlns:r="http://schemas.openxmlformats.org/officeDocument/2006/relationships" id="260" r:id="Ra8740d4f4b7346aa"/>
    <p:sldId xmlns:r="http://schemas.openxmlformats.org/officeDocument/2006/relationships" id="261" r:id="Rb27d648cfc6544fc"/>
    <p:sldId xmlns:r="http://schemas.openxmlformats.org/officeDocument/2006/relationships" id="262" r:id="Re72307610e184dda"/>
    <p:sldId xmlns:r="http://schemas.openxmlformats.org/officeDocument/2006/relationships" id="263" r:id="Rfe78941619ed45cd"/>
    <p:sldId xmlns:r="http://schemas.openxmlformats.org/officeDocument/2006/relationships" id="264" r:id="R13a660a708db4756"/>
    <p:sldId xmlns:r="http://schemas.openxmlformats.org/officeDocument/2006/relationships" id="265" r:id="R7b5f7489dc074c88"/>
    <p:sldId xmlns:r="http://schemas.openxmlformats.org/officeDocument/2006/relationships" id="266" r:id="Rb87f14c776334f6d"/>
    <p:sldId xmlns:r="http://schemas.openxmlformats.org/officeDocument/2006/relationships" id="267" r:id="Rdf683cfa533944d5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ef6d5bbbd24ad2" /><Relationship Type="http://schemas.openxmlformats.org/officeDocument/2006/relationships/slideMaster" Target="/ppt/slideMasters/slideMaster1.xml" Id="R4403d42e6acb4a13" /><Relationship Type="http://schemas.openxmlformats.org/officeDocument/2006/relationships/notesMaster" Target="/ppt/notesMasters/notesMaster1.xml" Id="R67140de23a874947" /><Relationship Type="http://schemas.openxmlformats.org/officeDocument/2006/relationships/presProps" Target="/ppt/presProps.xml" Id="R9a14915abfa140d1" /><Relationship Type="http://schemas.openxmlformats.org/officeDocument/2006/relationships/viewProps" Target="/ppt/viewProps.xml" Id="R366a2590f3724649" /><Relationship Type="http://schemas.openxmlformats.org/officeDocument/2006/relationships/tableStyles" Target="/ppt/tableStyles.xml" Id="Rbc333404bdb74b49" /><Relationship Type="http://schemas.openxmlformats.org/officeDocument/2006/relationships/slide" Target="/ppt/slides/slide1.xml" Id="R223fcd8e2e7e4916" /><Relationship Type="http://schemas.openxmlformats.org/officeDocument/2006/relationships/slide" Target="/ppt/slides/slide2.xml" Id="R48f81ee1f284464f" /><Relationship Type="http://schemas.openxmlformats.org/officeDocument/2006/relationships/slide" Target="/ppt/slides/slide3.xml" Id="Rf0bd8f261546480a" /><Relationship Type="http://schemas.openxmlformats.org/officeDocument/2006/relationships/slide" Target="/ppt/slides/slide4.xml" Id="Raf96e82311724744" /><Relationship Type="http://schemas.openxmlformats.org/officeDocument/2006/relationships/slide" Target="/ppt/slides/slide5.xml" Id="Ra8740d4f4b7346aa" /><Relationship Type="http://schemas.openxmlformats.org/officeDocument/2006/relationships/slide" Target="/ppt/slides/slide6.xml" Id="Rb27d648cfc6544fc" /><Relationship Type="http://schemas.openxmlformats.org/officeDocument/2006/relationships/slide" Target="/ppt/slides/slide7.xml" Id="Re72307610e184dda" /><Relationship Type="http://schemas.openxmlformats.org/officeDocument/2006/relationships/slide" Target="/ppt/slides/slide8.xml" Id="Rfe78941619ed45cd" /><Relationship Type="http://schemas.openxmlformats.org/officeDocument/2006/relationships/slide" Target="/ppt/slides/slide9.xml" Id="R13a660a708db4756" /><Relationship Type="http://schemas.openxmlformats.org/officeDocument/2006/relationships/slide" Target="/ppt/slides/slide10.xml" Id="R7b5f7489dc074c88" /><Relationship Type="http://schemas.openxmlformats.org/officeDocument/2006/relationships/slide" Target="/ppt/slides/slide11.xml" Id="Rb87f14c776334f6d" /><Relationship Type="http://schemas.openxmlformats.org/officeDocument/2006/relationships/slide" Target="/ppt/slides/slide12.xml" Id="Rdf683cfa533944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91c765e96a42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e57b7c09ff46f1" /><Relationship Type="http://schemas.openxmlformats.org/officeDocument/2006/relationships/notesMaster" Target="/ppt/notesMasters/notesMaster1.xml" Id="Rea4dba3cedb143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5d000fc645486a" /><Relationship Type="http://schemas.openxmlformats.org/officeDocument/2006/relationships/notesMaster" Target="/ppt/notesMasters/notesMaster1.xml" Id="R6818950e7c4049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f98d742eb648eb" /><Relationship Type="http://schemas.openxmlformats.org/officeDocument/2006/relationships/notesMaster" Target="/ppt/notesMasters/notesMaster1.xml" Id="Rf016472784644a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6ab18c319c45a8" /><Relationship Type="http://schemas.openxmlformats.org/officeDocument/2006/relationships/notesMaster" Target="/ppt/notesMasters/notesMaster1.xml" Id="R641afd4b38304a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6d05e2688f4e20" /><Relationship Type="http://schemas.openxmlformats.org/officeDocument/2006/relationships/notesMaster" Target="/ppt/notesMasters/notesMaster1.xml" Id="Rb8973eb4a77043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43b3614cb24402" /><Relationship Type="http://schemas.openxmlformats.org/officeDocument/2006/relationships/notesMaster" Target="/ppt/notesMasters/notesMaster1.xml" Id="R30b8e9f8713c4e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45a63ef7244f75" /><Relationship Type="http://schemas.openxmlformats.org/officeDocument/2006/relationships/notesMaster" Target="/ppt/notesMasters/notesMaster1.xml" Id="R7abdfc52445547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ed1de963f14a00" /><Relationship Type="http://schemas.openxmlformats.org/officeDocument/2006/relationships/notesMaster" Target="/ppt/notesMasters/notesMaster1.xml" Id="R5e84419d720c48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3959b3842e4e86" /><Relationship Type="http://schemas.openxmlformats.org/officeDocument/2006/relationships/notesMaster" Target="/ppt/notesMasters/notesMaster1.xml" Id="R05f1ca6bb78442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0b728d4ff4d4df5" /><Relationship Type="http://schemas.openxmlformats.org/officeDocument/2006/relationships/notesMaster" Target="/ppt/notesMasters/notesMaster1.xml" Id="R72bfaf8bf0a94f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c94390cdb741ad" /><Relationship Type="http://schemas.openxmlformats.org/officeDocument/2006/relationships/notesMaster" Target="/ppt/notesMasters/notesMaster1.xml" Id="Ra4015000342746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d854b449694639" /><Relationship Type="http://schemas.openxmlformats.org/officeDocument/2006/relationships/notesMaster" Target="/ppt/notesMasters/notesMaster1.xml" Id="R0c17b9b40fc64f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(dashboard.png),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(assessment.png),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(organization-report.png),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(question-bank.png),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GitHub synthetic demo persistence flow, inspected 2026-08-17.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2e000126c6475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c7fa0d5c9a43b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DC10F393-A48F-F642-66FB-6D14653B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FDA6C402-FDB4-6270-C720-21D2D90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TUDIO_TOC">
    <p:bg>
      <p:bgPr>
        <a:solidFill xmlns:a="http://schemas.openxmlformats.org/drawingml/2006/main">
          <a:srgbClr val="DD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hape 0">
            <a:extLst xmlns:a="http://schemas.openxmlformats.org/drawingml/2006/main">
              <a:ext uri="{FF2B5EF4-FFF2-40B4-BE49-F238E27FC236}">
                <a16:creationId xmlns:a16="http://schemas.microsoft.com/office/drawing/2014/main" id="{30DB86DE-E6F1-C0EE-E966-8CE196B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353"/>
            <a:ext cx="1828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5e4d90cb5a4cc5" /><Relationship Type="http://schemas.openxmlformats.org/officeDocument/2006/relationships/slideLayout" Target="/ppt/slideLayouts/slideLayout1.xml" Id="R47bff17f3bb4451a" /><Relationship Type="http://schemas.openxmlformats.org/officeDocument/2006/relationships/slideLayout" Target="/ppt/slideLayouts/slideLayout2.xml" Id="R537847a9eef541a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bff17f3bb4451a"/>
    <p:sldLayoutId xmlns:r="http://schemas.openxmlformats.org/officeDocument/2006/relationships" id="2147483650" r:id="R537847a9eef541a5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8bbcd72314d74" /><Relationship Type="http://schemas.openxmlformats.org/officeDocument/2006/relationships/image" Target="/ppt/media/image.png" Id="R35b874634ca840cd" /><Relationship Type="http://schemas.openxmlformats.org/officeDocument/2006/relationships/image" Target="/ppt/media/image2.png" Id="Ra2012af9bfcf4781" /><Relationship Type="http://schemas.openxmlformats.org/officeDocument/2006/relationships/notesSlide" Target="/ppt/notesSlides/notesSlide1.xml" Id="R8c9e2be2363a40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36e7f2fbf4182" /><Relationship Type="http://schemas.openxmlformats.org/officeDocument/2006/relationships/image" Target="/ppt/media/image2.png" Id="Rb349ef7116df4831" /><Relationship Type="http://schemas.openxmlformats.org/officeDocument/2006/relationships/notesSlide" Target="/ppt/notesSlides/notesSlide2.xml" Id="R8a5770da620a46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926855bae4625" /><Relationship Type="http://schemas.openxmlformats.org/officeDocument/2006/relationships/image" Target="/ppt/media/image2.png" Id="Rf6408ae0ee8f4fe7" /><Relationship Type="http://schemas.openxmlformats.org/officeDocument/2006/relationships/notesSlide" Target="/ppt/notesSlides/notesSlide3.xml" Id="R8a266f3844554c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84fd4d5c34d04" /><Relationship Type="http://schemas.openxmlformats.org/officeDocument/2006/relationships/image" Target="/ppt/media/image2.png" Id="R68edc56a0f004e0d" /><Relationship Type="http://schemas.openxmlformats.org/officeDocument/2006/relationships/notesSlide" Target="/ppt/notesSlides/notesSlide4.xml" Id="R44eea903629645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dd54b2dc5430d" /><Relationship Type="http://schemas.openxmlformats.org/officeDocument/2006/relationships/image" Target="/ppt/media/image2.png" Id="R1eeee3ff54604ab9" /><Relationship Type="http://schemas.openxmlformats.org/officeDocument/2006/relationships/notesSlide" Target="/ppt/notesSlides/notesSlide5.xml" Id="Ref21797519e443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b132c38c54f8e" /><Relationship Type="http://schemas.openxmlformats.org/officeDocument/2006/relationships/image" Target="/ppt/media/image3.png" Id="Re0df7fe853d04b90" /><Relationship Type="http://schemas.openxmlformats.org/officeDocument/2006/relationships/image" Target="/ppt/media/image2.png" Id="R9b1e5c3ec9e9496d" /><Relationship Type="http://schemas.openxmlformats.org/officeDocument/2006/relationships/notesSlide" Target="/ppt/notesSlides/notesSlide6.xml" Id="R112c6a4a2a7541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26b41274c49d6" /><Relationship Type="http://schemas.openxmlformats.org/officeDocument/2006/relationships/image" Target="/ppt/media/image2.png" Id="Reffadb3015b94d56" /><Relationship Type="http://schemas.openxmlformats.org/officeDocument/2006/relationships/image" Target="/ppt/media/image.jpeg" Id="R76525f252fe14ad4" /><Relationship Type="http://schemas.openxmlformats.org/officeDocument/2006/relationships/notesSlide" Target="/ppt/notesSlides/notesSlide7.xml" Id="R4830e329666f4a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c188c75cb4750" /><Relationship Type="http://schemas.openxmlformats.org/officeDocument/2006/relationships/image" Target="/ppt/media/image2.png" Id="Rd927e6d02622491e" /><Relationship Type="http://schemas.openxmlformats.org/officeDocument/2006/relationships/image" Target="/ppt/media/image2.jpeg" Id="Rc377ea65311a4c67" /><Relationship Type="http://schemas.openxmlformats.org/officeDocument/2006/relationships/notesSlide" Target="/ppt/notesSlides/notesSlide8.xml" Id="R21adbf35d5f04d2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e31c360304a41" /><Relationship Type="http://schemas.openxmlformats.org/officeDocument/2006/relationships/image" Target="/ppt/media/image2.png" Id="Re38b7503e20b4588" /><Relationship Type="http://schemas.openxmlformats.org/officeDocument/2006/relationships/image" Target="/ppt/media/image3.jpeg" Id="R6be76066685a45cf" /><Relationship Type="http://schemas.openxmlformats.org/officeDocument/2006/relationships/notesSlide" Target="/ppt/notesSlides/notesSlide9.xml" Id="R73e9883493914f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7f23b00dfb42c1" /><Relationship Type="http://schemas.openxmlformats.org/officeDocument/2006/relationships/image" Target="/ppt/media/image2.png" Id="R1676431d5ec84ab9" /><Relationship Type="http://schemas.openxmlformats.org/officeDocument/2006/relationships/image" Target="/ppt/media/image4.jpeg" Id="R00f7ea704e634509" /><Relationship Type="http://schemas.openxmlformats.org/officeDocument/2006/relationships/notesSlide" Target="/ppt/notesSlides/notesSlide10.xml" Id="Rb1f2ce0ae2714d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c4eae7ef64520" /><Relationship Type="http://schemas.openxmlformats.org/officeDocument/2006/relationships/image" Target="/ppt/media/image2.png" Id="R54e29ba7fa9b47d1" /><Relationship Type="http://schemas.openxmlformats.org/officeDocument/2006/relationships/notesSlide" Target="/ppt/notesSlides/notesSlide11.xml" Id="R507d914ead24469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103745b4d4739" /><Relationship Type="http://schemas.openxmlformats.org/officeDocument/2006/relationships/image" Target="/ppt/media/image3.png" Id="R82fa6676bb2c41ae" /><Relationship Type="http://schemas.openxmlformats.org/officeDocument/2006/relationships/image" Target="/ppt/media/image2.png" Id="R782e85d975714891" /><Relationship Type="http://schemas.openxmlformats.org/officeDocument/2006/relationships/notesSlide" Target="/ppt/notesSlides/notesSlide12.xml" Id="R49d8f364c5c447b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b874634ca840cd"/>
          <a:srcRect xmlns:a="http://schemas.openxmlformats.org/drawingml/2006/main" l="0" t="-400" r="0" b="-400"/>
          <a:stretch xmlns:a="http://schemas.openxmlformats.org/drawingml/2006/main"/>
        </p:blipFill>
        <p:spPr>
          <a:xfrm xmlns:a="http://schemas.openxmlformats.org/drawingml/2006/main">
            <a:off x="1154116" y="2514600"/>
            <a:ext cx="457200" cy="19202"/>
          </a:xfrm>
          <a:prstGeom xmlns:a="http://schemas.openxmlformats.org/drawingml/2006/main" prst="rect">
            <a:avLst/>
          </a:prstGeom>
        </p:spPr>
      </p:pic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12af9bfcf478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588BFF-A375-4EE5-86EC-882455C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TAP USER GUIDE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6555D4-4FC0-43F5-89EA-710ADBB5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33195"/>
            <a:ext cx="571500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rPr>
              <a:t>회원사 교육 전후 역량평가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94598D-D2EA-447C-A288-E759C5A6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485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3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 사용설명서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54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변화를 다음 개선으로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1895F6A-EFDF-4122-8361-5A1B7C55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7239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· 참여자 · KMA 관리자  |  2026.08</a:t>
            </a: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249269-3EBF-411F-9214-578C112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886054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이해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98378CE-77A5-42F4-9386-8900A1B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32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27250-D715-47E9-BF85-D371494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7239305"/>
            <a:ext cx="109545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사용 순서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004A06-9C22-4464-A98C-947C74A7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203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355592F-483C-412C-AFF7-1A7C1D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7239305"/>
            <a:ext cx="48646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버튼 안내</a:t>
            </a:r>
          </a:p>
        </p:txBody>
      </p:sp>
    </p:spTree>
    <p:extLst>
      <p:ext uri="{BB962C8B-B14F-4D97-AF65-F5344CB8AC3E}">
        <p14:creationId xmlns:p14="http://schemas.microsoft.com/office/powerpoint/2010/main" val="1197576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9ef7116df483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FA59CA-2888-E92C-D36A-7C08762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762061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TAP은 교육 전후의 변화를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같은 기준으로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01E7FD-710D-70CA-AB54-FFD4CBA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 전 출발점을 기록하고, 현업 적용 8~10주 후 같은 행동문항으로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다시 측정해 변화와 현업 적용환경을 확인합니다.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979613-820C-68B0-3020-76B2B00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F477ABB-A118-6E27-2F73-2B9EDE1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B672A9E-C4D6-5620-194E-059E6E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전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 기록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0188F215-E8C2-D2C2-6890-A9D7E20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02773F1-F230-E5B7-AB67-E3B93F9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2620C19-402F-1A79-B79C-487B4E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같은 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현업 행동 재측정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33D5E3-3E55-FA73-07C8-351FBE3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C86F90E-30AA-F6C6-C349-5ACAB495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6088DD1-10B8-BAE8-4A3D-AB14DA41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짝지은 변화와 전이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조건 확인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6E0A1F2-D7C3-2D5B-5BB7-AD6A734A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02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CDD74CE-8565-9840-73F8-F32FDA4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4">
            <a:extLst xmlns:a="http://schemas.openxmlformats.org/drawingml/2006/main">
              <a:ext uri="{FF2B5EF4-FFF2-40B4-BE49-F238E27FC236}">
                <a16:creationId xmlns:a16="http://schemas.microsoft.com/office/drawing/2014/main" id="{2921C518-2F6B-707E-1DAC-2C05193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81AE81-1ADF-EC5B-0BB4-A65E6644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1638701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SERVICE SUMMARY</a:t>
            </a:r>
          </a:p>
        </p:txBody>
      </p:sp>
    </p:spTree>
    <p:extLst>
      <p:ext uri="{BB962C8B-B14F-4D97-AF65-F5344CB8AC3E}">
        <p14:creationId xmlns:p14="http://schemas.microsoft.com/office/powerpoint/2010/main" val="16823617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 0">
            <a:extLst xmlns:a="http://schemas.openxmlformats.org/drawingml/2006/main">
              <a:ext uri="{FF2B5EF4-FFF2-40B4-BE49-F238E27FC236}">
                <a16:creationId xmlns:a16="http://schemas.microsoft.com/office/drawing/2014/main" id="{EDC866E3-24F5-49DE-AD0B-5E6E8D8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C3B50-DC20-4F8A-B5CC-3156A33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5695" y="1714500"/>
            <a:ext cx="7239305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408ae0ee8f4fe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F889484-E45F-4FEE-BEAA-0F19B096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43759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ROLE &amp; ACCESS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800BFA6-B5DA-4B8B-8072-6FE99AD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0010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역할마다 필요한 화면과</a:t>
            </a:r>
            <a:endParaRPr sz="4800">
              <a:solidFill>
                <a:srgbClr val="0A0E10"/>
              </a:solidFill>
              <a:latin typeface="페이퍼로지 2 ExtraLight"/>
              <a:ea typeface="페이퍼로지 2 ExtraLight"/>
              <a:cs typeface="페이퍼로지 2 ExtraLight"/>
            </a:endParaRP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기본 열람범위가 다릅니다</a:t>
            </a:r>
            <a:endParaRPr sz="4800">
              <a:solidFill>
                <a:srgbClr val="0A0E10"/>
              </a:solidFill>
              <a:latin typeface="페이퍼로지 6 SemiBold"/>
              <a:ea typeface="페이퍼로지 6 SemiBold"/>
              <a:cs typeface="페이퍼로지 6 SemiBold"/>
            </a:endParaR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9084758-1CD5-4C2D-8E2D-0F5EF63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역할 전환은 데모 화면 안내용이며 실제 운영 권한 인증을 대신하지 않습니다.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D5AB2B7-DC51-4B74-9025-5A22A78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38AD6-6B0F-4B1B-9621-8BFBA7D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A1CE548-484D-4A33-9ED7-2E464BA0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일정 · 조직 변화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FAF3B7E-D856-4CE0-979E-3C20F8F1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20F00B-53B8-4678-BEC1-E0267DE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42C3DDD-61D8-405A-BD62-70ABE0E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· 내 변화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2429BE4-CDA5-4001-A698-E2180F1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5E2A1D7-74E9-4087-BC3E-73178F2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C530BDB-D51B-4622-AEB9-DB0AAA7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운영현황 · 문항검수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0FB7444-4885-4E76-8E01-B6ABBAE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07BC6A3-AD8A-496B-A61D-5B304433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공통 원칙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D8A459E-A2D9-4E3E-94FE-C42BF67D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개인정보 최소 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71015A9-AF87-4399-A204-FADF0C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03</a:t>
            </a:r>
          </a:p>
        </p:txBody>
      </p:sp>
      <p:sp>
        <p:nvSpPr>
          <p:cNvPr id="30" name="Text 4">
            <a:extLst xmlns:a="http://schemas.openxmlformats.org/drawingml/2006/main">
              <a:ext uri="{FF2B5EF4-FFF2-40B4-BE49-F238E27FC236}">
                <a16:creationId xmlns:a16="http://schemas.microsoft.com/office/drawing/2014/main" id="{EB6CD4AC-0BA3-CCDE-E960-058897DF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7074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32" name="concept-flow-1">
            <a:extLst xmlns:a="http://schemas.openxmlformats.org/drawingml/2006/main">
              <a:ext uri="{FF2B5EF4-FFF2-40B4-BE49-F238E27FC236}">
                <a16:creationId xmlns:a16="http://schemas.microsoft.com/office/drawing/2014/main" id="{717CD388-9B7B-4143-8144-38D00D7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concept-flow-2">
            <a:extLst xmlns:a="http://schemas.openxmlformats.org/drawingml/2006/main">
              <a:ext uri="{FF2B5EF4-FFF2-40B4-BE49-F238E27FC236}">
                <a16:creationId xmlns:a16="http://schemas.microsoft.com/office/drawing/2014/main" id="{EAD99F34-9C65-45AF-B900-84DB2C5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concept-badge">
            <a:extLst xmlns:a="http://schemas.openxmlformats.org/drawingml/2006/main">
              <a:ext uri="{FF2B5EF4-FFF2-40B4-BE49-F238E27FC236}">
                <a16:creationId xmlns:a16="http://schemas.microsoft.com/office/drawing/2014/main" id="{A2B430A5-542F-4F96-849E-393283C2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262024"/>
            <a:ext cx="2667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7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역할별 화면 · 접근 분리</a:t>
            </a:r>
          </a:p>
        </p:txBody>
      </p:sp>
      <p:sp>
        <p:nvSpPr>
          <p:cNvPr id="35" name="concept-a">
            <a:extLst xmlns:a="http://schemas.openxmlformats.org/drawingml/2006/main">
              <a:ext uri="{FF2B5EF4-FFF2-40B4-BE49-F238E27FC236}">
                <a16:creationId xmlns:a16="http://schemas.microsoft.com/office/drawing/2014/main" id="{4913A229-4B0F-49E1-AD0D-040DBCD6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운영</a:t>
            </a:r>
          </a:p>
        </p:txBody>
      </p:sp>
      <p:sp>
        <p:nvSpPr>
          <p:cNvPr id="36" name="concept-b">
            <a:extLst xmlns:a="http://schemas.openxmlformats.org/drawingml/2006/main">
              <a:ext uri="{FF2B5EF4-FFF2-40B4-BE49-F238E27FC236}">
                <a16:creationId xmlns:a16="http://schemas.microsoft.com/office/drawing/2014/main" id="{0C0ADA75-9D8F-485A-AFFB-44A12F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본인 결과</a:t>
            </a:r>
          </a:p>
        </p:txBody>
      </p:sp>
      <p:sp>
        <p:nvSpPr>
          <p:cNvPr id="37" name="concept-ab">
            <a:extLst xmlns:a="http://schemas.openxmlformats.org/drawingml/2006/main">
              <a:ext uri="{FF2B5EF4-FFF2-40B4-BE49-F238E27FC236}">
                <a16:creationId xmlns:a16="http://schemas.microsoft.com/office/drawing/2014/main" id="{A6F7D5E1-03AC-4618-A7BC-7F6748D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도구 품질</a:t>
            </a:r>
          </a:p>
        </p:txBody>
      </p:sp>
      <p:sp>
        <p:nvSpPr>
          <p:cNvPr id="38" name="concept-result-a">
            <a:extLst xmlns:a="http://schemas.openxmlformats.org/drawingml/2006/main">
              <a:ext uri="{FF2B5EF4-FFF2-40B4-BE49-F238E27FC236}">
                <a16:creationId xmlns:a16="http://schemas.microsoft.com/office/drawing/2014/main" id="{D308B340-70F6-40D2-B87F-2B77ED5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N≥5 집계</a:t>
            </a:r>
          </a:p>
        </p:txBody>
      </p:sp>
      <p:sp>
        <p:nvSpPr>
          <p:cNvPr id="39" name="concept-result-b">
            <a:extLst xmlns:a="http://schemas.openxmlformats.org/drawingml/2006/main">
              <a:ext uri="{FF2B5EF4-FFF2-40B4-BE49-F238E27FC236}">
                <a16:creationId xmlns:a16="http://schemas.microsoft.com/office/drawing/2014/main" id="{2C67017C-0697-481B-A615-F01504C4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40" name="concept-result-ab">
            <a:extLst xmlns:a="http://schemas.openxmlformats.org/drawingml/2006/main">
              <a:ext uri="{FF2B5EF4-FFF2-40B4-BE49-F238E27FC236}">
                <a16:creationId xmlns:a16="http://schemas.microsoft.com/office/drawing/2014/main" id="{79A65F2B-A3FB-4CFC-84B5-E8FBBFF2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점수 기본 미열람</a:t>
            </a:r>
          </a:p>
        </p:txBody>
      </p:sp>
      <p:sp>
        <p:nvSpPr>
          <p:cNvPr id="41" name="concept-month-1">
            <a:extLst xmlns:a="http://schemas.openxmlformats.org/drawingml/2006/main">
              <a:ext uri="{FF2B5EF4-FFF2-40B4-BE49-F238E27FC236}">
                <a16:creationId xmlns:a16="http://schemas.microsoft.com/office/drawing/2014/main" id="{7F624207-AA90-48B2-9A90-37E6FF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3574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교육담당자 · 참여자</a:t>
            </a:r>
          </a:p>
        </p:txBody>
      </p:sp>
      <p:sp>
        <p:nvSpPr>
          <p:cNvPr id="42" name="concept-month-2">
            <a:extLst xmlns:a="http://schemas.openxmlformats.org/drawingml/2006/main">
              <a:ext uri="{FF2B5EF4-FFF2-40B4-BE49-F238E27FC236}">
                <a16:creationId xmlns:a16="http://schemas.microsoft.com/office/drawing/2014/main" id="{E967CC4D-5CCF-4290-8FF2-C83C7CD6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4233574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KMA</a:t>
            </a:r>
          </a:p>
        </p:txBody>
      </p:sp>
    </p:spTree>
    <p:extLst>
      <p:ext uri="{BB962C8B-B14F-4D97-AF65-F5344CB8AC3E}">
        <p14:creationId xmlns:p14="http://schemas.microsoft.com/office/powerpoint/2010/main" val="1124630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hape 0">
            <a:extLst xmlns:a="http://schemas.openxmlformats.org/drawingml/2006/main">
              <a:ext uri="{FF2B5EF4-FFF2-40B4-BE49-F238E27FC236}">
                <a16:creationId xmlns:a16="http://schemas.microsoft.com/office/drawing/2014/main" id="{171F3167-D0F6-A154-3969-882D538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910152-35D2-44BA-B745-A951087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dc56a0f004e0d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01D4990-29A3-4468-AD6C-B50C06E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66860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RESULT USE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0474DB0-9A5B-4CE3-AE6B-55D4443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전후 변화와 전이 조건으로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다음 개선을 정합니다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3CA359B-CBBA-44AE-9F0B-F927929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사후점수만으로 교육효과를 단정하지 않습니다.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적용기회 · 상사지원 · 도구 · 권한을 함께 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EB2A4FA-C378-46BA-9B70-8E96629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1020C2-BC00-4FEB-868A-A7DDB9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6051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리포트 · 본인의 사전·사후 변화 확인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AD8DDF0-7039-4E27-8B11-2D413A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58154"/>
            <a:ext cx="8287207" cy="277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문항의 전후 점수 · 관찰 변화 · 현업 적용환경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51D52D4-BF9F-4AEC-A9D4-540643C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48195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D8F7B3A-A440-4EC2-98B6-B68C90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리포트 · 짝지어진 집단 변화 확인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A2EB170-DEF1-4950-BC23-6D00056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사전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F0B1C30-E9DC-4507-A357-EFB59F4E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74F5C4-63C0-4BB8-9997-93CEC4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54549F4-E392-4989-B19C-6113A80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관찰 변화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E03D512-C8BF-4877-ADFC-96AA180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맥락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50766F9-1E33-49C8-A166-FE4CD0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적용환경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D20431E-E24E-4484-AEB4-E8CEB73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공개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66938FE-E18C-48A1-9545-991822C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집계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304613-E79C-40DC-BC1B-D2BDFA92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62695"/>
            <a:ext cx="82872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비교집단이 없으면 교육의 인과효과가 아니라 ‘교육 전후 관찰된 변화’로 표현합니다.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F9198117-1B7C-4488-A0A9-1F9A26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04</a:t>
            </a:r>
          </a:p>
        </p:txBody>
      </p:sp>
      <p:sp>
        <p:nvSpPr>
          <p:cNvPr id="39" name="Text 4">
            <a:extLst xmlns:a="http://schemas.openxmlformats.org/drawingml/2006/main">
              <a:ext uri="{FF2B5EF4-FFF2-40B4-BE49-F238E27FC236}">
                <a16:creationId xmlns:a16="http://schemas.microsoft.com/office/drawing/2014/main" id="{622A1526-965E-A627-17A6-4B5087A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579" y="900326"/>
            <a:ext cx="177393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41" name="product-annual-line">
            <a:extLst xmlns:a="http://schemas.openxmlformats.org/drawingml/2006/main">
              <a:ext uri="{FF2B5EF4-FFF2-40B4-BE49-F238E27FC236}">
                <a16:creationId xmlns:a16="http://schemas.microsoft.com/office/drawing/2014/main" id="{B82F41F6-AE80-4DA9-9F68-9385B2E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76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product-theme-line">
            <a:extLst xmlns:a="http://schemas.openxmlformats.org/drawingml/2006/main">
              <a:ext uri="{FF2B5EF4-FFF2-40B4-BE49-F238E27FC236}">
                <a16:creationId xmlns:a16="http://schemas.microsoft.com/office/drawing/2014/main" id="{B13F3F1A-3F16-4DF9-BB84-AE79B26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191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product-badge">
            <a:extLst xmlns:a="http://schemas.openxmlformats.org/drawingml/2006/main">
              <a:ext uri="{FF2B5EF4-FFF2-40B4-BE49-F238E27FC236}">
                <a16:creationId xmlns:a16="http://schemas.microsoft.com/office/drawing/2014/main" id="{3760D9C3-F3F9-490A-BE76-9018B51F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266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6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해석의 흐름</a:t>
            </a:r>
          </a:p>
        </p:txBody>
      </p:sp>
      <p:sp>
        <p:nvSpPr>
          <p:cNvPr id="44" name="product-week-1회차">
            <a:extLst xmlns:a="http://schemas.openxmlformats.org/drawingml/2006/main">
              <a:ext uri="{FF2B5EF4-FFF2-40B4-BE49-F238E27FC236}">
                <a16:creationId xmlns:a16="http://schemas.microsoft.com/office/drawing/2014/main" id="{913EB834-8A3F-46C3-A5AF-4239B34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개인</a:t>
            </a:r>
          </a:p>
        </p:txBody>
      </p:sp>
      <p:sp>
        <p:nvSpPr>
          <p:cNvPr id="45" name="product-week-2회차">
            <a:extLst xmlns:a="http://schemas.openxmlformats.org/drawingml/2006/main">
              <a:ext uri="{FF2B5EF4-FFF2-40B4-BE49-F238E27FC236}">
                <a16:creationId xmlns:a16="http://schemas.microsoft.com/office/drawing/2014/main" id="{22583FA1-351B-4078-810F-BA5ECE2A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조직</a:t>
            </a:r>
          </a:p>
        </p:txBody>
      </p:sp>
      <p:sp>
        <p:nvSpPr>
          <p:cNvPr id="46" name="product-week-3회차">
            <a:extLst xmlns:a="http://schemas.openxmlformats.org/drawingml/2006/main">
              <a:ext uri="{FF2B5EF4-FFF2-40B4-BE49-F238E27FC236}">
                <a16:creationId xmlns:a16="http://schemas.microsoft.com/office/drawing/2014/main" id="{1DA250B1-DC53-40ED-AD75-C55B993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결정</a:t>
            </a:r>
          </a:p>
        </p:txBody>
      </p:sp>
      <p:sp>
        <p:nvSpPr>
          <p:cNvPr id="47" name="product-annual-label">
            <a:extLst xmlns:a="http://schemas.openxmlformats.org/drawingml/2006/main">
              <a:ext uri="{FF2B5EF4-FFF2-40B4-BE49-F238E27FC236}">
                <a16:creationId xmlns:a16="http://schemas.microsoft.com/office/drawing/2014/main" id="{D2F84F77-15D2-4019-985F-C148DA6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0481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리포트</a:t>
            </a:r>
          </a:p>
        </p:txBody>
      </p:sp>
      <p:sp>
        <p:nvSpPr>
          <p:cNvPr id="48" name="product-theme-label">
            <a:extLst xmlns:a="http://schemas.openxmlformats.org/drawingml/2006/main">
              <a:ext uri="{FF2B5EF4-FFF2-40B4-BE49-F238E27FC236}">
                <a16:creationId xmlns:a16="http://schemas.microsoft.com/office/drawing/2014/main" id="{73C35CB7-594D-4761-9194-430E0566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57626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</a:t>
            </a:r>
          </a:p>
        </p:txBody>
      </p:sp>
      <p:sp>
        <p:nvSpPr>
          <p:cNvPr id="49" name="annual-A">
            <a:extLst xmlns:a="http://schemas.openxmlformats.org/drawingml/2006/main">
              <a:ext uri="{FF2B5EF4-FFF2-40B4-BE49-F238E27FC236}">
                <a16:creationId xmlns:a16="http://schemas.microsoft.com/office/drawing/2014/main" id="{3E0747A5-2467-4FCF-A3AE-B07303EE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출발점</a:t>
            </a:r>
          </a:p>
        </p:txBody>
      </p:sp>
      <p:sp>
        <p:nvSpPr>
          <p:cNvPr id="50" name="theme-A">
            <a:extLst xmlns:a="http://schemas.openxmlformats.org/drawingml/2006/main">
              <a:ext uri="{FF2B5EF4-FFF2-40B4-BE49-F238E27FC236}">
                <a16:creationId xmlns:a16="http://schemas.microsoft.com/office/drawing/2014/main" id="{CA249E1C-D3E3-49DE-9559-039A8241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전이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조건</a:t>
            </a:r>
          </a:p>
        </p:txBody>
      </p:sp>
      <p:sp>
        <p:nvSpPr>
          <p:cNvPr id="51" name="annual-B">
            <a:extLst xmlns:a="http://schemas.openxmlformats.org/drawingml/2006/main">
              <a:ext uri="{FF2B5EF4-FFF2-40B4-BE49-F238E27FC236}">
                <a16:creationId xmlns:a16="http://schemas.microsoft.com/office/drawing/2014/main" id="{524F543A-20B4-4A6D-BC7D-F7835365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재측정</a:t>
            </a:r>
          </a:p>
        </p:txBody>
      </p:sp>
      <p:sp>
        <p:nvSpPr>
          <p:cNvPr id="52" name="theme-B">
            <a:extLst xmlns:a="http://schemas.openxmlformats.org/drawingml/2006/main">
              <a:ext uri="{FF2B5EF4-FFF2-40B4-BE49-F238E27FC236}">
                <a16:creationId xmlns:a16="http://schemas.microsoft.com/office/drawing/2014/main" id="{ED8BD520-A6CF-436B-AB1A-A4465F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교육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보완</a:t>
            </a:r>
          </a:p>
        </p:txBody>
      </p:sp>
      <p:sp>
        <p:nvSpPr>
          <p:cNvPr id="53" name="annual-A+B">
            <a:extLst xmlns:a="http://schemas.openxmlformats.org/drawingml/2006/main">
              <a:ext uri="{FF2B5EF4-FFF2-40B4-BE49-F238E27FC236}">
                <a16:creationId xmlns:a16="http://schemas.microsoft.com/office/drawing/2014/main" id="{0FD316B6-4539-49B5-87E1-DDF9631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짝지은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변화</a:t>
            </a:r>
          </a:p>
        </p:txBody>
      </p:sp>
      <p:sp>
        <p:nvSpPr>
          <p:cNvPr id="54" name="theme-A+B">
            <a:extLst xmlns:a="http://schemas.openxmlformats.org/drawingml/2006/main">
              <a:ext uri="{FF2B5EF4-FFF2-40B4-BE49-F238E27FC236}">
                <a16:creationId xmlns:a16="http://schemas.microsoft.com/office/drawing/2014/main" id="{67D05F8C-4624-454C-97BA-E6F20C96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환경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개선</a:t>
            </a:r>
          </a:p>
        </p:txBody>
      </p:sp>
      <p:sp>
        <p:nvSpPr>
          <p:cNvPr id="55" name="product-benefit">
            <a:extLst xmlns:a="http://schemas.openxmlformats.org/drawingml/2006/main">
              <a:ext uri="{FF2B5EF4-FFF2-40B4-BE49-F238E27FC236}">
                <a16:creationId xmlns:a16="http://schemas.microsoft.com/office/drawing/2014/main" id="{0C6965AD-0789-46DC-B44E-F64BBF7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7334250"/>
            <a:ext cx="4381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개인 순위가 아니라 같은 사람의 전후 변화를 확인</a:t>
            </a:r>
          </a:p>
        </p:txBody>
      </p:sp>
    </p:spTree>
    <p:extLst>
      <p:ext uri="{BB962C8B-B14F-4D97-AF65-F5344CB8AC3E}">
        <p14:creationId xmlns:p14="http://schemas.microsoft.com/office/powerpoint/2010/main" val="11097139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ee3ff54604ab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개인순위 · 인사평가 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소수집단 공개는 하지 않습니다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교육개발용 자기보고 전후 평가입니다. 아래 여섯 가지 경계를 지켜 사용합니다.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개인순위 없음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백분위 · 규준 아님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인사평가 금지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채용 · 승진 · 보상 금지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개인결과 공유는 선택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본인 동의 필요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공개 최소기준일 뿐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공개 데모 실데이터 금지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세션에만 임시 저장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인과효과 아님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비교집단 없으면 관찰 변화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05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SAFE USE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E36D6B-AAE7-4745-BBE8-7F3E095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805" y="1524305"/>
            <a:ext cx="5905195" cy="742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f7fe853d04b90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e5c3ec9e9496d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프로젝트 코드로 사전·사후를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같은 기록에 연결합니다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설정 저장 뒤 프로젝트 코드를 공유합니다. 참여자는 접속코드와 같은 ID로 사전·사후검사를 연결합니다.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교육·평가 설정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코드 · 기간 · 역량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접속코드 · 참여자 ID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완료 기록 저장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 완료 시 GitHub 저장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8~10주 후 복원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 코드 · 동일 ID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같은 문항 · 최근 8주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전후 비교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짝지은 변화 · 전이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06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234134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HOW IT WORKS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PROCESS</a:t>
            </a:r>
          </a:p>
        </p:txBody>
      </p:sp>
      <p:sp>
        <p:nvSpPr>
          <p:cNvPr id="53" name="journey-orbit">
            <a:extLst xmlns:a="http://schemas.openxmlformats.org/drawingml/2006/main">
              <a:ext uri="{FF2B5EF4-FFF2-40B4-BE49-F238E27FC236}">
                <a16:creationId xmlns:a16="http://schemas.microsoft.com/office/drawing/2014/main" id="{BE1C8383-40D3-45B9-83F5-153EABF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57500"/>
            <a:ext cx="5048250" cy="514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7D9D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journey-a-card">
            <a:extLst xmlns:a="http://schemas.openxmlformats.org/drawingml/2006/main">
              <a:ext uri="{FF2B5EF4-FFF2-40B4-BE49-F238E27FC236}">
                <a16:creationId xmlns:a16="http://schemas.microsoft.com/office/drawing/2014/main" id="{80A3C995-7464-4B56-940C-C5C7327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8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1. 프로젝트 설정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코드 공유</a:t>
            </a:r>
          </a:p>
        </p:txBody>
      </p:sp>
      <p:sp>
        <p:nvSpPr>
          <p:cNvPr id="55" name="journey-b-card">
            <a:extLst xmlns:a="http://schemas.openxmlformats.org/drawingml/2006/main">
              <a:ext uri="{FF2B5EF4-FFF2-40B4-BE49-F238E27FC236}">
                <a16:creationId xmlns:a16="http://schemas.microsoft.com/office/drawing/2014/main" id="{B01C52AA-9481-4E17-8479-B9E602C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2. 사전 완료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GitHub 저장</a:t>
            </a:r>
          </a:p>
        </p:txBody>
      </p:sp>
      <p:sp>
        <p:nvSpPr>
          <p:cNvPr id="56" name="journey-hub">
            <a:extLst xmlns:a="http://schemas.openxmlformats.org/drawingml/2006/main">
              <a:ext uri="{FF2B5EF4-FFF2-40B4-BE49-F238E27FC236}">
                <a16:creationId xmlns:a16="http://schemas.microsoft.com/office/drawing/2014/main" id="{5DD05311-937C-4606-8996-474A450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667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TAP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전후 비교</a:t>
            </a:r>
          </a:p>
        </p:txBody>
      </p:sp>
      <p:sp>
        <p:nvSpPr>
          <p:cNvPr id="57" name="journey-ab-card">
            <a:extLst xmlns:a="http://schemas.openxmlformats.org/drawingml/2006/main">
              <a:ext uri="{FF2B5EF4-FFF2-40B4-BE49-F238E27FC236}">
                <a16:creationId xmlns:a16="http://schemas.microsoft.com/office/drawing/2014/main" id="{6BB557C9-D1B7-4AE7-9DB1-2E871989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858000"/>
            <a:ext cx="180975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3–4. 같은 ID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복원·사후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adb3015b94d56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EDUCATION MANAGER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관리자 대시보드는 완료된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합성데이터를 누적합니다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GitHub 저장을 켜면 demo-data 분기의 완료된 사전·사후 스냅샷을 프로젝트 코드 기준으로 합산합니다. 연결이 없거나 오류가 나면 현재 세션 데이터로 전환합니다.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대시보드 확인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누적 프로젝트 · 참여자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사전·사후 완료 건수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짝지은 변화 상태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 설정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 코드 생성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교육일 · 전후 기간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역량 선택 · 저장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07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25f252fe14ad4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7e6d02622491e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PARTICIPANT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프로젝트 코드·접속코드·ID로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실제 검사에 참여합니다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사전·사후 완료 시점에만 GitHub에 저장합니다. 사후는 같은 프로젝트 코드와 참여자 ID로 사전 결과를 불러오며, 실패하면 기준파일 JSON으로 복원합니다.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검사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 코드 입력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기획검증 접속코드 입력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참여자 ID · 응답 · 완료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 복원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같은 코드 · ID로 접속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 완료 기록 불러오기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실패 시 JSON 업로드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08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77ea65311a4c67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b7503e20b4588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ORGANIZATION REPORT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프로젝트 코드만 입력하면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조직 전후 리포트를 불러옵니다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GitHub 연결 시 프로젝트 코드의 완료 데이터를 우선 집계하고, 연결이 없으면 현재 세션 또는 조직결과 CSV를 사용합니다. 동일 ID를 짝지으며 역량별 N≥5만 공개합니다.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준비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 코드 입력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누적 완료 데이터 조회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조직 리포트 생성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해석 기준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동일 ID · 역량 · 버전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역량별 짝지은 N≥5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GitHub · 세션 · CSV 구분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09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76066685a45cf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6431d5ec84ab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ADMIN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KMA 대시보드는 연결 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누적 합계로 전환됩니다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GitHub 연결 시 demo-data의 합성 프로젝트·참여자·사전·사후 완료 건을 집계합니다. 미연결 또는 데이터 없음 상태에서는 샘플을 표시하며 문항은행 검수는 계속 사용할 수 있습니다.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화면 구분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연결 시 누적 합계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미연결 시 샘플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개인 식별값 미표시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필터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파일럿 후보 CSV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10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7ea704e634509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29ba7fa9b47d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프로젝트 코드와 새로고침까지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핵심 버튼만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검사 완료 저장은 자동입니다. JSON은 GitHub 연결 실패에 대비한 백업으로 내려받습니다.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시작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처음 사용 안내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사용설명서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이동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설정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코드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기획검증 접속코드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실제 검사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내 변화 리포트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결과 CSV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결과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누적 새로고침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조직 리포트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회원사 운영 화면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11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BUTTON REFERENCE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32209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a6676bb2c41ae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2e85d97571489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접속코드·GitHub 연결·N&lt;5를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먼저 확인하세요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이 저장 방식은 기획검증용 합성데이터 전용입니다. Streamlit Secrets에 PAT·저장소·접속코드를 등록하고, 실운영에서는 자체 서버 DB로 전환하세요.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접속코드 오류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공유 코드 다시 입력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GitHub 미연결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Secrets · PAT 확인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표본 보호 정상 동작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저장·복원 실패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코드·ID · JSON 확인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데이터 분기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demo-data 전용 확인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연결 없이 사용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세션 · JSON · CSV 사용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12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0326"/>
            <a:ext cx="196509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QUICK START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2026-08-16T18:07:32.9620000Z</dcterms:created>
  <dcterms:modified xsi:type="dcterms:W3CDTF">2026-08-16T18:07:32.9620000Z</dcterms:modified>
</coreProperties>
</file>
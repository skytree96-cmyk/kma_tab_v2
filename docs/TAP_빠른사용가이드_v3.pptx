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910e9cd0ec4acd" /><Relationship Type="http://schemas.openxmlformats.org/officeDocument/2006/relationships/extended-properties" Target="/docProps/app.xml" Id="Rf1757f20112c4567" /><Relationship Type="http://schemas.openxmlformats.org/officeDocument/2006/relationships/officeDocument" Target="/ppt/presentation.xml" Id="R781a76f7c4484e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d7b0cd20e24817"/>
  </p:sldMasterIdLst>
  <p:notesMasterIdLst>
    <p:notesMasterId xmlns:r="http://schemas.openxmlformats.org/officeDocument/2006/relationships" r:id="R9c95fd16123c4a9d"/>
  </p:notesMasterIdLst>
  <p:sldIdLst>
    <p:sldId xmlns:r="http://schemas.openxmlformats.org/officeDocument/2006/relationships" id="256" r:id="R523f36b761ba447c"/>
    <p:sldId xmlns:r="http://schemas.openxmlformats.org/officeDocument/2006/relationships" id="257" r:id="R13e6180d5c0a406b"/>
    <p:sldId xmlns:r="http://schemas.openxmlformats.org/officeDocument/2006/relationships" id="258" r:id="R6d06644605bf45ea"/>
    <p:sldId xmlns:r="http://schemas.openxmlformats.org/officeDocument/2006/relationships" id="259" r:id="R634fee6bc5304818"/>
    <p:sldId xmlns:r="http://schemas.openxmlformats.org/officeDocument/2006/relationships" id="260" r:id="R2e5c88a55e8d44fb"/>
    <p:sldId xmlns:r="http://schemas.openxmlformats.org/officeDocument/2006/relationships" id="261" r:id="R1cce14b27b7b4e92"/>
    <p:sldId xmlns:r="http://schemas.openxmlformats.org/officeDocument/2006/relationships" id="262" r:id="Raceddae9e01f4853"/>
    <p:sldId xmlns:r="http://schemas.openxmlformats.org/officeDocument/2006/relationships" id="263" r:id="R836c7ccf32c748b7"/>
    <p:sldId xmlns:r="http://schemas.openxmlformats.org/officeDocument/2006/relationships" id="264" r:id="R709a1ce35c0246b1"/>
    <p:sldId xmlns:r="http://schemas.openxmlformats.org/officeDocument/2006/relationships" id="265" r:id="R3fe15bd2319f4235"/>
    <p:sldId xmlns:r="http://schemas.openxmlformats.org/officeDocument/2006/relationships" id="266" r:id="R63e89965fa6f4914"/>
    <p:sldId xmlns:r="http://schemas.openxmlformats.org/officeDocument/2006/relationships" id="267" r:id="R86017cf4505f4c98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ae8762745e48d4" /><Relationship Type="http://schemas.openxmlformats.org/officeDocument/2006/relationships/slideMaster" Target="/ppt/slideMasters/slideMaster1.xml" Id="R47d7b0cd20e24817" /><Relationship Type="http://schemas.openxmlformats.org/officeDocument/2006/relationships/notesMaster" Target="/ppt/notesMasters/notesMaster1.xml" Id="R9c95fd16123c4a9d" /><Relationship Type="http://schemas.openxmlformats.org/officeDocument/2006/relationships/presProps" Target="/ppt/presProps.xml" Id="Ra2e40bdd4c974376" /><Relationship Type="http://schemas.openxmlformats.org/officeDocument/2006/relationships/viewProps" Target="/ppt/viewProps.xml" Id="R8dd8526ed2724e25" /><Relationship Type="http://schemas.openxmlformats.org/officeDocument/2006/relationships/tableStyles" Target="/ppt/tableStyles.xml" Id="Rfea145dd0c25442e" /><Relationship Type="http://schemas.openxmlformats.org/officeDocument/2006/relationships/slide" Target="/ppt/slides/slide1.xml" Id="R523f36b761ba447c" /><Relationship Type="http://schemas.openxmlformats.org/officeDocument/2006/relationships/slide" Target="/ppt/slides/slide2.xml" Id="R13e6180d5c0a406b" /><Relationship Type="http://schemas.openxmlformats.org/officeDocument/2006/relationships/slide" Target="/ppt/slides/slide3.xml" Id="R6d06644605bf45ea" /><Relationship Type="http://schemas.openxmlformats.org/officeDocument/2006/relationships/slide" Target="/ppt/slides/slide4.xml" Id="R634fee6bc5304818" /><Relationship Type="http://schemas.openxmlformats.org/officeDocument/2006/relationships/slide" Target="/ppt/slides/slide5.xml" Id="R2e5c88a55e8d44fb" /><Relationship Type="http://schemas.openxmlformats.org/officeDocument/2006/relationships/slide" Target="/ppt/slides/slide6.xml" Id="R1cce14b27b7b4e92" /><Relationship Type="http://schemas.openxmlformats.org/officeDocument/2006/relationships/slide" Target="/ppt/slides/slide7.xml" Id="Raceddae9e01f4853" /><Relationship Type="http://schemas.openxmlformats.org/officeDocument/2006/relationships/slide" Target="/ppt/slides/slide8.xml" Id="R836c7ccf32c748b7" /><Relationship Type="http://schemas.openxmlformats.org/officeDocument/2006/relationships/slide" Target="/ppt/slides/slide9.xml" Id="R709a1ce35c0246b1" /><Relationship Type="http://schemas.openxmlformats.org/officeDocument/2006/relationships/slide" Target="/ppt/slides/slide10.xml" Id="R3fe15bd2319f4235" /><Relationship Type="http://schemas.openxmlformats.org/officeDocument/2006/relationships/slide" Target="/ppt/slides/slide11.xml" Id="R63e89965fa6f4914" /><Relationship Type="http://schemas.openxmlformats.org/officeDocument/2006/relationships/slide" Target="/ppt/slides/slide12.xml" Id="R86017cf4505f4c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2329e2219a4e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0fee6a62864060" /><Relationship Type="http://schemas.openxmlformats.org/officeDocument/2006/relationships/notesMaster" Target="/ppt/notesMasters/notesMaster1.xml" Id="R493689578f774d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2dbccae599439a" /><Relationship Type="http://schemas.openxmlformats.org/officeDocument/2006/relationships/notesMaster" Target="/ppt/notesMasters/notesMaster1.xml" Id="Rfee63a90650345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846d51e7d449e7" /><Relationship Type="http://schemas.openxmlformats.org/officeDocument/2006/relationships/notesMaster" Target="/ppt/notesMasters/notesMaster1.xml" Id="R105be2f4d0714e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6132d7996c4f34" /><Relationship Type="http://schemas.openxmlformats.org/officeDocument/2006/relationships/notesMaster" Target="/ppt/notesMasters/notesMaster1.xml" Id="R5975d924e6074d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066e0f22cb49f0" /><Relationship Type="http://schemas.openxmlformats.org/officeDocument/2006/relationships/notesMaster" Target="/ppt/notesMasters/notesMaster1.xml" Id="Rbd9a74393fbb41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2ac6b572114e47" /><Relationship Type="http://schemas.openxmlformats.org/officeDocument/2006/relationships/notesMaster" Target="/ppt/notesMasters/notesMaster1.xml" Id="R2cb028b6745045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5bf1069a76417b" /><Relationship Type="http://schemas.openxmlformats.org/officeDocument/2006/relationships/notesMaster" Target="/ppt/notesMasters/notesMaster1.xml" Id="R75a958e0ced744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09a2035d9b4e5a" /><Relationship Type="http://schemas.openxmlformats.org/officeDocument/2006/relationships/notesMaster" Target="/ppt/notesMasters/notesMaster1.xml" Id="Rf18ddf656f0448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858f9372654525" /><Relationship Type="http://schemas.openxmlformats.org/officeDocument/2006/relationships/notesMaster" Target="/ppt/notesMasters/notesMaster1.xml" Id="Rd6235532c5c54f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4791019e2b472d" /><Relationship Type="http://schemas.openxmlformats.org/officeDocument/2006/relationships/notesMaster" Target="/ppt/notesMasters/notesMaster1.xml" Id="R4d308ec1021f44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0aa10c9c8954bf2" /><Relationship Type="http://schemas.openxmlformats.org/officeDocument/2006/relationships/notesMaster" Target="/ppt/notesMasters/notesMaster1.xml" Id="Rae8ad48792b24d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67d549c2db4729" /><Relationship Type="http://schemas.openxmlformats.org/officeDocument/2006/relationships/notesMaster" Target="/ppt/notesMasters/notesMaster1.xml" Id="Ra293ddd3f59141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- Screenshot: locally verified TAP screen (project-setup.png),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- Screenshot: locally verified TAP screen (assessment.png),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- Screenshot: locally verified TAP screen (organization-report.png),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- Screenshot: locally verified TAP screen (question-bank.png),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e1e7b590734b6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6bcaad9fc140a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DC10F393-A48F-F642-66FB-6D14653B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FDA6C402-FDB4-6270-C720-21D2D901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TUDIO_TOC">
    <p:bg>
      <p:bgPr>
        <a:solidFill xmlns:a="http://schemas.openxmlformats.org/drawingml/2006/main">
          <a:srgbClr val="DD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hape 0">
            <a:extLst xmlns:a="http://schemas.openxmlformats.org/drawingml/2006/main">
              <a:ext uri="{FF2B5EF4-FFF2-40B4-BE49-F238E27FC236}">
                <a16:creationId xmlns:a16="http://schemas.microsoft.com/office/drawing/2014/main" id="{30DB86DE-E6F1-C0EE-E966-8CE196B1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353"/>
            <a:ext cx="1828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d8328cf9f8464a" /><Relationship Type="http://schemas.openxmlformats.org/officeDocument/2006/relationships/slideLayout" Target="/ppt/slideLayouts/slideLayout1.xml" Id="Ra1117aec06054acc" /><Relationship Type="http://schemas.openxmlformats.org/officeDocument/2006/relationships/slideLayout" Target="/ppt/slideLayouts/slideLayout2.xml" Id="Ra898f0a221d647e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117aec06054acc"/>
    <p:sldLayoutId xmlns:r="http://schemas.openxmlformats.org/officeDocument/2006/relationships" id="2147483650" r:id="Ra898f0a221d647e2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5ac40d15c4d7e" /><Relationship Type="http://schemas.openxmlformats.org/officeDocument/2006/relationships/image" Target="/ppt/media/image.png" Id="R149d2ef06e334ed4" /><Relationship Type="http://schemas.openxmlformats.org/officeDocument/2006/relationships/image" Target="/ppt/media/image2.png" Id="Rea4e4272e9dc40fb" /><Relationship Type="http://schemas.openxmlformats.org/officeDocument/2006/relationships/notesSlide" Target="/ppt/notesSlides/notesSlide1.xml" Id="R1005da0d0f1049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8cf82af784cff" /><Relationship Type="http://schemas.openxmlformats.org/officeDocument/2006/relationships/image" Target="/ppt/media/image2.png" Id="R2f97aae613b245cd" /><Relationship Type="http://schemas.openxmlformats.org/officeDocument/2006/relationships/notesSlide" Target="/ppt/notesSlides/notesSlide2.xml" Id="Rbc0d90e3a7f041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fe380e63742f6" /><Relationship Type="http://schemas.openxmlformats.org/officeDocument/2006/relationships/image" Target="/ppt/media/image2.png" Id="R0d127a8be3db486e" /><Relationship Type="http://schemas.openxmlformats.org/officeDocument/2006/relationships/notesSlide" Target="/ppt/notesSlides/notesSlide3.xml" Id="Rc66db6bff61041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0264ada2946bf" /><Relationship Type="http://schemas.openxmlformats.org/officeDocument/2006/relationships/image" Target="/ppt/media/image2.png" Id="R44588bdd076a431e" /><Relationship Type="http://schemas.openxmlformats.org/officeDocument/2006/relationships/notesSlide" Target="/ppt/notesSlides/notesSlide4.xml" Id="Rbe39390cf4ad4d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57cd7993f4fa1" /><Relationship Type="http://schemas.openxmlformats.org/officeDocument/2006/relationships/image" Target="/ppt/media/image2.png" Id="R713834ef305a4c4a" /><Relationship Type="http://schemas.openxmlformats.org/officeDocument/2006/relationships/notesSlide" Target="/ppt/notesSlides/notesSlide5.xml" Id="Rf501e015c6fd4b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e3476548c431a" /><Relationship Type="http://schemas.openxmlformats.org/officeDocument/2006/relationships/image" Target="/ppt/media/image3.png" Id="Rce9aedef239a47bb" /><Relationship Type="http://schemas.openxmlformats.org/officeDocument/2006/relationships/image" Target="/ppt/media/image2.png" Id="Rda2b6472142e47ba" /><Relationship Type="http://schemas.openxmlformats.org/officeDocument/2006/relationships/notesSlide" Target="/ppt/notesSlides/notesSlide6.xml" Id="Rb5b4236a795743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a5385c2a44a75" /><Relationship Type="http://schemas.openxmlformats.org/officeDocument/2006/relationships/image" Target="/ppt/media/image2.png" Id="R035b710158074e70" /><Relationship Type="http://schemas.openxmlformats.org/officeDocument/2006/relationships/image" Target="/ppt/media/image.jpeg" Id="R96ca6e6c33964ddc" /><Relationship Type="http://schemas.openxmlformats.org/officeDocument/2006/relationships/notesSlide" Target="/ppt/notesSlides/notesSlide7.xml" Id="R711772ddb17e46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6365980cd40bc" /><Relationship Type="http://schemas.openxmlformats.org/officeDocument/2006/relationships/image" Target="/ppt/media/image2.png" Id="Rca477bb39e924d80" /><Relationship Type="http://schemas.openxmlformats.org/officeDocument/2006/relationships/image" Target="/ppt/media/image2.jpeg" Id="R81f45c1ede58446c" /><Relationship Type="http://schemas.openxmlformats.org/officeDocument/2006/relationships/notesSlide" Target="/ppt/notesSlides/notesSlide8.xml" Id="R665f4750919844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5101eca562436d" /><Relationship Type="http://schemas.openxmlformats.org/officeDocument/2006/relationships/image" Target="/ppt/media/image2.png" Id="R296d34cb36a2496b" /><Relationship Type="http://schemas.openxmlformats.org/officeDocument/2006/relationships/image" Target="/ppt/media/image3.jpeg" Id="R044a0f5e892a45e3" /><Relationship Type="http://schemas.openxmlformats.org/officeDocument/2006/relationships/notesSlide" Target="/ppt/notesSlides/notesSlide9.xml" Id="R4aa8654727cf4d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2ef334fa4f92" /><Relationship Type="http://schemas.openxmlformats.org/officeDocument/2006/relationships/image" Target="/ppt/media/image2.png" Id="Rdb4d5f894d014aed" /><Relationship Type="http://schemas.openxmlformats.org/officeDocument/2006/relationships/image" Target="/ppt/media/image4.jpeg" Id="R190382fa3168429f" /><Relationship Type="http://schemas.openxmlformats.org/officeDocument/2006/relationships/notesSlide" Target="/ppt/notesSlides/notesSlide10.xml" Id="Rd4461a11b4dd48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510d97ebe4ea8" /><Relationship Type="http://schemas.openxmlformats.org/officeDocument/2006/relationships/image" Target="/ppt/media/image2.png" Id="R3447d6523fee4099" /><Relationship Type="http://schemas.openxmlformats.org/officeDocument/2006/relationships/notesSlide" Target="/ppt/notesSlides/notesSlide11.xml" Id="R1e5bac506e184fd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45afe4aa7442c" /><Relationship Type="http://schemas.openxmlformats.org/officeDocument/2006/relationships/image" Target="/ppt/media/image3.png" Id="R004203f6e8ef4519" /><Relationship Type="http://schemas.openxmlformats.org/officeDocument/2006/relationships/image" Target="/ppt/media/image2.png" Id="R79a2c0c0755b47f3" /><Relationship Type="http://schemas.openxmlformats.org/officeDocument/2006/relationships/notesSlide" Target="/ppt/notesSlides/notesSlide12.xml" Id="R304104ce97c14c0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d2ef06e334ed4"/>
          <a:srcRect xmlns:a="http://schemas.openxmlformats.org/drawingml/2006/main" l="0" t="-400" r="0" b="-400"/>
          <a:stretch xmlns:a="http://schemas.openxmlformats.org/drawingml/2006/main"/>
        </p:blipFill>
        <p:spPr>
          <a:xfrm xmlns:a="http://schemas.openxmlformats.org/drawingml/2006/main">
            <a:off x="1154116" y="2514600"/>
            <a:ext cx="457200" cy="19202"/>
          </a:xfrm>
          <a:prstGeom xmlns:a="http://schemas.openxmlformats.org/drawingml/2006/main" prst="rect">
            <a:avLst/>
          </a:prstGeom>
        </p:spPr>
      </p:pic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e4272e9dc40f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588BFF-A375-4EE5-86EC-882455C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TAP USER GUIDE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A6555D4-4FC0-43F5-89EA-710ADBB5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33195"/>
            <a:ext cx="571500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rPr>
              <a:t>회원사 무료 업무행동 진단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F94598D-D2EA-447C-A288-E759C5A6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1485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"/>
              </a:spcAft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3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 빠른 사용설명서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54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진단 결과를 교육의 다음 행동으로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1895F6A-EFDF-4122-8361-5A1B7C55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7239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교육담당자 · 임직원 · KMA 운영자  |  2026.08</a:t>
            </a: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3249269-3EBF-411F-9214-578C112E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886054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이해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98378CE-77A5-42F4-9386-8900A1B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32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7827250-D715-47E9-BF85-D371494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7239305"/>
            <a:ext cx="109545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사용 순서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B004A06-9C22-4464-A98C-947C74A7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203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355592F-483C-412C-AFF7-1A7C1D0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7239305"/>
            <a:ext cx="48646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버튼 안내</a:t>
            </a:r>
          </a:p>
        </p:txBody>
      </p:sp>
    </p:spTree>
    <p:extLst>
      <p:ext uri="{BB962C8B-B14F-4D97-AF65-F5344CB8AC3E}">
        <p14:creationId xmlns:p14="http://schemas.microsoft.com/office/powerpoint/2010/main" val="1197576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7aae613b245cd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FA59CA-2888-E92C-D36A-7C087629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762061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TAP은 점수를 매기는 도구가 아니라,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다음 행동을 정하는 도구입니다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F01E7FD-710D-70CA-AB54-FFD4CBA4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최근 8주의 실제 업무행동을 확인해 개인에게는 개발 방향을,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조직에는 공통 교육수요를 제공합니다.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979613-820C-68B0-3020-76B2B00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F477ABB-A118-6E27-2F73-2B9EDE1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패턴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B672A9E-C4D6-5620-194E-059E6E4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행동빈도와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개발 후보 확인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0188F215-E8C2-D2C2-6890-A9D7E20D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02773F1-F230-E5B7-AB67-E3B93F9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교육수요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2620C19-402F-1A79-B79C-487B4E6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N≥5 익명 집계와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목표격차 확인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33D5E3-3E55-FA73-07C8-351FBE3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C86F90E-30AA-F6C6-C349-5ACAB495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 행동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56088DD1-10B8-BAE8-4A3D-AB14DA41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또는 조직환경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개선 결정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6E0A1F2-D7C3-2D5B-5BB7-AD6A734A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02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CDD74CE-8565-9840-73F8-F32FDA4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4">
            <a:extLst xmlns:a="http://schemas.openxmlformats.org/drawingml/2006/main">
              <a:ext uri="{FF2B5EF4-FFF2-40B4-BE49-F238E27FC236}">
                <a16:creationId xmlns:a16="http://schemas.microsoft.com/office/drawing/2014/main" id="{2921C518-2F6B-707E-1DAC-2C05193F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D81AE81-1ADF-EC5B-0BB4-A65E6644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1638701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SERVICE SUMMARY</a:t>
            </a:r>
          </a:p>
        </p:txBody>
      </p:sp>
    </p:spTree>
    <p:extLst>
      <p:ext uri="{BB962C8B-B14F-4D97-AF65-F5344CB8AC3E}">
        <p14:creationId xmlns:p14="http://schemas.microsoft.com/office/powerpoint/2010/main" val="16823617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 0">
            <a:extLst xmlns:a="http://schemas.openxmlformats.org/drawingml/2006/main">
              <a:ext uri="{FF2B5EF4-FFF2-40B4-BE49-F238E27FC236}">
                <a16:creationId xmlns:a16="http://schemas.microsoft.com/office/drawing/2014/main" id="{EDC866E3-24F5-49DE-AD0B-5E6E8D8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7C3B50-DC20-4F8A-B5CC-3156A33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5695" y="1714500"/>
            <a:ext cx="7239305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27a8be3db486e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F889484-E45F-4FEE-BEAA-0F19B096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43759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ROLE &amp; ACCESS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800BFA6-B5DA-4B8B-8072-6FE99AD7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0010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세 역할은 서로 다른 화면과</a:t>
            </a:r>
            <a:endParaRPr sz="4800">
              <a:solidFill>
                <a:srgbClr val="0A0E10"/>
              </a:solidFill>
              <a:latin typeface="페이퍼로지 2 ExtraLight"/>
              <a:ea typeface="페이퍼로지 2 ExtraLight"/>
              <a:cs typeface="페이퍼로지 2 ExtraLight"/>
            </a:endParaRP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데이터만 봅니다</a:t>
            </a:r>
            <a:endParaRPr sz="4800">
              <a:solidFill>
                <a:srgbClr val="0A0E10"/>
              </a:solidFill>
              <a:latin typeface="페이퍼로지 6 SemiBold"/>
              <a:ea typeface="페이퍼로지 6 SemiBold"/>
              <a:cs typeface="페이퍼로지 6 SemiBold"/>
            </a:endParaR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9084758-1CD5-4C2D-8E2D-0F5EF636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역할 전환에서 내 역할을 고르면 필요한 메뉴만 표시됩니다.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D5AB2B7-DC51-4B74-9025-5A22A78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8C38AD6-6B0F-4B1B-9621-8BFBA7DA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A1CE548-484D-4A33-9ED7-2E464BA0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· 조직집계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FAF3B7E-D856-4CE0-979E-3C20F8F1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020F00B-53B8-4678-BEC1-E0267DE4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임직원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42C3DDD-61D8-405A-BD62-70ABE0E5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내 응답 · 내 리포트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82429BE4-CDA5-4001-A698-E2180F1F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5E2A1D7-74E9-4087-BC3E-73178F2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운영자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C530BDB-D51B-4622-AEB9-DB0AAA7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버전 · 문항 · 과정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0FB7444-4885-4E76-8E01-B6ABBAE6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07BC6A3-AD8A-496B-A61D-5B304433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공통 원칙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D8A459E-A2D9-4E3E-94FE-C42BF67D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개인정보 최소 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71015A9-AF87-4399-A204-FADF0CD7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03</a:t>
            </a:r>
          </a:p>
        </p:txBody>
      </p:sp>
      <p:sp>
        <p:nvSpPr>
          <p:cNvPr id="30" name="Text 4">
            <a:extLst xmlns:a="http://schemas.openxmlformats.org/drawingml/2006/main">
              <a:ext uri="{FF2B5EF4-FFF2-40B4-BE49-F238E27FC236}">
                <a16:creationId xmlns:a16="http://schemas.microsoft.com/office/drawing/2014/main" id="{EB6CD4AC-0BA3-CCDE-E960-058897DF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7074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32" name="concept-flow-1">
            <a:extLst xmlns:a="http://schemas.openxmlformats.org/drawingml/2006/main">
              <a:ext uri="{FF2B5EF4-FFF2-40B4-BE49-F238E27FC236}">
                <a16:creationId xmlns:a16="http://schemas.microsoft.com/office/drawing/2014/main" id="{717CD388-9B7B-4143-8144-38D00D7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concept-flow-2">
            <a:extLst xmlns:a="http://schemas.openxmlformats.org/drawingml/2006/main">
              <a:ext uri="{FF2B5EF4-FFF2-40B4-BE49-F238E27FC236}">
                <a16:creationId xmlns:a16="http://schemas.microsoft.com/office/drawing/2014/main" id="{EAD99F34-9C65-45AF-B900-84DB2C5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concept-badge">
            <a:extLst xmlns:a="http://schemas.openxmlformats.org/drawingml/2006/main">
              <a:ext uri="{FF2B5EF4-FFF2-40B4-BE49-F238E27FC236}">
                <a16:creationId xmlns:a16="http://schemas.microsoft.com/office/drawing/2014/main" id="{A2B430A5-542F-4F96-849E-393283C2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262024"/>
            <a:ext cx="2667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7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역할별 화면 · 접근 분리</a:t>
            </a:r>
          </a:p>
        </p:txBody>
      </p:sp>
      <p:sp>
        <p:nvSpPr>
          <p:cNvPr id="35" name="concept-a">
            <a:extLst xmlns:a="http://schemas.openxmlformats.org/drawingml/2006/main">
              <a:ext uri="{FF2B5EF4-FFF2-40B4-BE49-F238E27FC236}">
                <a16:creationId xmlns:a16="http://schemas.microsoft.com/office/drawing/2014/main" id="{4913A229-4B0F-49E1-AD0D-040DBCD6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운영</a:t>
            </a:r>
          </a:p>
        </p:txBody>
      </p:sp>
      <p:sp>
        <p:nvSpPr>
          <p:cNvPr id="36" name="concept-b">
            <a:extLst xmlns:a="http://schemas.openxmlformats.org/drawingml/2006/main">
              <a:ext uri="{FF2B5EF4-FFF2-40B4-BE49-F238E27FC236}">
                <a16:creationId xmlns:a16="http://schemas.microsoft.com/office/drawing/2014/main" id="{0C0ADA75-9D8F-485A-AFFB-44A12F4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임직원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본인 결과</a:t>
            </a:r>
          </a:p>
        </p:txBody>
      </p:sp>
      <p:sp>
        <p:nvSpPr>
          <p:cNvPr id="37" name="concept-ab">
            <a:extLst xmlns:a="http://schemas.openxmlformats.org/drawingml/2006/main">
              <a:ext uri="{FF2B5EF4-FFF2-40B4-BE49-F238E27FC236}">
                <a16:creationId xmlns:a16="http://schemas.microsoft.com/office/drawing/2014/main" id="{A6F7D5E1-03AC-4618-A7BC-7F6748D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운영자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도구 품질</a:t>
            </a:r>
          </a:p>
        </p:txBody>
      </p:sp>
      <p:sp>
        <p:nvSpPr>
          <p:cNvPr id="38" name="concept-result-a">
            <a:extLst xmlns:a="http://schemas.openxmlformats.org/drawingml/2006/main">
              <a:ext uri="{FF2B5EF4-FFF2-40B4-BE49-F238E27FC236}">
                <a16:creationId xmlns:a16="http://schemas.microsoft.com/office/drawing/2014/main" id="{D308B340-70F6-40D2-B87F-2B77ED5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N≥5 집계</a:t>
            </a:r>
          </a:p>
        </p:txBody>
      </p:sp>
      <p:sp>
        <p:nvSpPr>
          <p:cNvPr id="39" name="concept-result-b">
            <a:extLst xmlns:a="http://schemas.openxmlformats.org/drawingml/2006/main">
              <a:ext uri="{FF2B5EF4-FFF2-40B4-BE49-F238E27FC236}">
                <a16:creationId xmlns:a16="http://schemas.microsoft.com/office/drawing/2014/main" id="{2C67017C-0697-481B-A615-F01504C4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공유는 선택</a:t>
            </a:r>
          </a:p>
        </p:txBody>
      </p:sp>
      <p:sp>
        <p:nvSpPr>
          <p:cNvPr id="40" name="concept-result-ab">
            <a:extLst xmlns:a="http://schemas.openxmlformats.org/drawingml/2006/main">
              <a:ext uri="{FF2B5EF4-FFF2-40B4-BE49-F238E27FC236}">
                <a16:creationId xmlns:a16="http://schemas.microsoft.com/office/drawing/2014/main" id="{79A65F2B-A3FB-4CFC-84B5-E8FBBFF2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점수 미열람</a:t>
            </a:r>
          </a:p>
        </p:txBody>
      </p:sp>
      <p:sp>
        <p:nvSpPr>
          <p:cNvPr id="41" name="concept-month-1">
            <a:extLst xmlns:a="http://schemas.openxmlformats.org/drawingml/2006/main">
              <a:ext uri="{FF2B5EF4-FFF2-40B4-BE49-F238E27FC236}">
                <a16:creationId xmlns:a16="http://schemas.microsoft.com/office/drawing/2014/main" id="{7F624207-AA90-48B2-9A90-37E6FF8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3574"/>
            <a:ext cx="3714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교육담당자 · 임직원</a:t>
            </a:r>
          </a:p>
        </p:txBody>
      </p:sp>
      <p:sp>
        <p:nvSpPr>
          <p:cNvPr id="42" name="concept-month-2">
            <a:extLst xmlns:a="http://schemas.openxmlformats.org/drawingml/2006/main">
              <a:ext uri="{FF2B5EF4-FFF2-40B4-BE49-F238E27FC236}">
                <a16:creationId xmlns:a16="http://schemas.microsoft.com/office/drawing/2014/main" id="{E967CC4D-5CCF-4290-8FF2-C83C7CD6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4233574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KMA</a:t>
            </a:r>
          </a:p>
        </p:txBody>
      </p:sp>
    </p:spTree>
    <p:extLst>
      <p:ext uri="{BB962C8B-B14F-4D97-AF65-F5344CB8AC3E}">
        <p14:creationId xmlns:p14="http://schemas.microsoft.com/office/powerpoint/2010/main" val="11246306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hape 0">
            <a:extLst xmlns:a="http://schemas.openxmlformats.org/drawingml/2006/main">
              <a:ext uri="{FF2B5EF4-FFF2-40B4-BE49-F238E27FC236}">
                <a16:creationId xmlns:a16="http://schemas.microsoft.com/office/drawing/2014/main" id="{171F3167-D0F6-A154-3969-882D538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910152-35D2-44BA-B745-A951087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88bdd076a431e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01D4990-29A3-4468-AD6C-B50C06EA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66860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RESULT USE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0474DB0-9A5B-4CE3-AE6B-55D4443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결과는 교육과 조직개선 중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무엇이 필요한지 가르는 데 씁니다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3CA359B-CBBA-44AE-9F0B-F927929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낮은 점수만으로 교육을 추천하지 않습니다.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업무환경 · 권한 · 도구 · 프로세스를 함께 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EB2A4FA-C378-46BA-9B70-8E96629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71020C2-BC00-4FEB-868A-A7DDB966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96051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리포트 · 본인의 행동 패턴 확인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AD8DDF0-7039-4E27-8B11-2D413AA2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58154"/>
            <a:ext cx="8287207" cy="277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행동빈도 · 개발 후보 · 과정 검토 우선순위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51D52D4-BF9F-4AEC-A9D4-540643CD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48195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D8F7B3A-A440-4EC2-98B6-B68C90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리포트 · 공통 교육수요 확인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A2EB170-DEF1-4950-BC23-6D00056C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현재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F0B1C30-E9DC-4507-A357-EFB59F4E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조직 평균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774F5C4-63C0-4BB8-9997-93CEC47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비교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54549F4-E392-4989-B19C-6113A80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목표 격차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E03D512-C8BF-4877-ADFC-96AA180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판단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50766F9-1E33-49C8-A166-FE4CD03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· 환경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D20431E-E24E-4484-AEB4-E8CEB73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공개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66938FE-E18C-48A1-9545-991822C1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N≥5 집계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304613-E79C-40DC-BC1B-D2BDFA92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62695"/>
            <a:ext cx="82872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시스템 요인이 주원인이면 교육 추천을 중단하고 조직개선을 먼저 검토합니다.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F9198117-1B7C-4488-A0A9-1F9A268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04</a:t>
            </a:r>
          </a:p>
        </p:txBody>
      </p:sp>
      <p:sp>
        <p:nvSpPr>
          <p:cNvPr id="39" name="Text 4">
            <a:extLst xmlns:a="http://schemas.openxmlformats.org/drawingml/2006/main">
              <a:ext uri="{FF2B5EF4-FFF2-40B4-BE49-F238E27FC236}">
                <a16:creationId xmlns:a16="http://schemas.microsoft.com/office/drawing/2014/main" id="{622A1526-965E-A627-17A6-4B5087A2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7579" y="900326"/>
            <a:ext cx="177393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41" name="product-annual-line">
            <a:extLst xmlns:a="http://schemas.openxmlformats.org/drawingml/2006/main">
              <a:ext uri="{FF2B5EF4-FFF2-40B4-BE49-F238E27FC236}">
                <a16:creationId xmlns:a16="http://schemas.microsoft.com/office/drawing/2014/main" id="{B82F41F6-AE80-4DA9-9F68-9385B2E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76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product-theme-line">
            <a:extLst xmlns:a="http://schemas.openxmlformats.org/drawingml/2006/main">
              <a:ext uri="{FF2B5EF4-FFF2-40B4-BE49-F238E27FC236}">
                <a16:creationId xmlns:a16="http://schemas.microsoft.com/office/drawing/2014/main" id="{B13F3F1A-3F16-4DF9-BB84-AE79B261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1912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product-badge">
            <a:extLst xmlns:a="http://schemas.openxmlformats.org/drawingml/2006/main">
              <a:ext uri="{FF2B5EF4-FFF2-40B4-BE49-F238E27FC236}">
                <a16:creationId xmlns:a16="http://schemas.microsoft.com/office/drawing/2014/main" id="{3760D9C3-F3F9-490A-BE76-9018B51F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571750"/>
            <a:ext cx="266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6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결과 해석의 두 갈래</a:t>
            </a:r>
          </a:p>
        </p:txBody>
      </p:sp>
      <p:sp>
        <p:nvSpPr>
          <p:cNvPr id="44" name="product-week-1회차">
            <a:extLst xmlns:a="http://schemas.openxmlformats.org/drawingml/2006/main">
              <a:ext uri="{FF2B5EF4-FFF2-40B4-BE49-F238E27FC236}">
                <a16:creationId xmlns:a16="http://schemas.microsoft.com/office/drawing/2014/main" id="{913EB834-8A3F-46C3-A5AF-4239B34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개인</a:t>
            </a:r>
          </a:p>
        </p:txBody>
      </p:sp>
      <p:sp>
        <p:nvSpPr>
          <p:cNvPr id="45" name="product-week-2회차">
            <a:extLst xmlns:a="http://schemas.openxmlformats.org/drawingml/2006/main">
              <a:ext uri="{FF2B5EF4-FFF2-40B4-BE49-F238E27FC236}">
                <a16:creationId xmlns:a16="http://schemas.microsoft.com/office/drawing/2014/main" id="{22583FA1-351B-4078-810F-BA5ECE2A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조직</a:t>
            </a:r>
          </a:p>
        </p:txBody>
      </p:sp>
      <p:sp>
        <p:nvSpPr>
          <p:cNvPr id="46" name="product-week-3회차">
            <a:extLst xmlns:a="http://schemas.openxmlformats.org/drawingml/2006/main">
              <a:ext uri="{FF2B5EF4-FFF2-40B4-BE49-F238E27FC236}">
                <a16:creationId xmlns:a16="http://schemas.microsoft.com/office/drawing/2014/main" id="{1DA250B1-DC53-40ED-AD75-C55B993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결정</a:t>
            </a:r>
          </a:p>
        </p:txBody>
      </p:sp>
      <p:sp>
        <p:nvSpPr>
          <p:cNvPr id="47" name="product-annual-label">
            <a:extLst xmlns:a="http://schemas.openxmlformats.org/drawingml/2006/main">
              <a:ext uri="{FF2B5EF4-FFF2-40B4-BE49-F238E27FC236}">
                <a16:creationId xmlns:a16="http://schemas.microsoft.com/office/drawing/2014/main" id="{D2F84F77-15D2-4019-985F-C148DA6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0481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리포트</a:t>
            </a:r>
          </a:p>
        </p:txBody>
      </p:sp>
      <p:sp>
        <p:nvSpPr>
          <p:cNvPr id="48" name="product-theme-label">
            <a:extLst xmlns:a="http://schemas.openxmlformats.org/drawingml/2006/main">
              <a:ext uri="{FF2B5EF4-FFF2-40B4-BE49-F238E27FC236}">
                <a16:creationId xmlns:a16="http://schemas.microsoft.com/office/drawing/2014/main" id="{73C35CB7-594D-4761-9194-430E0566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57626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행동</a:t>
            </a:r>
          </a:p>
        </p:txBody>
      </p:sp>
      <p:sp>
        <p:nvSpPr>
          <p:cNvPr id="49" name="annual-A">
            <a:extLst xmlns:a="http://schemas.openxmlformats.org/drawingml/2006/main">
              <a:ext uri="{FF2B5EF4-FFF2-40B4-BE49-F238E27FC236}">
                <a16:creationId xmlns:a16="http://schemas.microsoft.com/office/drawing/2014/main" id="{3E0747A5-2467-4FCF-A3AE-B07303EE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행동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패턴</a:t>
            </a:r>
          </a:p>
        </p:txBody>
      </p:sp>
      <p:sp>
        <p:nvSpPr>
          <p:cNvPr id="50" name="theme-A">
            <a:extLst xmlns:a="http://schemas.openxmlformats.org/drawingml/2006/main">
              <a:ext uri="{FF2B5EF4-FFF2-40B4-BE49-F238E27FC236}">
                <a16:creationId xmlns:a16="http://schemas.microsoft.com/office/drawing/2014/main" id="{CA249E1C-D3E3-49DE-9559-039A8241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과정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검토</a:t>
            </a:r>
          </a:p>
        </p:txBody>
      </p:sp>
      <p:sp>
        <p:nvSpPr>
          <p:cNvPr id="51" name="annual-B">
            <a:extLst xmlns:a="http://schemas.openxmlformats.org/drawingml/2006/main">
              <a:ext uri="{FF2B5EF4-FFF2-40B4-BE49-F238E27FC236}">
                <a16:creationId xmlns:a16="http://schemas.microsoft.com/office/drawing/2014/main" id="{524F543A-20B4-4A6D-BC7D-F7835365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공통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수요</a:t>
            </a:r>
          </a:p>
        </p:txBody>
      </p:sp>
      <p:sp>
        <p:nvSpPr>
          <p:cNvPr id="52" name="theme-B">
            <a:extLst xmlns:a="http://schemas.openxmlformats.org/drawingml/2006/main">
              <a:ext uri="{FF2B5EF4-FFF2-40B4-BE49-F238E27FC236}">
                <a16:creationId xmlns:a16="http://schemas.microsoft.com/office/drawing/2014/main" id="{ED8BD520-A6CF-436B-AB1A-A4465F5F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교육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계획</a:t>
            </a:r>
          </a:p>
        </p:txBody>
      </p:sp>
      <p:sp>
        <p:nvSpPr>
          <p:cNvPr id="53" name="annual-A+B">
            <a:extLst xmlns:a="http://schemas.openxmlformats.org/drawingml/2006/main">
              <a:ext uri="{FF2B5EF4-FFF2-40B4-BE49-F238E27FC236}">
                <a16:creationId xmlns:a16="http://schemas.microsoft.com/office/drawing/2014/main" id="{0FD316B6-4539-49B5-87E1-DDF9631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원인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확인</a:t>
            </a:r>
          </a:p>
        </p:txBody>
      </p:sp>
      <p:sp>
        <p:nvSpPr>
          <p:cNvPr id="54" name="theme-A+B">
            <a:extLst xmlns:a="http://schemas.openxmlformats.org/drawingml/2006/main">
              <a:ext uri="{FF2B5EF4-FFF2-40B4-BE49-F238E27FC236}">
                <a16:creationId xmlns:a16="http://schemas.microsoft.com/office/drawing/2014/main" id="{67D05F8C-4624-454C-97BA-E6F20C96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환경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개선</a:t>
            </a:r>
          </a:p>
        </p:txBody>
      </p:sp>
      <p:sp>
        <p:nvSpPr>
          <p:cNvPr id="55" name="product-benefit">
            <a:extLst xmlns:a="http://schemas.openxmlformats.org/drawingml/2006/main">
              <a:ext uri="{FF2B5EF4-FFF2-40B4-BE49-F238E27FC236}">
                <a16:creationId xmlns:a16="http://schemas.microsoft.com/office/drawing/2014/main" id="{0C6965AD-0789-46DC-B44E-F64BBF73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7334250"/>
            <a:ext cx="4381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개인 순위가 아니라 다음 행동을 정하는 진단</a:t>
            </a:r>
          </a:p>
        </p:txBody>
      </p:sp>
    </p:spTree>
    <p:extLst>
      <p:ext uri="{BB962C8B-B14F-4D97-AF65-F5344CB8AC3E}">
        <p14:creationId xmlns:p14="http://schemas.microsoft.com/office/powerpoint/2010/main" val="11097139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3834ef305a4c4a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개인순위 · 인사평가 ·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소수집단 공개는 하지 않습니다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교육개발용 자기보고 진단입니다. 아래 여섯 가지 경계를 지켜 사용합니다.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개인순위 없음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백분위 · 규준 아님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인사평가 금지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채용 · 승진 · 보상 금지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공유는 선택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본인 동의 필요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소수집단 보호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실데이터 금지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공개 데모는 세션 저장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실증 전 단계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인지면접 · 파일럿 필요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05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SAFE USE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E36D6B-AAE7-4745-BBE8-7F3E095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805" y="1524305"/>
            <a:ext cx="5905195" cy="742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aedef239a47b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b6472142e47ba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실제 사용은 네 단계로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끝납니다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앞부분의 원칙을 이해했다면, 이제 아래 순서만 따라가면 됩니다.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프로젝트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대상 · 기간 · 역량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행동 응답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최근 8주 · 1~5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개인 결과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본인 패턴 확인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조직 집계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N≥5 익명 결과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원인 확인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 · 환경 구분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 행동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과정 또는 개선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06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234134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HOW IT WORKS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PROCESS</a:t>
            </a:r>
          </a:p>
        </p:txBody>
      </p:sp>
      <p:sp>
        <p:nvSpPr>
          <p:cNvPr id="53" name="journey-orbit">
            <a:extLst xmlns:a="http://schemas.openxmlformats.org/drawingml/2006/main">
              <a:ext uri="{FF2B5EF4-FFF2-40B4-BE49-F238E27FC236}">
                <a16:creationId xmlns:a16="http://schemas.microsoft.com/office/drawing/2014/main" id="{BE1C8383-40D3-45B9-83F5-153EABFD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57500"/>
            <a:ext cx="5048250" cy="514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7D9D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journey-a-card">
            <a:extLst xmlns:a="http://schemas.openxmlformats.org/drawingml/2006/main">
              <a:ext uri="{FF2B5EF4-FFF2-40B4-BE49-F238E27FC236}">
                <a16:creationId xmlns:a16="http://schemas.microsoft.com/office/drawing/2014/main" id="{80A3C995-7464-4B56-940C-C5C7327C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8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1. 설정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교육담당자</a:t>
            </a:r>
          </a:p>
        </p:txBody>
      </p:sp>
      <p:sp>
        <p:nvSpPr>
          <p:cNvPr id="55" name="journey-b-card">
            <a:extLst xmlns:a="http://schemas.openxmlformats.org/drawingml/2006/main">
              <a:ext uri="{FF2B5EF4-FFF2-40B4-BE49-F238E27FC236}">
                <a16:creationId xmlns:a16="http://schemas.microsoft.com/office/drawing/2014/main" id="{B01C52AA-9481-4E17-8479-B9E602CF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2. 응답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임직원</a:t>
            </a:r>
          </a:p>
        </p:txBody>
      </p:sp>
      <p:sp>
        <p:nvSpPr>
          <p:cNvPr id="56" name="journey-hub">
            <a:extLst xmlns:a="http://schemas.openxmlformats.org/drawingml/2006/main">
              <a:ext uri="{FF2B5EF4-FFF2-40B4-BE49-F238E27FC236}">
                <a16:creationId xmlns:a16="http://schemas.microsoft.com/office/drawing/2014/main" id="{5DD05311-937C-4606-8996-474A450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667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TAP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4단계 사용</a:t>
            </a:r>
          </a:p>
        </p:txBody>
      </p:sp>
      <p:sp>
        <p:nvSpPr>
          <p:cNvPr id="57" name="journey-ab-card">
            <a:extLst xmlns:a="http://schemas.openxmlformats.org/drawingml/2006/main">
              <a:ext uri="{FF2B5EF4-FFF2-40B4-BE49-F238E27FC236}">
                <a16:creationId xmlns:a16="http://schemas.microsoft.com/office/drawing/2014/main" id="{6BB557C9-D1B7-4AE7-9DB1-2E871989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858000"/>
            <a:ext cx="180975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3–4. 결과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해석 · 결정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b710158074e70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EDUCATION MANAGER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교육담당자는 프로젝트를 구성한 뒤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참여 화면을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진단 프로젝트에서 기본정보 · 역량 · 임시 목표 · 추천조건을 한 번에 저장합니다.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입력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프로젝트명 · 대상 · 기간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기본 + 선택역량 최대 4개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목표 · 우선역량 · 격차 원인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핵심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새 프로젝트 만들기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설정 저장 후 참여자 화면 확인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참여자 미리보기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07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ca6e6c33964dd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0668286" y="2095786"/>
            <a:ext cx="6096286" cy="64767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477bb39e924d80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EMPLOYEE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임직원은 최근 8주 행동에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한 문항씩 답합니다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좋아 보이는 답이 아니라 실제 행동 빈도를 선택합니다. 수행 기회 없음은 미응답과 다르게 처리됩니다.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수행 기회 없음 또는 1~5 선택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저장하고 다음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마지막 문항에서 결과 보기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보조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이전 문항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진단 초기화 → 초기화 확인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내 리포트 · 과정 확인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08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45c1ede58446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0668286" y="2095786"/>
            <a:ext cx="6096286" cy="64767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d34cb36a2496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ORGANIZATION REPORT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익명 CSV를 올리면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A4 조직 리포트가 완성됩니다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업로드가 없으면 예시 데이터가 표시됩니다. 실제 개인정보 · 기밀자료는 공개 데모에 올리지 마세요.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준비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CSV 양식 내려받기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필수 7열로 익명 결과 작성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익명 조직결과 CSV 업로드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출력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인쇄용 리포트 HTML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상세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집계 검수표 보기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09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a0f5e892a45e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0668286" y="2095786"/>
            <a:ext cx="6096286" cy="64767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d5f894d014aed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OPERATOR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KMA 운영자는 회원사 점수가 아니라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도구 품질을 관리합니다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문항 버전 · 검수상태 · 과정 매핑 · 감사로그를 관리하며 개인 · 조직 점수는 기본 열람하지 않습니다.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검수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KMA 대시보드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문항은행 · 검수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모듈군 · 원문 판정 필터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내려받기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필터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파일럿 후보 CSV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10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0382fa3168429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0668286" y="2095786"/>
            <a:ext cx="6096286" cy="64767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7d6523fee4099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기타 버튼은 목적에 따라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여섯 묶음으로 보면 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자주 찾는 버튼만 모았습니다. 세부 순서는 앞선 역할별 화면을 따르세요.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시작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처음 사용 안내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새 프로젝트 만들기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이동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설정 열기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진단 참여 화면 열기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저장하고 다음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이전 문항 · 진단 초기화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결과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과정 확인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결과 JSON · 결과 CSV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결과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CSV 양식 · 리포트 HTML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상세 결과 CSV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필터 · 파일럿 후보 CSV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11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BUTTON REFERENCE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32209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203f6e8ef4519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a2c0c0755b47f3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역할을 고르고 첫 버튼 하나만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누르면 시작됩니다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막히면 ‘처음 사용 안내’로 돌아오고, 아래 순서대로 상태를 확인하세요.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새 프로젝트 만들기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임직원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진단 참여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운영자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대시보드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프로젝트 없음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설정으로 이동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결과 없음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응답 완료 여부 확인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CSV 오류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필수 7열 · 버전 확인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12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0326"/>
            <a:ext cx="196509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QUICK START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2026-08-12T05:43:29.3890000Z</dcterms:created>
  <dcterms:modified xsi:type="dcterms:W3CDTF">2026-08-12T05:43:29.3890000Z</dcterms:modified>
</coreProperties>
</file>
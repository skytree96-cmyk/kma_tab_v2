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64475cd59e4817" /><Relationship Type="http://schemas.openxmlformats.org/officeDocument/2006/relationships/extended-properties" Target="/docProps/app.xml" Id="R6bfe8452e1f64e9f" /><Relationship Type="http://schemas.openxmlformats.org/officeDocument/2006/relationships/officeDocument" Target="/ppt/presentation.xml" Id="Rdb2a1cc25108425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4059f06efc5e4776"/>
  </p:sldMasterIdLst>
  <p:notesMasterIdLst>
    <p:notesMasterId xmlns:r="http://schemas.openxmlformats.org/officeDocument/2006/relationships" r:id="R02a3d6bbaefe4a28"/>
  </p:notesMasterIdLst>
  <p:sldIdLst>
    <p:sldId xmlns:r="http://schemas.openxmlformats.org/officeDocument/2006/relationships" id="256" r:id="R2dde065a6804468a"/>
    <p:sldId xmlns:r="http://schemas.openxmlformats.org/officeDocument/2006/relationships" id="257" r:id="Rb95aa0dba7e34986"/>
    <p:sldId xmlns:r="http://schemas.openxmlformats.org/officeDocument/2006/relationships" id="258" r:id="R1172f940d2b94601"/>
    <p:sldId xmlns:r="http://schemas.openxmlformats.org/officeDocument/2006/relationships" id="259" r:id="Rf1e23ed4a5cd4e85"/>
    <p:sldId xmlns:r="http://schemas.openxmlformats.org/officeDocument/2006/relationships" id="260" r:id="Rc8e6b171ca67454b"/>
    <p:sldId xmlns:r="http://schemas.openxmlformats.org/officeDocument/2006/relationships" id="261" r:id="Rc710130561f5414a"/>
    <p:sldId xmlns:r="http://schemas.openxmlformats.org/officeDocument/2006/relationships" id="262" r:id="Rb32e22bf54a3453c"/>
    <p:sldId xmlns:r="http://schemas.openxmlformats.org/officeDocument/2006/relationships" id="263" r:id="Rc60b960d2eda4ca3"/>
    <p:sldId xmlns:r="http://schemas.openxmlformats.org/officeDocument/2006/relationships" id="264" r:id="R4514318d5d0641cd"/>
    <p:sldId xmlns:r="http://schemas.openxmlformats.org/officeDocument/2006/relationships" id="265" r:id="Rc9165d854c044e94"/>
    <p:sldId xmlns:r="http://schemas.openxmlformats.org/officeDocument/2006/relationships" id="266" r:id="Rbb2e48ceae364851"/>
    <p:sldId xmlns:r="http://schemas.openxmlformats.org/officeDocument/2006/relationships" id="267" r:id="Rc723469750e24c97"/>
  </p:sldIdLst>
  <p:sldSz cx="18288000" cy="10287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40750a2cc9c481f" /><Relationship Type="http://schemas.openxmlformats.org/officeDocument/2006/relationships/slideMaster" Target="/ppt/slideMasters/slideMaster1.xml" Id="R4059f06efc5e4776" /><Relationship Type="http://schemas.openxmlformats.org/officeDocument/2006/relationships/notesMaster" Target="/ppt/notesMasters/notesMaster1.xml" Id="R02a3d6bbaefe4a28" /><Relationship Type="http://schemas.openxmlformats.org/officeDocument/2006/relationships/presProps" Target="/ppt/presProps.xml" Id="R6800669495754225" /><Relationship Type="http://schemas.openxmlformats.org/officeDocument/2006/relationships/viewProps" Target="/ppt/viewProps.xml" Id="R0787f2220f624ff4" /><Relationship Type="http://schemas.openxmlformats.org/officeDocument/2006/relationships/tableStyles" Target="/ppt/tableStyles.xml" Id="R0c7fed27c21d42fd" /><Relationship Type="http://schemas.openxmlformats.org/officeDocument/2006/relationships/slide" Target="/ppt/slides/slide1.xml" Id="R2dde065a6804468a" /><Relationship Type="http://schemas.openxmlformats.org/officeDocument/2006/relationships/slide" Target="/ppt/slides/slide2.xml" Id="Rb95aa0dba7e34986" /><Relationship Type="http://schemas.openxmlformats.org/officeDocument/2006/relationships/slide" Target="/ppt/slides/slide3.xml" Id="R1172f940d2b94601" /><Relationship Type="http://schemas.openxmlformats.org/officeDocument/2006/relationships/slide" Target="/ppt/slides/slide4.xml" Id="Rf1e23ed4a5cd4e85" /><Relationship Type="http://schemas.openxmlformats.org/officeDocument/2006/relationships/slide" Target="/ppt/slides/slide5.xml" Id="Rc8e6b171ca67454b" /><Relationship Type="http://schemas.openxmlformats.org/officeDocument/2006/relationships/slide" Target="/ppt/slides/slide6.xml" Id="Rc710130561f5414a" /><Relationship Type="http://schemas.openxmlformats.org/officeDocument/2006/relationships/slide" Target="/ppt/slides/slide7.xml" Id="Rb32e22bf54a3453c" /><Relationship Type="http://schemas.openxmlformats.org/officeDocument/2006/relationships/slide" Target="/ppt/slides/slide8.xml" Id="Rc60b960d2eda4ca3" /><Relationship Type="http://schemas.openxmlformats.org/officeDocument/2006/relationships/slide" Target="/ppt/slides/slide9.xml" Id="R4514318d5d0641cd" /><Relationship Type="http://schemas.openxmlformats.org/officeDocument/2006/relationships/slide" Target="/ppt/slides/slide10.xml" Id="Rc9165d854c044e94" /><Relationship Type="http://schemas.openxmlformats.org/officeDocument/2006/relationships/slide" Target="/ppt/slides/slide11.xml" Id="Rbb2e48ceae364851" /><Relationship Type="http://schemas.openxmlformats.org/officeDocument/2006/relationships/slide" Target="/ppt/slides/slide12.xml" Id="Rc723469750e24c9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723290c1288e4e77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0328ac0aa5884389" /><Relationship Type="http://schemas.openxmlformats.org/officeDocument/2006/relationships/notesMaster" Target="/ppt/notesMasters/notesMaster1.xml" Id="R24d6c4453c0442a3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0f6e47d593b94a12" /><Relationship Type="http://schemas.openxmlformats.org/officeDocument/2006/relationships/notesMaster" Target="/ppt/notesMasters/notesMaster1.xml" Id="R6f50e9a6f3814b24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96962115948a4f76" /><Relationship Type="http://schemas.openxmlformats.org/officeDocument/2006/relationships/notesMaster" Target="/ppt/notesMasters/notesMaster1.xml" Id="R6e7db4699d814707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8fdf1954192427c" /><Relationship Type="http://schemas.openxmlformats.org/officeDocument/2006/relationships/notesMaster" Target="/ppt/notesMasters/notesMaster1.xml" Id="Rced067540ff04cf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302f373e04a4b94" /><Relationship Type="http://schemas.openxmlformats.org/officeDocument/2006/relationships/notesMaster" Target="/ppt/notesMasters/notesMaster1.xml" Id="Rd6618be258a44c0c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4c560930a6da49b2" /><Relationship Type="http://schemas.openxmlformats.org/officeDocument/2006/relationships/notesMaster" Target="/ppt/notesMasters/notesMaster1.xml" Id="Rd8eaf49698cd474c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d1f6327c7b894130" /><Relationship Type="http://schemas.openxmlformats.org/officeDocument/2006/relationships/notesMaster" Target="/ppt/notesMasters/notesMaster1.xml" Id="Rc67b6dc95f634ec1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8bcbfae7dfb84307" /><Relationship Type="http://schemas.openxmlformats.org/officeDocument/2006/relationships/notesMaster" Target="/ppt/notesMasters/notesMaster1.xml" Id="R3cf2badba3d64a7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69048d38e8d04bd8" /><Relationship Type="http://schemas.openxmlformats.org/officeDocument/2006/relationships/notesMaster" Target="/ppt/notesMasters/notesMaster1.xml" Id="Rdb8cfe4a1e3f4da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ac45250eed5415f" /><Relationship Type="http://schemas.openxmlformats.org/officeDocument/2006/relationships/notesMaster" Target="/ppt/notesMasters/notesMaster1.xml" Id="R2a383c554d0f463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d89b2f4f3314421f" /><Relationship Type="http://schemas.openxmlformats.org/officeDocument/2006/relationships/notesMaster" Target="/ppt/notesMasters/notesMaster1.xml" Id="Re4f2788db51d41c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0cec89e5d1304e49" /><Relationship Type="http://schemas.openxmlformats.org/officeDocument/2006/relationships/notesMaster" Target="/ppt/notesMasters/notesMaster1.xml" Id="Rdde963232b22468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 guide deck and inherited visual template: docs/TAP_빠른사용가이드_v3.pptx.</a:t>
            </a:r>
          </a:p>
          <a:p xmlns:a="http://schemas.openxmlformats.org/drawingml/2006/main">
            <a:r>
              <a:t>- TAP application source, README, and current implemented flows, inspected 2026-08-20.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Slide 9 screenshot: current organization-report project selection screen supplied by the user.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 guide deck and inherited visual template: docs/TAP_빠른사용가이드_v3.pptx.</a:t>
            </a:r>
          </a:p>
          <a:p xmlns:a="http://schemas.openxmlformats.org/drawingml/2006/main">
            <a:r>
              <a:t>- TAP application source, README, and current implemented flows, inspected 2026-08-20.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Slide 9 screenshot: current organization-report project selection screen supplied by the user.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 guide deck and inherited visual template: docs/TAP_빠른사용가이드_v3.pptx.</a:t>
            </a:r>
          </a:p>
          <a:p xmlns:a="http://schemas.openxmlformats.org/drawingml/2006/main">
            <a:r>
              <a:t>- TAP application source, README, and current implemented flows, inspected 2026-08-20.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Slide 9 screenshot: current organization-report project selection screen supplied by the user.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 guide deck and inherited visual template: docs/TAP_빠른사용가이드_v3.pptx.</a:t>
            </a:r>
          </a:p>
          <a:p xmlns:a="http://schemas.openxmlformats.org/drawingml/2006/main">
            <a:r>
              <a:t>- TAP application source, README, and current implemented flows, inspected 2026-08-20.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Slide 9 screenshot: current organization-report project selection screen supplied by the user.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 guide deck and inherited visual template: docs/TAP_빠른사용가이드_v3.pptx.</a:t>
            </a:r>
          </a:p>
          <a:p xmlns:a="http://schemas.openxmlformats.org/drawingml/2006/main">
            <a:r>
              <a:t>- TAP application source, README, and current implemented flows, inspected 2026-08-20.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Slide 9 screenshot: current organization-report project selection screen supplied by the user.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 guide deck and inherited visual template: docs/TAP_빠른사용가이드_v3.pptx.</a:t>
            </a:r>
          </a:p>
          <a:p xmlns:a="http://schemas.openxmlformats.org/drawingml/2006/main">
            <a:r>
              <a:t>- TAP application source, README, and current implemented flows, inspected 2026-08-20.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Slide 9 screenshot: current organization-report project selection screen supplied by the user.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 guide deck and inherited visual template: docs/TAP_빠른사용가이드_v3.pptx.</a:t>
            </a:r>
          </a:p>
          <a:p xmlns:a="http://schemas.openxmlformats.org/drawingml/2006/main">
            <a:r>
              <a:t>- TAP application source, README, and current implemented flows, inspected 2026-08-20.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Slide 9 screenshot: current organization-report project selection screen supplied by the user.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 guide deck and inherited visual template: docs/TAP_빠른사용가이드_v3.pptx.</a:t>
            </a:r>
          </a:p>
          <a:p xmlns:a="http://schemas.openxmlformats.org/drawingml/2006/main">
            <a:r>
              <a:t>- TAP application source, README, and current implemented flows, inspected 2026-08-20.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Slide 9 screenshot: current organization-report project selection screen supplied by the user.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 guide deck and inherited visual template: docs/TAP_빠른사용가이드_v3.pptx.</a:t>
            </a:r>
          </a:p>
          <a:p xmlns:a="http://schemas.openxmlformats.org/drawingml/2006/main">
            <a:r>
              <a:t>- TAP application source, README, and current implemented flows, inspected 2026-08-20.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Slide 9 screenshot: current organization-report project selection screen supplied by the user.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 guide deck and inherited visual template: docs/TAP_빠른사용가이드_v3.pptx.</a:t>
            </a:r>
          </a:p>
          <a:p xmlns:a="http://schemas.openxmlformats.org/drawingml/2006/main">
            <a:r>
              <a:t>- TAP application source, README, and current implemented flows, inspected 2026-08-20.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Slide 9 screenshot: current organization-report project selection screen supplied by the user.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 guide deck and inherited visual template: docs/TAP_빠른사용가이드_v3.pptx.</a:t>
            </a:r>
          </a:p>
          <a:p xmlns:a="http://schemas.openxmlformats.org/drawingml/2006/main">
            <a:r>
              <a:t>- TAP application source, README, and current implemented flows, inspected 2026-08-20.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Slide 9 screenshot: current organization-report project selection screen supplied by the user.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Source guide deck and inherited visual template: docs/TAP_빠른사용가이드_v3.pptx.</a:t>
            </a:r>
          </a:p>
          <a:p xmlns:a="http://schemas.openxmlformats.org/drawingml/2006/main">
            <a:r>
              <a:t>- TAP application source, README, and current implemented flows, inspected 2026-08-20.</a:t>
            </a:r>
          </a:p>
          <a:p xmlns:a="http://schemas.openxmlformats.org/drawingml/2006/main">
            <a:r>
              <a:t>- TAP education-evaluation review: docs/TAP_교육평가_검토보고서_v2.md.</a:t>
            </a:r>
          </a:p>
          <a:p xmlns:a="http://schemas.openxmlformats.org/drawingml/2006/main">
            <a:r>
              <a:t>- Slide 9 screenshot: current organization-report project selection screen supplied by the user.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064a099a4a4b88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17d38737d034bc8" /></Relationships>
</file>

<file path=ppt/slideLayouts/slideLayout1.xml><?xml version="1.0" encoding="utf-8"?>
<p:sldLayout xmlns:p="http://schemas.openxmlformats.org/presentationml/2006/main" preserve="1">
  <p:cSld name="DEFAULT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DC10F393-A48F-F642-66FB-6D14653B40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hape 1">
            <a:extLst xmlns:a="http://schemas.openxmlformats.org/drawingml/2006/main">
              <a:ext uri="{FF2B5EF4-FFF2-40B4-BE49-F238E27FC236}">
                <a16:creationId xmlns:a16="http://schemas.microsoft.com/office/drawing/2014/main" id="{FDA6C402-FDB4-6270-C720-21D2D9010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8288000" cy="10287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>
  <p:cSld name="STUDIO_TOC">
    <p:bg>
      <p:bgPr>
        <a:solidFill xmlns:a="http://schemas.openxmlformats.org/drawingml/2006/main">
          <a:srgbClr val="DDF3E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Shape 0">
            <a:extLst xmlns:a="http://schemas.openxmlformats.org/drawingml/2006/main">
              <a:ext uri="{FF2B5EF4-FFF2-40B4-BE49-F238E27FC236}">
                <a16:creationId xmlns:a16="http://schemas.microsoft.com/office/drawing/2014/main" id="{30DB86DE-E6F1-C0EE-E966-8CE196B19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000353"/>
            <a:ext cx="1828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d2358dc3d08846a0" /><Relationship Type="http://schemas.openxmlformats.org/officeDocument/2006/relationships/slideLayout" Target="/ppt/slideLayouts/slideLayout1.xml" Id="R0da8652531a04e5b" /><Relationship Type="http://schemas.openxmlformats.org/officeDocument/2006/relationships/slideLayout" Target="/ppt/slideLayouts/slideLayout2.xml" Id="Ra4346326004f42d4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0da8652531a04e5b"/>
    <p:sldLayoutId xmlns:r="http://schemas.openxmlformats.org/officeDocument/2006/relationships" id="2147483650" r:id="Ra4346326004f42d4"/>
  </p:sldLayoutIdLst>
  <p:hf sldNum="0" hdr="0" ftr="0" dt="0"/>
  <p:txStyles>
    <p:titleStyle>
      <a:lvl1pPr xmlns:a="http://schemas.openxmlformats.org/drawingml/2006/main" algn="ctr"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>
        <a:buChar char="•"/>
        <a:defRPr sz="3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>
        <a:buChar char="–"/>
        <a:defRPr sz="2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buChar char="–"/>
        <a:defRPr sz="20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buChar char="»"/>
        <a:defRPr sz="20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38dfbe7f574d6f" /><Relationship Type="http://schemas.openxmlformats.org/officeDocument/2006/relationships/image" Target="/ppt/media/image.png" Id="R6d71a60de7234e7e" /><Relationship Type="http://schemas.openxmlformats.org/officeDocument/2006/relationships/image" Target="/ppt/media/image2.png" Id="Rc303b0e7bd3f477c" /><Relationship Type="http://schemas.openxmlformats.org/officeDocument/2006/relationships/notesSlide" Target="/ppt/notesSlides/notesSlide1.xml" Id="R84209519ecb14e97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c492ede0d6645ae" /><Relationship Type="http://schemas.openxmlformats.org/officeDocument/2006/relationships/image" Target="/ppt/media/image2.png" Id="R69d28b3ab6764164" /><Relationship Type="http://schemas.openxmlformats.org/officeDocument/2006/relationships/notesSlide" Target="/ppt/notesSlides/notesSlide2.xml" Id="R484a7099b344495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76cb1865c554f04" /><Relationship Type="http://schemas.openxmlformats.org/officeDocument/2006/relationships/image" Target="/ppt/media/image2.png" Id="Rf8f5b792623746dc" /><Relationship Type="http://schemas.openxmlformats.org/officeDocument/2006/relationships/notesSlide" Target="/ppt/notesSlides/notesSlide3.xml" Id="R25086c12bd5e4dbf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97931976594b71" /><Relationship Type="http://schemas.openxmlformats.org/officeDocument/2006/relationships/image" Target="/ppt/media/image2.png" Id="Rbec72da7f61b4da9" /><Relationship Type="http://schemas.openxmlformats.org/officeDocument/2006/relationships/notesSlide" Target="/ppt/notesSlides/notesSlide4.xml" Id="R563506e2c3444a0f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008a7828474303" /><Relationship Type="http://schemas.openxmlformats.org/officeDocument/2006/relationships/image" Target="/ppt/media/image2.png" Id="R93032c74aa6048e8" /><Relationship Type="http://schemas.openxmlformats.org/officeDocument/2006/relationships/notesSlide" Target="/ppt/notesSlides/notesSlide5.xml" Id="Re8d9d9041afb4f98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90c74254a42440c" /><Relationship Type="http://schemas.openxmlformats.org/officeDocument/2006/relationships/image" Target="/ppt/media/image3.png" Id="R3625117aaacb4e9c" /><Relationship Type="http://schemas.openxmlformats.org/officeDocument/2006/relationships/image" Target="/ppt/media/image2.png" Id="Refad31cb31334474" /><Relationship Type="http://schemas.openxmlformats.org/officeDocument/2006/relationships/notesSlide" Target="/ppt/notesSlides/notesSlide6.xml" Id="R4d838f8bf7cf40e5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0c34737d99e44d8" /><Relationship Type="http://schemas.openxmlformats.org/officeDocument/2006/relationships/image" Target="/ppt/media/image2.png" Id="R74905c317d4c45f2" /><Relationship Type="http://schemas.openxmlformats.org/officeDocument/2006/relationships/image" Target="/ppt/media/image.jpeg" Id="R66749f0e920d4ed5" /><Relationship Type="http://schemas.openxmlformats.org/officeDocument/2006/relationships/notesSlide" Target="/ppt/notesSlides/notesSlide7.xml" Id="R3760886d865c46f5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4c317ba1f584636" /><Relationship Type="http://schemas.openxmlformats.org/officeDocument/2006/relationships/image" Target="/ppt/media/image2.png" Id="Rf33be9a20d3b4289" /><Relationship Type="http://schemas.openxmlformats.org/officeDocument/2006/relationships/image" Target="/ppt/media/image2.jpeg" Id="Re1f8a51fff444cc8" /><Relationship Type="http://schemas.openxmlformats.org/officeDocument/2006/relationships/notesSlide" Target="/ppt/notesSlides/notesSlide8.xml" Id="R2a2df2cc00cc481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33724a43e2548b7" /><Relationship Type="http://schemas.openxmlformats.org/officeDocument/2006/relationships/image" Target="/ppt/media/image2.png" Id="Re92183df2ba94264" /><Relationship Type="http://schemas.openxmlformats.org/officeDocument/2006/relationships/image" Target="/ppt/media/image4.png" Id="R7a0832cf18fd4be9" /><Relationship Type="http://schemas.openxmlformats.org/officeDocument/2006/relationships/notesSlide" Target="/ppt/notesSlides/notesSlide9.xml" Id="R7212ca9df84e479f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d9e11b046894c28" /><Relationship Type="http://schemas.openxmlformats.org/officeDocument/2006/relationships/image" Target="/ppt/media/image2.png" Id="Rb27da471ccd9465f" /><Relationship Type="http://schemas.openxmlformats.org/officeDocument/2006/relationships/image" Target="/ppt/media/image3.jpeg" Id="R894e48a285c34a7c" /><Relationship Type="http://schemas.openxmlformats.org/officeDocument/2006/relationships/notesSlide" Target="/ppt/notesSlides/notesSlide10.xml" Id="R7f8b2be3686043e2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900183e57b496d" /><Relationship Type="http://schemas.openxmlformats.org/officeDocument/2006/relationships/image" Target="/ppt/media/image2.png" Id="Rf44df709972f482e" /><Relationship Type="http://schemas.openxmlformats.org/officeDocument/2006/relationships/notesSlide" Target="/ppt/notesSlides/notesSlide11.xml" Id="R0ebf9ddd77d546e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53a7752d8fb4796" /><Relationship Type="http://schemas.openxmlformats.org/officeDocument/2006/relationships/image" Target="/ppt/media/image3.png" Id="R22083307dad0468b" /><Relationship Type="http://schemas.openxmlformats.org/officeDocument/2006/relationships/image" Target="/ppt/media/image2.png" Id="R30ca117d8c8b40db" /><Relationship Type="http://schemas.openxmlformats.org/officeDocument/2006/relationships/notesSlide" Target="/ppt/notesSlides/notesSlide12.xml" Id="Rb22fdfe480fd4beb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d71a60de7234e7e"/>
          <a:srcRect xmlns:a="http://schemas.openxmlformats.org/drawingml/2006/main" l="0" t="-400" r="0" b="-400"/>
          <a:stretch xmlns:a="http://schemas.openxmlformats.org/drawingml/2006/main"/>
        </p:blipFill>
        <p:spPr>
          <a:xfrm xmlns:a="http://schemas.openxmlformats.org/drawingml/2006/main">
            <a:off x="1154116" y="2514600"/>
            <a:ext cx="457200" cy="19202"/>
          </a:xfrm>
          <a:prstGeom xmlns:a="http://schemas.openxmlformats.org/drawingml/2006/main" prst="rect">
            <a:avLst/>
          </a:prstGeom>
        </p:spPr>
      </p:pic>
      <p:pic>
        <p:nvPicPr>
          <p:cNvPr id="21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03b0e7bd3f477c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Text 4">
            <a:extLst xmlns:a="http://schemas.openxmlformats.org/drawingml/2006/main">
              <a:ext uri="{FF2B5EF4-FFF2-40B4-BE49-F238E27FC236}">
                <a16:creationId xmlns:a16="http://schemas.microsoft.com/office/drawing/2014/main" id="{E7588BFF-A375-4EE5-86EC-882455CAF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57150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5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TAP USER GUIDE</a:t>
            </a:r>
          </a:p>
        </p:txBody>
      </p:sp>
      <p:sp>
        <p:nvSpPr>
          <p:cNvPr id="9" name="Text 5">
            <a:extLst xmlns:a="http://schemas.openxmlformats.org/drawingml/2006/main">
              <a:ext uri="{FF2B5EF4-FFF2-40B4-BE49-F238E27FC236}">
                <a16:creationId xmlns:a16="http://schemas.microsoft.com/office/drawing/2014/main" id="{6A6555D4-4FC0-43F5-89EA-710ADBB5FE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333195"/>
            <a:ext cx="571500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회원사 교육 전/후 역량평가</a:t>
            </a:r>
          </a:p>
        </p:txBody>
      </p:sp>
      <p:sp>
        <p:nvSpPr>
          <p:cNvPr id="11" name="Text 7">
            <a:extLst xmlns:a="http://schemas.openxmlformats.org/drawingml/2006/main">
              <a:ext uri="{FF2B5EF4-FFF2-40B4-BE49-F238E27FC236}">
                <a16:creationId xmlns:a16="http://schemas.microsoft.com/office/drawing/2014/main" id="{9F94598D-D2EA-447C-A288-E759C5A622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857500"/>
            <a:ext cx="14859000" cy="20955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spcAft>
                <a:spcPts val="8"/>
              </a:spcAft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3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TAP 사용설명서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54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교육 전/후 변화를 다음 개선으로</a:t>
            </a:r>
          </a:p>
        </p:txBody>
      </p:sp>
      <p:sp>
        <p:nvSpPr>
          <p:cNvPr id="12" name="Text 8">
            <a:extLst xmlns:a="http://schemas.openxmlformats.org/drawingml/2006/main">
              <a:ext uri="{FF2B5EF4-FFF2-40B4-BE49-F238E27FC236}">
                <a16:creationId xmlns:a16="http://schemas.microsoft.com/office/drawing/2014/main" id="{01895F6A-EFDF-4122-8361-5A1B7C553E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7239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교육담당자 · 참여자 · KMA 관리자  |  2026.08</a:t>
            </a:r>
          </a:p>
        </p:txBody>
      </p:sp>
      <p:sp>
        <p:nvSpPr>
          <p:cNvPr id="13" name="Text 9">
            <a:extLst xmlns:a="http://schemas.openxmlformats.org/drawingml/2006/main">
              <a:ext uri="{FF2B5EF4-FFF2-40B4-BE49-F238E27FC236}">
                <a16:creationId xmlns:a16="http://schemas.microsoft.com/office/drawing/2014/main" id="{63249269-3EBF-411F-9214-578C112E7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886054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이해</a:t>
            </a:r>
          </a:p>
        </p:txBody>
      </p:sp>
      <p:sp>
        <p:nvSpPr>
          <p:cNvPr id="14" name="Shape 10">
            <a:extLst xmlns:a="http://schemas.openxmlformats.org/drawingml/2006/main">
              <a:ext uri="{FF2B5EF4-FFF2-40B4-BE49-F238E27FC236}">
                <a16:creationId xmlns:a16="http://schemas.microsoft.com/office/drawing/2014/main" id="{498378CE-77A5-42F4-9386-8900A1B4DA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9132" y="7295998"/>
            <a:ext cx="47549" cy="4754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1">
            <a:extLst xmlns:a="http://schemas.openxmlformats.org/drawingml/2006/main">
              <a:ext uri="{FF2B5EF4-FFF2-40B4-BE49-F238E27FC236}">
                <a16:creationId xmlns:a16="http://schemas.microsoft.com/office/drawing/2014/main" id="{A7827250-D715-47E9-BF85-D371494E4E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18588" y="7239305"/>
            <a:ext cx="1095451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사용 순서</a:t>
            </a:r>
          </a:p>
        </p:txBody>
      </p:sp>
      <p:sp>
        <p:nvSpPr>
          <p:cNvPr id="16" name="Shape 12">
            <a:extLst xmlns:a="http://schemas.openxmlformats.org/drawingml/2006/main">
              <a:ext uri="{FF2B5EF4-FFF2-40B4-BE49-F238E27FC236}">
                <a16:creationId xmlns:a16="http://schemas.microsoft.com/office/drawing/2014/main" id="{6B004A06-9C22-4464-A98C-947C74A78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83203" y="7295998"/>
            <a:ext cx="47549" cy="47549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3355592F-483C-412C-AFF7-1A7C1D0A40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2659" y="7239305"/>
            <a:ext cx="486461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버튼 안내</a:t>
            </a:r>
          </a:p>
        </p:txBody>
      </p:sp>
    </p:spTree>
    <p:extLst>
      <p:ext uri="{BB962C8B-B14F-4D97-AF65-F5344CB8AC3E}">
        <p14:creationId xmlns:p14="http://schemas.microsoft.com/office/powerpoint/2010/main" val="119757605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5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d28b3ab6764164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3DFA59CA-2888-E92C-D36A-7C087629D1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762061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TAP은 교육 전/후 변화를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같은 기준으로 확인합니다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8F01E7FD-710D-70CA-AB54-FFD4CBA4B3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7429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교육 전 출발점을 기록하고, 교육 중 현업 적용을 거친 뒤 같은 행동문항으로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교육 후에 다시 측정해 변화와 현업 적용환경을 확인합니다.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CC979613-820C-68B0-3020-76B2B00441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FF477ABB-A118-6E27-2F73-2B9EDE14DB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9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교육 전 검사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4B672A9E-C4D6-5620-194E-059E6E40C4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2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교육 전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2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출발점 기록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0188F215-E8C2-D2C2-6890-A9D7E20D5B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802773F1-F230-E5B7-AB67-E3B93F9DC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9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교육 후 검사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92620C19-402F-1A79-B79C-487B4E6A83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95598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2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같은 문항으로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2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현업 행동 재측정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6D33D5E3-3E55-FA73-07C8-351FBE3869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6476695"/>
            <a:ext cx="228600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BC86F90E-30AA-F6C6-C349-5ACAB495F5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6810451"/>
            <a:ext cx="2286000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9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다음 행동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56088DD1-10B8-BAE8-4A3D-AB14DA41F3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195" y="7229246"/>
            <a:ext cx="2286000" cy="5056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2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동일 참여자 변화와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2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전이 조건 확인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96E0A1F2-D7C3-2D5B-5BB7-AD6A734A5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98A4A6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ACDD74CE-8565-9840-73F8-F32FDA42C3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4">
            <a:extLst xmlns:a="http://schemas.openxmlformats.org/drawingml/2006/main">
              <a:ext uri="{FF2B5EF4-FFF2-40B4-BE49-F238E27FC236}">
                <a16:creationId xmlns:a16="http://schemas.microsoft.com/office/drawing/2014/main" id="{2921C518-2F6B-707E-1DAC-2C05193FE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OVERVIEW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2D81AE81-1ADF-EC5B-0BB4-A65E664453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999" y="900326"/>
            <a:ext cx="1638701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SERVICE SUMMARY</a:t>
            </a:r>
          </a:p>
        </p:txBody>
      </p:sp>
    </p:spTree>
    <p:extLst>
      <p:ext uri="{BB962C8B-B14F-4D97-AF65-F5344CB8AC3E}">
        <p14:creationId xmlns:p14="http://schemas.microsoft.com/office/powerpoint/2010/main" val="1682361748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Shape 0">
            <a:extLst xmlns:a="http://schemas.openxmlformats.org/drawingml/2006/main">
              <a:ext uri="{FF2B5EF4-FFF2-40B4-BE49-F238E27FC236}">
                <a16:creationId xmlns:a16="http://schemas.microsoft.com/office/drawing/2014/main" id="{EDC866E3-24F5-49DE-AD0B-5E6E8D8A3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B57C3B50-DC20-4F8A-B5CC-3156A3343C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5695" y="1714500"/>
            <a:ext cx="7239305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6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8f5b792623746dc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9F889484-E45F-4FEE-BEAA-0F19B09686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43759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ROLE &amp; ACCESS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800BFA6-B5DA-4B8B-8072-6FE99AD7DC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0010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역할마다 필요한 화면과</a:t>
            </a:r>
            <a:endParaRPr sz="4800">
              <a:solidFill>
                <a:srgbClr val="0A0E10"/>
              </a:solidFill>
              <a:latin typeface="페이퍼로지 2 ExtraLight"/>
              <a:ea typeface="페이퍼로지 2 ExtraLight"/>
              <a:cs typeface="페이퍼로지 2 ExtraLight"/>
            </a:endParaRP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기본 열람범위가 다릅니다</a:t>
            </a:r>
            <a:endParaRPr sz="4800">
              <a:solidFill>
                <a:srgbClr val="0A0E10"/>
              </a:solidFill>
              <a:latin typeface="페이퍼로지 6 SemiBold"/>
              <a:ea typeface="페이퍼로지 6 SemiBold"/>
              <a:cs typeface="페이퍼로지 6 SemiBold"/>
            </a:endParaRP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B9084758-1CD5-4C2D-8E2D-0F5EF636DA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7429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역할 전환은 데모 화면 안내용이며 실제 운영 권한 인증을 대신하지 않습니다.</a:t>
            </a:r>
          </a:p>
        </p:txBody>
      </p:sp>
      <p:sp>
        <p:nvSpPr>
          <p:cNvPr id="11" name="Text 8">
            <a:extLst xmlns:a="http://schemas.openxmlformats.org/drawingml/2006/main">
              <a:ext uri="{FF2B5EF4-FFF2-40B4-BE49-F238E27FC236}">
                <a16:creationId xmlns:a16="http://schemas.microsoft.com/office/drawing/2014/main" id="{DD5AB2B7-DC51-4B74-9025-5A22A7873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86500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88C38AD6-6B0F-4B1B-9621-8BFBA7DA2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62025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교육담당자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DA1CE548-484D-4A33-9ED7-2E464BA052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00646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2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교육 일정 · 조직 변화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FAF3B7E-D856-4CE0-979E-3C20F8F16F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286500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F020F00B-53B8-4678-BEC1-E0267DE4DB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662025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참여자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F42C3DDD-61D8-405A-BD62-70ABE0E5B6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7000646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2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교육 전/후 · 내 변화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82429BE4-CDA5-4001-A698-E2180F1F59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810805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D5E2A1D7-74E9-4087-BC3E-73178F2623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14364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KMA 관리자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BC530BDB-D51B-4622-AEB9-DB0AAA7B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524951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2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운영현황 · 문항검수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D0FB7444-4885-4E76-8E01-B6ABBAE61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7810805"/>
            <a:ext cx="3620110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C07BC6A3-AD8A-496B-A61D-5B3044338C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8143646"/>
            <a:ext cx="3620110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공통 원칙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CD8A459E-A2D9-4E3E-94FE-C42BF67DE7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8524951"/>
            <a:ext cx="3620110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2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개인정보 최소 공개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071015A9-AF87-4399-A204-FADF0CD720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98A4A6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30" name="Text 4">
            <a:extLst xmlns:a="http://schemas.openxmlformats.org/drawingml/2006/main">
              <a:ext uri="{FF2B5EF4-FFF2-40B4-BE49-F238E27FC236}">
                <a16:creationId xmlns:a16="http://schemas.microsoft.com/office/drawing/2014/main" id="{EB6CD4AC-0BA3-CCDE-E960-058897DFD4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7074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OVERVIEW</a:t>
            </a:r>
          </a:p>
        </p:txBody>
      </p:sp>
      <p:sp>
        <p:nvSpPr>
          <p:cNvPr id="32" name="concept-flow-1">
            <a:extLst xmlns:a="http://schemas.openxmlformats.org/drawingml/2006/main">
              <a:ext uri="{FF2B5EF4-FFF2-40B4-BE49-F238E27FC236}">
                <a16:creationId xmlns:a16="http://schemas.microsoft.com/office/drawing/2014/main" id="{717CD388-9B7B-4143-8144-38D00D7A5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87125" y="5357524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3" name="concept-flow-2">
            <a:extLst xmlns:a="http://schemas.openxmlformats.org/drawingml/2006/main">
              <a:ext uri="{FF2B5EF4-FFF2-40B4-BE49-F238E27FC236}">
                <a16:creationId xmlns:a16="http://schemas.microsoft.com/office/drawing/2014/main" id="{EAD99F34-9C65-45AF-B900-84DB2C5330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5357524"/>
            <a:ext cx="22383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4" name="concept-badge">
            <a:extLst xmlns:a="http://schemas.openxmlformats.org/drawingml/2006/main">
              <a:ext uri="{FF2B5EF4-FFF2-40B4-BE49-F238E27FC236}">
                <a16:creationId xmlns:a16="http://schemas.microsoft.com/office/drawing/2014/main" id="{A2B430A5-542F-4F96-849E-393283C2AE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3262024"/>
            <a:ext cx="2667000" cy="533400"/>
          </a:xfrm>
          <a:prstGeom xmlns:a="http://schemas.openxmlformats.org/drawingml/2006/main" prst="roundRect">
            <a:avLst>
              <a:gd name="adj" fmla="val 21429"/>
            </a:avLst>
          </a:prstGeom>
          <a:solidFill xmlns:a="http://schemas.openxmlformats.org/drawingml/2006/main">
            <a:srgbClr val="00B5AC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7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역할별 화면 · 접근 분리</a:t>
            </a:r>
          </a:p>
        </p:txBody>
      </p:sp>
      <p:sp>
        <p:nvSpPr>
          <p:cNvPr id="35" name="concept-a">
            <a:extLst xmlns:a="http://schemas.openxmlformats.org/drawingml/2006/main">
              <a:ext uri="{FF2B5EF4-FFF2-40B4-BE49-F238E27FC236}">
                <a16:creationId xmlns:a16="http://schemas.microsoft.com/office/drawing/2014/main" id="{4913A229-4B0F-49E1-AD0D-040DBCD621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20375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5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교육담당자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5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조직 운영</a:t>
            </a:r>
          </a:p>
        </p:txBody>
      </p:sp>
      <p:sp>
        <p:nvSpPr>
          <p:cNvPr id="36" name="concept-b">
            <a:extLst xmlns:a="http://schemas.openxmlformats.org/drawingml/2006/main">
              <a:ext uri="{FF2B5EF4-FFF2-40B4-BE49-F238E27FC236}">
                <a16:creationId xmlns:a16="http://schemas.microsoft.com/office/drawing/2014/main" id="{0C0ADA75-9D8F-485A-AFFB-44A12F4E3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5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참여자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5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본인 결과</a:t>
            </a:r>
          </a:p>
        </p:txBody>
      </p:sp>
      <p:sp>
        <p:nvSpPr>
          <p:cNvPr id="37" name="concept-ab">
            <a:extLst xmlns:a="http://schemas.openxmlformats.org/drawingml/2006/main">
              <a:ext uri="{FF2B5EF4-FFF2-40B4-BE49-F238E27FC236}">
                <a16:creationId xmlns:a16="http://schemas.microsoft.com/office/drawing/2014/main" id="{A6F7D5E1-03AC-4618-A7BC-7F6748D13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097125" y="4690774"/>
            <a:ext cx="1333500" cy="1333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5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KMA 관리자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5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도구 품질</a:t>
            </a:r>
          </a:p>
        </p:txBody>
      </p:sp>
      <p:sp>
        <p:nvSpPr>
          <p:cNvPr id="38" name="concept-result-a">
            <a:extLst xmlns:a="http://schemas.openxmlformats.org/drawingml/2006/main">
              <a:ext uri="{FF2B5EF4-FFF2-40B4-BE49-F238E27FC236}">
                <a16:creationId xmlns:a16="http://schemas.microsoft.com/office/drawing/2014/main" id="{D308B340-70F6-40D2-B87F-2B77ED548F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0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5명 이상 공개</a:t>
            </a:r>
          </a:p>
        </p:txBody>
      </p:sp>
      <p:sp>
        <p:nvSpPr>
          <p:cNvPr id="39" name="concept-result-b">
            <a:extLst xmlns:a="http://schemas.openxmlformats.org/drawingml/2006/main">
              <a:ext uri="{FF2B5EF4-FFF2-40B4-BE49-F238E27FC236}">
                <a16:creationId xmlns:a16="http://schemas.microsoft.com/office/drawing/2014/main" id="{2C67017C-0697-481B-A615-F01504C4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15875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공유는 선택</a:t>
            </a:r>
          </a:p>
        </p:txBody>
      </p:sp>
      <p:sp>
        <p:nvSpPr>
          <p:cNvPr id="40" name="concept-result-ab">
            <a:extLst xmlns:a="http://schemas.openxmlformats.org/drawingml/2006/main">
              <a:ext uri="{FF2B5EF4-FFF2-40B4-BE49-F238E27FC236}">
                <a16:creationId xmlns:a16="http://schemas.microsoft.com/office/drawing/2014/main" id="{79A65F2B-A3FB-4CFC-84B5-E8FBBFF29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0" y="6786274"/>
            <a:ext cx="161925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점수 기본 미열람</a:t>
            </a:r>
          </a:p>
        </p:txBody>
      </p:sp>
      <p:sp>
        <p:nvSpPr>
          <p:cNvPr id="41" name="concept-month-1">
            <a:extLst xmlns:a="http://schemas.openxmlformats.org/drawingml/2006/main">
              <a:ext uri="{FF2B5EF4-FFF2-40B4-BE49-F238E27FC236}">
                <a16:creationId xmlns:a16="http://schemas.microsoft.com/office/drawing/2014/main" id="{7F624207-AA90-48B2-9A90-37E6FF8879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4233574"/>
            <a:ext cx="37147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교육담당자 · 참여자</a:t>
            </a:r>
          </a:p>
        </p:txBody>
      </p:sp>
      <p:sp>
        <p:nvSpPr>
          <p:cNvPr id="42" name="concept-month-2">
            <a:extLst xmlns:a="http://schemas.openxmlformats.org/drawingml/2006/main">
              <a:ext uri="{FF2B5EF4-FFF2-40B4-BE49-F238E27FC236}">
                <a16:creationId xmlns:a16="http://schemas.microsoft.com/office/drawing/2014/main" id="{E967CC4D-5CCF-4290-8FF2-C83C7CD68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954250" y="4233574"/>
            <a:ext cx="1619250" cy="323850"/>
          </a:xfrm>
          <a:prstGeom xmlns:a="http://schemas.openxmlformats.org/drawingml/2006/main" prst="roundRect">
            <a:avLst>
              <a:gd name="adj" fmla="val 35294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KMA</a:t>
            </a:r>
          </a:p>
        </p:txBody>
      </p:sp>
    </p:spTree>
    <p:extLst>
      <p:ext uri="{BB962C8B-B14F-4D97-AF65-F5344CB8AC3E}">
        <p14:creationId xmlns:p14="http://schemas.microsoft.com/office/powerpoint/2010/main" val="1124630611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Shape 0">
            <a:extLst xmlns:a="http://schemas.openxmlformats.org/drawingml/2006/main">
              <a:ext uri="{FF2B5EF4-FFF2-40B4-BE49-F238E27FC236}">
                <a16:creationId xmlns:a16="http://schemas.microsoft.com/office/drawing/2014/main" id="{171F3167-D0F6-A154-3969-882D538188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E6910152-35D2-44BA-B745-A951087A6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9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ec72da7f61b4da9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C01D4990-29A3-4468-AD6C-B50C06EAD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66860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RESULT USE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D0474DB0-9A5B-4CE3-AE6B-55D4443B86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교육 전/후 변화와 전이 조건을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다음 개선에 반영합니다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3CA359B-CBBA-44AE-9F0B-F92792978D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교육 후 점수만으로 교육효과를 단정하지 않습니다.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적용기회 · 상사지원 · 도구 · 권한을 함께 봅니다.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1EB2A4FA-C378-46BA-9B70-8E966295EE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82872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971020C2-BC00-4FEB-868A-A7DDB966AC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896051"/>
            <a:ext cx="8287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개인 리포트 · 본인의 교육 전/후 변화 확인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1AD8DDF0-7039-4E27-8B11-2D413AA231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258154"/>
            <a:ext cx="8287207" cy="2770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2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동일 문항의 교육 전/후 점수 · 관찰 변화 · 현업 적용환경</a:t>
            </a:r>
          </a:p>
        </p:txBody>
      </p:sp>
      <p:sp>
        <p:nvSpPr>
          <p:cNvPr id="14" name="Shape 11">
            <a:extLst xmlns:a="http://schemas.openxmlformats.org/drawingml/2006/main">
              <a:ext uri="{FF2B5EF4-FFF2-40B4-BE49-F238E27FC236}">
                <a16:creationId xmlns:a16="http://schemas.microsoft.com/office/drawing/2014/main" id="{051D52D4-BF9F-4AEC-A9D4-540643CDA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48195"/>
            <a:ext cx="82872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DD8F7B3A-A440-4EC2-98B6-B68C90AE03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29246"/>
            <a:ext cx="8287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조직 리포트 · 동일 참여자의 집단 변화 확인</a:t>
            </a:r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CA2EB170-DEF1-4950-BC23-6D00056C4A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9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교육 전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0F0B1C30-E9DC-4507-A357-EFB59F4EDD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출발점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1774F5C4-63C0-4BB8-9997-93CEC4770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805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9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교육 후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C54549F4-E392-4989-B19C-6113A80F3B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805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관찰 변화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BE03D512-C8BF-4877-ADFC-96AA18065C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695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9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맥락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950766F9-1E33-49C8-A166-FE4CD03B95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3695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적용환경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5D20431E-E24E-4484-AEB4-E8CEB73ED8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7886700"/>
            <a:ext cx="1905610" cy="1527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9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공개</a:t>
            </a:r>
          </a:p>
        </p:txBody>
      </p:sp>
      <p:sp>
        <p:nvSpPr>
          <p:cNvPr id="23" name="Text 20">
            <a:extLst xmlns:a="http://schemas.openxmlformats.org/drawingml/2006/main">
              <a:ext uri="{FF2B5EF4-FFF2-40B4-BE49-F238E27FC236}">
                <a16:creationId xmlns:a16="http://schemas.microsoft.com/office/drawing/2014/main" id="{666938FE-E18C-48A1-9545-991822C1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8115300"/>
            <a:ext cx="190561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5명 이상 공개</a:t>
            </a:r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8C304613-E79C-40DC-BC1B-D2BDFA9257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8762695"/>
            <a:ext cx="82872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98A4A6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98A4A6"/>
                </a:solidFill>
                <a:latin typeface="Pretendard"/>
                <a:ea typeface="Pretendard"/>
                <a:cs typeface="Pretendard"/>
              </a:rPr>
              <a:t>비교집단이 없으면 교육의 인과효과가 아니라 ‘교육 전/후 관찰 변화’로 표현합니다.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F9198117-1B7C-4488-A0A9-1F9A26812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98A4A6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39" name="Text 4">
            <a:extLst xmlns:a="http://schemas.openxmlformats.org/drawingml/2006/main">
              <a:ext uri="{FF2B5EF4-FFF2-40B4-BE49-F238E27FC236}">
                <a16:creationId xmlns:a16="http://schemas.microsoft.com/office/drawing/2014/main" id="{622A1526-965E-A627-17A6-4B5087A217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07579" y="900326"/>
            <a:ext cx="1773934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OVERVIEW</a:t>
            </a:r>
          </a:p>
        </p:txBody>
      </p:sp>
      <p:sp>
        <p:nvSpPr>
          <p:cNvPr id="41" name="product-annual-line">
            <a:extLst xmlns:a="http://schemas.openxmlformats.org/drawingml/2006/main">
              <a:ext uri="{FF2B5EF4-FFF2-40B4-BE49-F238E27FC236}">
                <a16:creationId xmlns:a16="http://schemas.microsoft.com/office/drawing/2014/main" id="{B82F41F6-AE80-4DA9-9F68-9385B2E215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44767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2" name="product-theme-line">
            <a:extLst xmlns:a="http://schemas.openxmlformats.org/drawingml/2006/main">
              <a:ext uri="{FF2B5EF4-FFF2-40B4-BE49-F238E27FC236}">
                <a16:creationId xmlns:a16="http://schemas.microsoft.com/office/drawing/2014/main" id="{B13F3F1A-3F16-4DF9-BB84-AE79B26124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87250" y="6191250"/>
            <a:ext cx="37147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0955">
            <a:solidFill>
              <a:srgbClr val="C7D9DA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3" name="product-badge">
            <a:extLst xmlns:a="http://schemas.openxmlformats.org/drawingml/2006/main">
              <a:ext uri="{FF2B5EF4-FFF2-40B4-BE49-F238E27FC236}">
                <a16:creationId xmlns:a16="http://schemas.microsoft.com/office/drawing/2014/main" id="{3760D9C3-F3F9-490A-BE76-9018B51F18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2571750"/>
            <a:ext cx="2667000" cy="495300"/>
          </a:xfrm>
          <a:prstGeom xmlns:a="http://schemas.openxmlformats.org/drawingml/2006/main" prst="roundRect">
            <a:avLst>
              <a:gd name="adj" fmla="val 23077"/>
            </a:avLst>
          </a:prstGeom>
          <a:solidFill xmlns:a="http://schemas.openxmlformats.org/drawingml/2006/main">
            <a:srgbClr val="00B5AC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교육 전/후 해석의 흐름</a:t>
            </a:r>
          </a:p>
        </p:txBody>
      </p:sp>
      <p:sp>
        <p:nvSpPr>
          <p:cNvPr id="44" name="product-week-1회차">
            <a:extLst xmlns:a="http://schemas.openxmlformats.org/drawingml/2006/main">
              <a:ext uri="{FF2B5EF4-FFF2-40B4-BE49-F238E27FC236}">
                <a16:creationId xmlns:a16="http://schemas.microsoft.com/office/drawing/2014/main" id="{913EB834-8A3F-46C3-A5AF-4239B34A0C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98A4A6"/>
                </a:solidFill>
                <a:latin typeface="Pretendard"/>
                <a:ea typeface="Pretendard"/>
                <a:cs typeface="Pretendard"/>
              </a:rPr>
              <a:t>개인</a:t>
            </a:r>
          </a:p>
        </p:txBody>
      </p:sp>
      <p:sp>
        <p:nvSpPr>
          <p:cNvPr id="45" name="product-week-2회차">
            <a:extLst xmlns:a="http://schemas.openxmlformats.org/drawingml/2006/main">
              <a:ext uri="{FF2B5EF4-FFF2-40B4-BE49-F238E27FC236}">
                <a16:creationId xmlns:a16="http://schemas.microsoft.com/office/drawing/2014/main" id="{22583FA1-351B-4078-810F-BA5ECE2AC9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9225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98A4A6"/>
                </a:solidFill>
                <a:latin typeface="Pretendard"/>
                <a:ea typeface="Pretendard"/>
                <a:cs typeface="Pretendard"/>
              </a:rPr>
              <a:t>조직</a:t>
            </a:r>
          </a:p>
        </p:txBody>
      </p:sp>
      <p:sp>
        <p:nvSpPr>
          <p:cNvPr id="46" name="product-week-3회차">
            <a:extLst xmlns:a="http://schemas.openxmlformats.org/drawingml/2006/main">
              <a:ext uri="{FF2B5EF4-FFF2-40B4-BE49-F238E27FC236}">
                <a16:creationId xmlns:a16="http://schemas.microsoft.com/office/drawing/2014/main" id="{1DA250B1-DC53-40ED-AD75-C55B993F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21000" y="3333750"/>
            <a:ext cx="952500" cy="342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FFFFFF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98A4A6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98A4A6"/>
                </a:solidFill>
                <a:latin typeface="Pretendard"/>
                <a:ea typeface="Pretendard"/>
                <a:cs typeface="Pretendard"/>
              </a:rPr>
              <a:t>결정</a:t>
            </a:r>
          </a:p>
        </p:txBody>
      </p:sp>
      <p:sp>
        <p:nvSpPr>
          <p:cNvPr id="47" name="product-annual-label">
            <a:extLst xmlns:a="http://schemas.openxmlformats.org/drawingml/2006/main">
              <a:ext uri="{FF2B5EF4-FFF2-40B4-BE49-F238E27FC236}">
                <a16:creationId xmlns:a16="http://schemas.microsoft.com/office/drawing/2014/main" id="{D2F84F77-15D2-4019-985F-C148DA686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4048125"/>
            <a:ext cx="13811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리포트</a:t>
            </a:r>
          </a:p>
        </p:txBody>
      </p:sp>
      <p:sp>
        <p:nvSpPr>
          <p:cNvPr id="48" name="product-theme-label">
            <a:extLst xmlns:a="http://schemas.openxmlformats.org/drawingml/2006/main">
              <a:ext uri="{FF2B5EF4-FFF2-40B4-BE49-F238E27FC236}">
                <a16:creationId xmlns:a16="http://schemas.microsoft.com/office/drawing/2014/main" id="{73C35CB7-594D-4761-9194-430E0566C6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01375" y="5762625"/>
            <a:ext cx="1381125" cy="857250"/>
          </a:xfrm>
          <a:prstGeom xmlns:a="http://schemas.openxmlformats.org/drawingml/2006/main" prst="roundRect">
            <a:avLst>
              <a:gd name="adj" fmla="val 13333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333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2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다음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2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행동</a:t>
            </a:r>
          </a:p>
        </p:txBody>
      </p:sp>
      <p:sp>
        <p:nvSpPr>
          <p:cNvPr id="49" name="annual-A">
            <a:extLst xmlns:a="http://schemas.openxmlformats.org/drawingml/2006/main">
              <a:ext uri="{FF2B5EF4-FFF2-40B4-BE49-F238E27FC236}">
                <a16:creationId xmlns:a16="http://schemas.microsoft.com/office/drawing/2014/main" id="{3E0747A5-2467-4FCF-A3AE-B07303EEB2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교육 전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출발점</a:t>
            </a:r>
          </a:p>
        </p:txBody>
      </p:sp>
      <p:sp>
        <p:nvSpPr>
          <p:cNvPr id="50" name="theme-A">
            <a:extLst xmlns:a="http://schemas.openxmlformats.org/drawingml/2006/main">
              <a:ext uri="{FF2B5EF4-FFF2-40B4-BE49-F238E27FC236}">
                <a16:creationId xmlns:a16="http://schemas.microsoft.com/office/drawing/2014/main" id="{CA249E1C-D3E3-49DE-9559-039A8241D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전이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조건</a:t>
            </a:r>
          </a:p>
        </p:txBody>
      </p:sp>
      <p:sp>
        <p:nvSpPr>
          <p:cNvPr id="51" name="annual-B">
            <a:extLst xmlns:a="http://schemas.openxmlformats.org/drawingml/2006/main">
              <a:ext uri="{FF2B5EF4-FFF2-40B4-BE49-F238E27FC236}">
                <a16:creationId xmlns:a16="http://schemas.microsoft.com/office/drawing/2014/main" id="{524F543A-20B4-4A6D-BC7D-F78353650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교육 후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재측정</a:t>
            </a:r>
          </a:p>
        </p:txBody>
      </p:sp>
      <p:sp>
        <p:nvSpPr>
          <p:cNvPr id="52" name="theme-B">
            <a:extLst xmlns:a="http://schemas.openxmlformats.org/drawingml/2006/main">
              <a:ext uri="{FF2B5EF4-FFF2-40B4-BE49-F238E27FC236}">
                <a16:creationId xmlns:a16="http://schemas.microsoft.com/office/drawing/2014/main" id="{ED8BD520-A6CF-436B-AB1A-A4465F5F71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교육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보완</a:t>
            </a:r>
          </a:p>
        </p:txBody>
      </p:sp>
      <p:sp>
        <p:nvSpPr>
          <p:cNvPr id="53" name="annual-A+B">
            <a:extLst xmlns:a="http://schemas.openxmlformats.org/drawingml/2006/main">
              <a:ext uri="{FF2B5EF4-FFF2-40B4-BE49-F238E27FC236}">
                <a16:creationId xmlns:a16="http://schemas.microsoft.com/office/drawing/2014/main" id="{0FD316B6-4539-49B5-87E1-DDF9631D71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40957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동일인</a:t>
            </a:r>
          </a:p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변화</a:t>
            </a:r>
          </a:p>
        </p:txBody>
      </p:sp>
      <p:sp>
        <p:nvSpPr>
          <p:cNvPr id="54" name="theme-A+B">
            <a:extLst xmlns:a="http://schemas.openxmlformats.org/drawingml/2006/main">
              <a:ext uri="{FF2B5EF4-FFF2-40B4-BE49-F238E27FC236}">
                <a16:creationId xmlns:a16="http://schemas.microsoft.com/office/drawing/2014/main" id="{67D05F8C-4624-454C-97BA-E6F20C964C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716250" y="5810250"/>
            <a:ext cx="762000" cy="762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7145">
            <a:solidFill>
              <a:srgbClr val="00B5AC"/>
            </a:solidFill>
            <a:prstDash val="solid"/>
          </a:ln>
        </p:spPr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환경</a:t>
            </a:r>
          </a:p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개선</a:t>
            </a:r>
          </a:p>
        </p:txBody>
      </p:sp>
      <p:sp>
        <p:nvSpPr>
          <p:cNvPr id="55" name="product-benefit">
            <a:extLst xmlns:a="http://schemas.openxmlformats.org/drawingml/2006/main">
              <a:ext uri="{FF2B5EF4-FFF2-40B4-BE49-F238E27FC236}">
                <a16:creationId xmlns:a16="http://schemas.microsoft.com/office/drawing/2014/main" id="{0C6965AD-0789-46DC-B44E-F64BBF731A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25250" y="7334250"/>
            <a:ext cx="4381500" cy="685800"/>
          </a:xfrm>
          <a:prstGeom xmlns:a="http://schemas.openxmlformats.org/drawingml/2006/main" prst="roundRect">
            <a:avLst>
              <a:gd name="adj" fmla="val 16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3335">
            <a:solidFill>
              <a:srgbClr val="C7D9DA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57150" tIns="38100" rIns="57150" bIns="381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2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개인 순위가 아니라 같은 참여자의 교육 전/후 변화를 확인</a:t>
            </a:r>
          </a:p>
        </p:txBody>
      </p:sp>
    </p:spTree>
    <p:extLst>
      <p:ext uri="{BB962C8B-B14F-4D97-AF65-F5344CB8AC3E}">
        <p14:creationId xmlns:p14="http://schemas.microsoft.com/office/powerpoint/2010/main" val="110971394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3032c74aa6048e8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EFA37-99E2-42F7-9B30-C86EB20D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286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개인순위 · 인사평가 ·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5명 미만 결과는 공개하지 않습니다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63E0293-CB7C-4821-A850-B5D2005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706"/>
            <a:ext cx="8572500" cy="6281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자기보고 교육 전/후 평가입니다. 아래 여섯 가지 원칙을 지켜 사용합니다.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F5621F2-7E1A-417F-A7BC-C1D1C7E4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C9B1CA6-5EFE-423D-8385-F9414181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99714DA-1B0A-44B9-A5CC-57117CC1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개인순위 없음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C3F7DAF-2F7C-490D-8692-BC8E5196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백분위 · 규준 아님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14EE024-6A3C-48F6-91EC-F06E76E5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23BA0B2-799B-4814-972B-4F33961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199BE3A-107D-44AD-B647-87EC264D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인사평가 금지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3B3DB5B-314A-4E06-805C-10692F76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채용 · 승진 · 보상 금지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21EFE92-4587-4748-B14A-9D9F2D6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305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6AC1DD-1138-4608-95E4-ACC4AD4C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34356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10E28FE-FEC6-4772-BB61-56C1706C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29707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개인결과 공유는 선택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D6979E87-403E-4A3C-8CB0-8D20F82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72607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본인 동의 필요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F11405C-2B35-4634-B2B2-F84CE1D1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D156304-AB10-4748-9C89-1A8DBA3D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D3AB4FE-E9B0-436F-9804-AB8D8352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5명 미만 비공개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1875FD6-6CB6-40CF-BE5D-931858FE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개인정보 보호 최소기준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96A554A3-71BB-4BD8-ADB9-78815C73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F877655-4879-46FC-9EBF-4753ACB5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E550DE3-D125-447F-A9EC-72F0E54B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공개 데모 개인정보 금지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28BC621-A9F5-432B-870B-6B3704E3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합성 데이터만 저장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1DAA8528-FAD8-4B7F-9389-0AB49B43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953098"/>
            <a:ext cx="3143707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00B5A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CA61648-0CC5-4E14-BDEA-A3F57C86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134149"/>
            <a:ext cx="3143707" cy="16276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25709CAD-3028-460F-8460-A230793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429500"/>
            <a:ext cx="3143707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인과효과 아님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348CF7F-B2E7-42B4-AECE-37EB59C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772400"/>
            <a:ext cx="3143707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비교집단 없으면 관찰 변화</a:t>
            </a:r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62D4CCB-80F4-4177-93B6-4CE9FF19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98A4A6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23A4B73-AE3C-952C-FF8B-B9B24C87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9A9A140-5B7D-C748-6354-81546788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OVERVIEW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B8CEDBE-7D90-4A6A-9273-96AEE503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571500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SAFE USE</a:t>
            </a:r>
          </a:p>
        </p:txBody>
      </p:sp>
    </p:spTree>
    <p:extLst>
      <p:ext uri="{BB962C8B-B14F-4D97-AF65-F5344CB8AC3E}">
        <p14:creationId xmlns:p14="http://schemas.microsoft.com/office/powerpoint/2010/main" val="427711529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Shape 0">
            <a:extLst xmlns:a="http://schemas.openxmlformats.org/drawingml/2006/main">
              <a:ext uri="{FF2B5EF4-FFF2-40B4-BE49-F238E27FC236}">
                <a16:creationId xmlns:a16="http://schemas.microsoft.com/office/drawing/2014/main" id="{DFFD3695-F4CE-7F05-F62D-9234A7C5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1BE36D6B-AAE7-4745-BBE8-7F3E095C4F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39805" y="1524305"/>
            <a:ext cx="5905195" cy="7429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62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25117aaacb4e9c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476756" y="6782105"/>
            <a:ext cx="9334195" cy="9144"/>
          </a:xfrm>
          <a:prstGeom xmlns:a="http://schemas.openxmlformats.org/drawingml/2006/main" prst="rect">
            <a:avLst/>
          </a:prstGeom>
        </p:spPr>
      </p:pic>
      <p:pic>
        <p:nvPicPr>
          <p:cNvPr id="63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fad31cb31334474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55A03E1A-500F-43BA-8D8D-2C40EDAE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0E9CCB4B-2805-4887-882D-B4B8F38B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676C237-6975-4C28-82DF-27164021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49BBD11-29AE-4DE3-A09E-F9003C10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BF5E9EB-F52C-4C5A-AFBC-A0724921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639CFC6-290C-42BA-AAAD-725CE6D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C3DC5B-79EE-452E-B0C7-5323746F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305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프로젝트 코드로 교육 전/후를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같은 기록에 연결합니다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9E43FD1-69AB-4180-AB23-736C3ED6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설정 저장 뒤 프로젝트 코드를 공유합니다. 참여자는 프로젝트 코드·접속코드·동일한 교육 참여자 ID로 교육 전/후 검사를 연결합니다.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415FDC9C-48C3-48EB-8973-21C532BF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8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9D4B285-3741-488C-AE8F-790DDB81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8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9A4515C-4CF3-4CC7-BB34-F3C881FD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8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C3F31E1-5500-4C62-A986-5A2D5287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8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7726A4D-1C6D-416F-9AA1-C89C80D8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8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71A4D62-57C3-43EA-B275-5C716565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8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FEE894BA-ED08-4782-879A-A6A0D936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교육·평가 설정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CB2D47B-38DC-428D-9401-8439B13B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프로젝트 코드 · 기간 · 역량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1B3FAAC6-34DB-4740-BC91-526756D3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교육 전 검사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609AE952-13E5-41C0-8499-84492CE5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접속코드 · 참여자 ID</a:t>
            </a:r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385B14C-0A4B-4E96-B75A-5C11FA83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완료 기록 저장</a:t>
            </a:r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58B8A766-BC78-43EC-A80A-DC8CC4C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교육 전 완료 시 GitHub 저장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94BEDD4-E69A-45CB-92AF-1F081A75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교육 중 현업 적용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557F20A-9E54-482C-B95B-4A164FF1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프로젝트 코드 · 동일 ID</a:t>
            </a:r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F01A551-9FA6-41F0-90CC-CD891470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교육 후 검사</a:t>
            </a:r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2F56802D-9FC0-46D8-BB13-A34B6A58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같은 문항 · 최근 8주</a:t>
            </a:r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0AE0D34-4484-413E-A09D-20B22915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교육 전/후 비교</a:t>
            </a:r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D580D4D-B2D7-49BE-8321-783180D5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동일 참여자 변화 · 전이</a:t>
            </a:r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6D54F027-2C71-4711-88CC-C99E29F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98A4A6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F0C2400-A4E8-4661-877A-68C2953E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2999" y="900326"/>
            <a:ext cx="2341345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HOW IT WORKS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FC0E9950-180D-5539-F231-2D96284E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PROCESS</a:t>
            </a:r>
          </a:p>
        </p:txBody>
      </p:sp>
      <p:sp>
        <p:nvSpPr>
          <p:cNvPr id="53" name="journey-orbit">
            <a:extLst xmlns:a="http://schemas.openxmlformats.org/drawingml/2006/main">
              <a:ext uri="{FF2B5EF4-FFF2-40B4-BE49-F238E27FC236}">
                <a16:creationId xmlns:a16="http://schemas.microsoft.com/office/drawing/2014/main" id="{BE1C8383-40D3-45B9-83F5-153EABFDD2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57500"/>
            <a:ext cx="5048250" cy="5143500"/>
          </a:xfrm>
          <a:prstGeom xmlns:a="http://schemas.openxmlformats.org/drawingml/2006/main" prst="ellipse">
            <a:avLst/>
          </a:prstGeom>
          <a:noFill xmlns:a="http://schemas.openxmlformats.org/drawingml/2006/main"/>
          <a:ln xmlns:a="http://schemas.openxmlformats.org/drawingml/2006/main" w="13335">
            <a:solidFill>
              <a:srgbClr val="C7D9DA"/>
            </a:solidFill>
            <a:prstDash val="dash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4" name="journey-a-card">
            <a:extLst xmlns:a="http://schemas.openxmlformats.org/drawingml/2006/main">
              <a:ext uri="{FF2B5EF4-FFF2-40B4-BE49-F238E27FC236}">
                <a16:creationId xmlns:a16="http://schemas.microsoft.com/office/drawing/2014/main" id="{80A3C995-7464-4B56-940C-C5C7327C95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58625" y="3333750"/>
            <a:ext cx="1714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1. 프로젝트 설정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5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코드 공유</a:t>
            </a:r>
          </a:p>
        </p:txBody>
      </p:sp>
      <p:sp>
        <p:nvSpPr>
          <p:cNvPr id="55" name="journey-b-card">
            <a:extLst xmlns:a="http://schemas.openxmlformats.org/drawingml/2006/main">
              <a:ext uri="{FF2B5EF4-FFF2-40B4-BE49-F238E27FC236}">
                <a16:creationId xmlns:a16="http://schemas.microsoft.com/office/drawing/2014/main" id="{B01C52AA-9481-4E17-8479-B9E602CFF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287625" y="3333750"/>
            <a:ext cx="1714500" cy="1000125"/>
          </a:xfrm>
          <a:prstGeom xmlns:a="http://schemas.openxmlformats.org/drawingml/2006/main" prst="roundRect">
            <a:avLst>
              <a:gd name="adj" fmla="val 1142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524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2. 교육 전 완료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5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GitHub 저장</a:t>
            </a:r>
          </a:p>
        </p:txBody>
      </p:sp>
      <p:sp>
        <p:nvSpPr>
          <p:cNvPr id="56" name="journey-hub">
            <a:extLst xmlns:a="http://schemas.openxmlformats.org/drawingml/2006/main">
              <a:ext uri="{FF2B5EF4-FFF2-40B4-BE49-F238E27FC236}">
                <a16:creationId xmlns:a16="http://schemas.microsoft.com/office/drawing/2014/main" id="{5DD05311-937C-4606-8996-474A450C82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73125" y="4667250"/>
            <a:ext cx="1714500" cy="1714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24765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76200" rIns="762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TAP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전/후 비교</a:t>
            </a:r>
          </a:p>
        </p:txBody>
      </p:sp>
      <p:sp>
        <p:nvSpPr>
          <p:cNvPr id="57" name="journey-ab-card">
            <a:extLst xmlns:a="http://schemas.openxmlformats.org/drawingml/2006/main">
              <a:ext uri="{FF2B5EF4-FFF2-40B4-BE49-F238E27FC236}">
                <a16:creationId xmlns:a16="http://schemas.microsoft.com/office/drawing/2014/main" id="{6BB557C9-D1B7-4AE7-9DB1-2E871989D9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0" y="6858000"/>
            <a:ext cx="1809750" cy="1095375"/>
          </a:xfrm>
          <a:prstGeom xmlns:a="http://schemas.openxmlformats.org/drawingml/2006/main" prst="roundRect">
            <a:avLst>
              <a:gd name="adj" fmla="val 10435"/>
            </a:avLst>
          </a:prstGeom>
          <a:solidFill xmlns:a="http://schemas.openxmlformats.org/drawingml/2006/main">
            <a:srgbClr val="F2F8F7"/>
          </a:solidFill>
          <a:ln xmlns:a="http://schemas.openxmlformats.org/drawingml/2006/main" w="19050">
            <a:solidFill>
              <a:srgbClr val="00B5AC"/>
            </a:solidFill>
            <a:prstDash val="solid"/>
          </a:ln>
        </p:spPr>
        <p:style>
          <a:lnRef xmlns:a="http://schemas.openxmlformats.org/drawingml/2006/main" idx="0"/>
          <a:fillRef xmlns:a="http://schemas.openxmlformats.org/drawingml/2006/main" idx="0"/>
          <a:effectRef xmlns:a="http://schemas.openxmlformats.org/drawingml/2006/main" idx="4"/>
          <a:fontRef xmlns:a="http://schemas.openxmlformats.org/drawingml/2006/main" idx="major"/>
        </p:style>
        <p:txBody>
          <a:bodyPr xmlns:a="http://schemas.openxmlformats.org/drawingml/2006/main" wrap="square" lIns="76200" tIns="57150" rIns="76200" bIns="5715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3–4. 같은 ID</a:t>
            </a:r>
          </a:p>
          <a:p xmlns:a="http://schemas.openxmlformats.org/drawingml/2006/main">
            <a:pPr algn="ctr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5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복원·교육 후</a:t>
            </a:r>
          </a:p>
        </p:txBody>
      </p:sp>
    </p:spTree>
    <p:extLst>
      <p:ext uri="{BB962C8B-B14F-4D97-AF65-F5344CB8AC3E}">
        <p14:creationId xmlns:p14="http://schemas.microsoft.com/office/powerpoint/2010/main" val="82946018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4905c317d4c45f2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EDUCATION MANAGER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관리자 대시보드는 완료된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합성 데이터를 누적합니다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GitHub 저장을 켜면 demo-data 분기의 완료된 교육 전/후 스냅샷을 프로젝트 코드 기준으로 합산합니다. 연결이 없거나 오류가 나면 현재 세션 데이터로 전환합니다.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22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대시보드 확인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누적 프로젝트 · 참여자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교육 전/후 완료 건수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동일 참여자 변화 상태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22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프로젝트 설정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프로젝트 코드 생성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교육일 · 전/후 기간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역량 선택 · 저장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98A4A6"/>
                </a:solidFill>
                <a:latin typeface="Pretendard"/>
                <a:ea typeface="Pretendard"/>
                <a:cs typeface="Pretendard"/>
              </a:rPr>
              <a:t>07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749f0e920d4ed5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33be9a20d3b4289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PARTICIPANT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프로젝트 코드·접속코드·ID로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실제 검사에 참여합니다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교육 전/후 완료 시점에만 GitHub에 저장합니다. 교육 후 검사는 같은 프로젝트 코드와 참여자 ID로 교육 전 결과를 불러오며, 실패하면 기준파일 JSON으로 복원합니다.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22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검사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프로젝트 코드 입력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기획검증 접속코드 입력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참여자 ID · 응답 · 완료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22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교육 후 연결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같은 코드 · ID로 접속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교육 전 완료 기록 불러오기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실패 시 JSON 업로드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98A4A6"/>
                </a:solidFill>
                <a:latin typeface="Pretendard"/>
                <a:ea typeface="Pretendard"/>
                <a:cs typeface="Pretendard"/>
              </a:rPr>
              <a:t>08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1f8a51fff444cc8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2183df2ba94264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ORGANIZATION REPORT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실시 프로젝트에서 교육 전/후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조직 리포트를 바로 엽니다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GitHub 누적 프로젝트를 선택해 완료 데이터를 불러옵니다. 교육 전/후 완료 인원과 동일 참여자 변화를 확인하고, 공개 가능한 3~8개 역량을 N각형 레이더로 비교합니다. CSV 비교는 하단 보조 기능입니다.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22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준비 순서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실시 프로젝트 선택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프로젝트 새로고침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교육 전/후 리포트 확인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22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해석 기준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동일 ID · 역량 · 버전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역량별 5명 이상 공개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3~8축 레이더 · CSV 보조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98A4A6"/>
                </a:solidFill>
                <a:latin typeface="Pretendard"/>
                <a:ea typeface="Pretendard"/>
                <a:cs typeface="Pretendard"/>
              </a:rPr>
              <a:t>09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a0832cf18fd4be9"/>
          <a:stretch xmlns:a="http://schemas.openxmlformats.org/drawingml/2006/main"/>
        </p:blipFill>
        <p:spPr>
          <a:xfrm xmlns:a="http://schemas.openxmlformats.org/drawingml/2006/main" flipH="0" flipV="0">
            <a:off x="10668286" y="3663354"/>
            <a:ext cx="6096286" cy="3341579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Shape 0">
            <a:extLst xmlns:a="http://schemas.openxmlformats.org/drawingml/2006/main">
              <a:ext uri="{FF2B5EF4-FFF2-40B4-BE49-F238E27FC236}">
                <a16:creationId xmlns:a16="http://schemas.microsoft.com/office/drawing/2014/main" id="{F30779E8-3BB0-07A3-A5C2-4335A8A00D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hape 2">
            <a:extLst xmlns:a="http://schemas.openxmlformats.org/drawingml/2006/main">
              <a:ext uri="{FF2B5EF4-FFF2-40B4-BE49-F238E27FC236}">
                <a16:creationId xmlns:a16="http://schemas.microsoft.com/office/drawing/2014/main" id="{5FCBCC2D-79DE-4D7F-BA3A-AE2D0769C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0" y="1714500"/>
            <a:ext cx="6858000" cy="723930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4F7F7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48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7da471ccd9465f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6" name="Shape 3">
            <a:extLst xmlns:a="http://schemas.openxmlformats.org/drawingml/2006/main">
              <a:ext uri="{FF2B5EF4-FFF2-40B4-BE49-F238E27FC236}">
                <a16:creationId xmlns:a16="http://schemas.microsoft.com/office/drawing/2014/main" id="{372AEE46-C5BC-43CA-81A0-C4CC1DDFB9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305" y="2095805"/>
            <a:ext cx="6096305" cy="647669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F2687D63-D9FD-4DA1-B6D5-4A927FC87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110339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KMA ADMIN</a:t>
            </a:r>
          </a:p>
        </p:txBody>
      </p:sp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0C7226CD-850C-48F4-ACEC-6547FD786B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8572500" cy="14484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KMA 대시보드는 연결 시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누적 합계로 전환됩니다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280B94F5-E34E-439A-85C6-EB97756BE0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382305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GitHub 연결 시 demo-data의 합성 프로젝트·참여자·교육 전/후 완료 건을 집계합니다. 미연결 또는 데이터 없음 상태에서는 샘플을 표시하며 문항은행 검수는 계속 사용할 수 있습니다.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3177B3C0-595E-4B1A-82C1-453F395C1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EDED0C0A-171F-432E-81D9-7BF539799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22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화면 구분</a:t>
            </a:r>
          </a:p>
        </p:txBody>
      </p:sp>
      <p:sp>
        <p:nvSpPr>
          <p:cNvPr id="13" name="Shape 10">
            <a:extLst xmlns:a="http://schemas.openxmlformats.org/drawingml/2006/main">
              <a:ext uri="{FF2B5EF4-FFF2-40B4-BE49-F238E27FC236}">
                <a16:creationId xmlns:a16="http://schemas.microsoft.com/office/drawing/2014/main" id="{5435C2F4-B3FA-428B-9CAF-C7FCE6C3B4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1AE81C31-959F-429F-BA62-AB1DB5D71D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5" name="Text 12">
            <a:extLst xmlns:a="http://schemas.openxmlformats.org/drawingml/2006/main">
              <a:ext uri="{FF2B5EF4-FFF2-40B4-BE49-F238E27FC236}">
                <a16:creationId xmlns:a16="http://schemas.microsoft.com/office/drawing/2014/main" id="{5E5A276E-B50F-46BA-BF64-838FEDC61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6734556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연결 시 누적 합계</a:t>
            </a:r>
          </a:p>
        </p:txBody>
      </p:sp>
      <p:sp>
        <p:nvSpPr>
          <p:cNvPr id="16" name="Shape 13">
            <a:extLst xmlns:a="http://schemas.openxmlformats.org/drawingml/2006/main">
              <a:ext uri="{FF2B5EF4-FFF2-40B4-BE49-F238E27FC236}">
                <a16:creationId xmlns:a16="http://schemas.microsoft.com/office/drawing/2014/main" id="{A9794151-C72F-461A-9C72-67A44F6A1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97F8390-919A-4E93-9FC7-C2B179759D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9EA2631-5CE1-44A0-A1C9-C5B6F09B9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795" y="7200900"/>
            <a:ext cx="2115007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미연결 시 샘플</a:t>
            </a:r>
          </a:p>
        </p:txBody>
      </p:sp>
      <p:sp>
        <p:nvSpPr>
          <p:cNvPr id="19" name="Text 16">
            <a:extLst xmlns:a="http://schemas.openxmlformats.org/drawingml/2006/main">
              <a:ext uri="{FF2B5EF4-FFF2-40B4-BE49-F238E27FC236}">
                <a16:creationId xmlns:a16="http://schemas.microsoft.com/office/drawing/2014/main" id="{60845004-FC9D-44FF-B41C-6E6FBDFC8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7EAB91-EDCB-42BD-8C0F-E839D53845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814" y="7667244"/>
            <a:ext cx="3238500" cy="19107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개인 식별값 미표시</a:t>
            </a:r>
          </a:p>
        </p:txBody>
      </p:sp>
      <p:sp>
        <p:nvSpPr>
          <p:cNvPr id="21" name="Shape 18">
            <a:extLst xmlns:a="http://schemas.openxmlformats.org/drawingml/2006/main">
              <a:ext uri="{FF2B5EF4-FFF2-40B4-BE49-F238E27FC236}">
                <a16:creationId xmlns:a16="http://schemas.microsoft.com/office/drawing/2014/main" id="{5340757C-0C44-4234-A89C-4C7C0D4B3B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715000"/>
            <a:ext cx="3810305" cy="1920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8E13A3FC-B644-45E8-AF69-C0617F159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5943600"/>
            <a:ext cx="3810305" cy="3337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22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KMA 검수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84A8C342-8728-4D07-99FB-2A3FD1978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058254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636AD3B4-C1E8-4E93-A5E8-BE737A6CC6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6734556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5AC25647-B6EC-47D5-BEA8-EA1FB31AB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6734556"/>
            <a:ext cx="1355141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전체 문항은행 검수</a:t>
            </a:r>
          </a:p>
        </p:txBody>
      </p:sp>
      <p:sp>
        <p:nvSpPr>
          <p:cNvPr id="26" name="Shape 23">
            <a:extLst xmlns:a="http://schemas.openxmlformats.org/drawingml/2006/main">
              <a:ext uri="{FF2B5EF4-FFF2-40B4-BE49-F238E27FC236}">
                <a16:creationId xmlns:a16="http://schemas.microsoft.com/office/drawing/2014/main" id="{1E090FA4-8832-4AFB-9FAB-46A6FC41C7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524598"/>
            <a:ext cx="3810305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3E5"/>
          </a:solidFill>
          <a:ln xmlns:a="http://schemas.openxmlformats.org/drawingml/2006/main" w="12700">
            <a:solidFill>
              <a:srgbClr val="DCE3E5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7" name="Text 24">
            <a:extLst xmlns:a="http://schemas.openxmlformats.org/drawingml/2006/main">
              <a:ext uri="{FF2B5EF4-FFF2-40B4-BE49-F238E27FC236}">
                <a16:creationId xmlns:a16="http://schemas.microsoft.com/office/drawing/2014/main" id="{C1566A8A-A84B-4188-B248-302C6C69DB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200900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228D19DB-F148-4AD9-A213-97AF2663B9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200900"/>
            <a:ext cx="1783994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필터 결과 CSV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61B75202-9135-4FB8-B6F1-9552255CEE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805" y="7667244"/>
            <a:ext cx="228600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0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0316E86-0655-4F78-8603-3C47FB1EE2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43600" y="7667244"/>
            <a:ext cx="1950415" cy="19111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1E2324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1E2324"/>
                </a:solidFill>
                <a:latin typeface="Pretendard"/>
                <a:ea typeface="Pretendard"/>
                <a:cs typeface="Pretendard"/>
              </a:rPr>
              <a:t>파일럿 후보 CSV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03888DDB-5708-4506-B9A6-283C707B23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98A4A6"/>
                </a:solidFill>
                <a:latin typeface="Pretendard"/>
                <a:ea typeface="Pretendard"/>
                <a:cs typeface="Pretendard"/>
              </a:rPr>
              <a:t>10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2D176D0E-E021-3CE6-1764-753858F49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HOW TO</a:t>
            </a:r>
          </a:p>
        </p:txBody>
      </p:sp>
      <p:pic>
        <p:nvPicPr>
          <p:cNvPr id="7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94e48a285c34a7c"/>
          <a:stretch xmlns:a="http://schemas.openxmlformats.org/drawingml/2006/main"/>
        </p:blipFill>
        <p:spPr>
          <a:xfrm xmlns:a="http://schemas.openxmlformats.org/drawingml/2006/main" flipH="0" flipV="0">
            <a:off x="10668286" y="3619563"/>
            <a:ext cx="6096286" cy="3429161"/>
          </a:xfrm>
          <a:prstGeom xmlns:a="http://schemas.openxmlformats.org/drawingml/2006/main"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0233777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0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44df709972f482e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9" name="Text 6">
            <a:extLst xmlns:a="http://schemas.openxmlformats.org/drawingml/2006/main">
              <a:ext uri="{FF2B5EF4-FFF2-40B4-BE49-F238E27FC236}">
                <a16:creationId xmlns:a16="http://schemas.microsoft.com/office/drawing/2014/main" id="{630EFA37-99E2-42F7-9B30-C86EB20D88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286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검사 참여·측정 원칙·PDF 안내서를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오픈페이지에서 확인합니다</a:t>
            </a:r>
          </a:p>
        </p:txBody>
      </p:sp>
      <p:sp>
        <p:nvSpPr>
          <p:cNvPr id="10" name="Text 7">
            <a:extLst xmlns:a="http://schemas.openxmlformats.org/drawingml/2006/main">
              <a:ext uri="{FF2B5EF4-FFF2-40B4-BE49-F238E27FC236}">
                <a16:creationId xmlns:a16="http://schemas.microsoft.com/office/drawing/2014/main" id="{763E0293-CB7C-4821-A850-B5D20056D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143706"/>
            <a:ext cx="8572500" cy="628193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검사 참여는 교육 전 검사로, 측정 원칙은 내부 섹션으로 이동합니다.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상·하단 사용설명서는 PDF로 바로 내려받습니다.</a:t>
            </a:r>
          </a:p>
        </p:txBody>
      </p:sp>
      <p:sp>
        <p:nvSpPr>
          <p:cNvPr id="11" name="Shape 8">
            <a:extLst xmlns:a="http://schemas.openxmlformats.org/drawingml/2006/main">
              <a:ext uri="{FF2B5EF4-FFF2-40B4-BE49-F238E27FC236}">
                <a16:creationId xmlns:a16="http://schemas.microsoft.com/office/drawing/2014/main" id="{BF5621F2-7E1A-417F-A7BC-C1D1C7E426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2" name="Text 9">
            <a:extLst xmlns:a="http://schemas.openxmlformats.org/drawingml/2006/main">
              <a:ext uri="{FF2B5EF4-FFF2-40B4-BE49-F238E27FC236}">
                <a16:creationId xmlns:a16="http://schemas.microsoft.com/office/drawing/2014/main" id="{1C9B1CA6-5EFE-423D-8385-F941418191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9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13" name="Text 10">
            <a:extLst xmlns:a="http://schemas.openxmlformats.org/drawingml/2006/main">
              <a:ext uri="{FF2B5EF4-FFF2-40B4-BE49-F238E27FC236}">
                <a16:creationId xmlns:a16="http://schemas.microsoft.com/office/drawing/2014/main" id="{899714DA-1B0A-44B9-A5CC-57117CC1F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검사 참여</a:t>
            </a:r>
          </a:p>
        </p:txBody>
      </p:sp>
      <p:sp>
        <p:nvSpPr>
          <p:cNvPr id="14" name="Text 11">
            <a:extLst xmlns:a="http://schemas.openxmlformats.org/drawingml/2006/main">
              <a:ext uri="{FF2B5EF4-FFF2-40B4-BE49-F238E27FC236}">
                <a16:creationId xmlns:a16="http://schemas.microsoft.com/office/drawing/2014/main" id="{FC3F7DAF-2F7C-490D-8692-BC8E519643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교육 전 검사로 이동</a:t>
            </a:r>
          </a:p>
        </p:txBody>
      </p:sp>
      <p:sp>
        <p:nvSpPr>
          <p:cNvPr id="15" name="Shape 12">
            <a:extLst xmlns:a="http://schemas.openxmlformats.org/drawingml/2006/main">
              <a:ext uri="{FF2B5EF4-FFF2-40B4-BE49-F238E27FC236}">
                <a16:creationId xmlns:a16="http://schemas.microsoft.com/office/drawing/2014/main" id="{F14EE024-6A3C-48F6-91EC-F06E76E5D2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16" name="Text 13">
            <a:extLst xmlns:a="http://schemas.openxmlformats.org/drawingml/2006/main">
              <a:ext uri="{FF2B5EF4-FFF2-40B4-BE49-F238E27FC236}">
                <a16:creationId xmlns:a16="http://schemas.microsoft.com/office/drawing/2014/main" id="{223BA0B2-799B-4814-972B-4F33961029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9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17" name="Text 14">
            <a:extLst xmlns:a="http://schemas.openxmlformats.org/drawingml/2006/main">
              <a:ext uri="{FF2B5EF4-FFF2-40B4-BE49-F238E27FC236}">
                <a16:creationId xmlns:a16="http://schemas.microsoft.com/office/drawing/2014/main" id="{F199BE3A-107D-44AD-B647-87EC264D6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측정 원칙</a:t>
            </a:r>
          </a:p>
        </p:txBody>
      </p:sp>
      <p:sp>
        <p:nvSpPr>
          <p:cNvPr id="18" name="Text 15">
            <a:extLst xmlns:a="http://schemas.openxmlformats.org/drawingml/2006/main">
              <a:ext uri="{FF2B5EF4-FFF2-40B4-BE49-F238E27FC236}">
                <a16:creationId xmlns:a16="http://schemas.microsoft.com/office/drawing/2014/main" id="{63B3DB5B-314A-4E06-805C-10692F765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오픈페이지 내부 섹션</a:t>
            </a:r>
          </a:p>
        </p:txBody>
      </p:sp>
      <p:sp>
        <p:nvSpPr>
          <p:cNvPr id="19" name="Shape 16">
            <a:extLst xmlns:a="http://schemas.openxmlformats.org/drawingml/2006/main">
              <a:ext uri="{FF2B5EF4-FFF2-40B4-BE49-F238E27FC236}">
                <a16:creationId xmlns:a16="http://schemas.microsoft.com/office/drawing/2014/main" id="{321EFE92-4587-4748-B14A-9D9F2D68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4953286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0" name="Text 17">
            <a:extLst xmlns:a="http://schemas.openxmlformats.org/drawingml/2006/main">
              <a:ext uri="{FF2B5EF4-FFF2-40B4-BE49-F238E27FC236}">
                <a16:creationId xmlns:a16="http://schemas.microsoft.com/office/drawing/2014/main" id="{686AC1DD-1138-4608-95E4-ACC4AD4CA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134356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9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1" name="Text 18">
            <a:extLst xmlns:a="http://schemas.openxmlformats.org/drawingml/2006/main">
              <a:ext uri="{FF2B5EF4-FFF2-40B4-BE49-F238E27FC236}">
                <a16:creationId xmlns:a16="http://schemas.microsoft.com/office/drawing/2014/main" id="{310E28FE-FEC6-4772-BB61-56C1706CAD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429726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사용설명서</a:t>
            </a:r>
          </a:p>
        </p:txBody>
      </p:sp>
      <p:sp>
        <p:nvSpPr>
          <p:cNvPr id="22" name="Text 19">
            <a:extLst xmlns:a="http://schemas.openxmlformats.org/drawingml/2006/main">
              <a:ext uri="{FF2B5EF4-FFF2-40B4-BE49-F238E27FC236}">
                <a16:creationId xmlns:a16="http://schemas.microsoft.com/office/drawing/2014/main" id="{D6979E87-403E-4A3C-8CB0-8D20F8284E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5772626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상·하단 PDF 즉시 다운로드</a:t>
            </a:r>
          </a:p>
        </p:txBody>
      </p:sp>
      <p:sp>
        <p:nvSpPr>
          <p:cNvPr id="23" name="Shape 20">
            <a:extLst xmlns:a="http://schemas.openxmlformats.org/drawingml/2006/main">
              <a:ext uri="{FF2B5EF4-FFF2-40B4-BE49-F238E27FC236}">
                <a16:creationId xmlns:a16="http://schemas.microsoft.com/office/drawing/2014/main" id="{CF11405C-2B35-4634-B2B2-F84CE1D1EC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4" name="Text 21">
            <a:extLst xmlns:a="http://schemas.openxmlformats.org/drawingml/2006/main">
              <a:ext uri="{FF2B5EF4-FFF2-40B4-BE49-F238E27FC236}">
                <a16:creationId xmlns:a16="http://schemas.microsoft.com/office/drawing/2014/main" id="{3D156304-AB10-4748-9C89-1A8DBA3D5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9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5" name="Text 22">
            <a:extLst xmlns:a="http://schemas.openxmlformats.org/drawingml/2006/main">
              <a:ext uri="{FF2B5EF4-FFF2-40B4-BE49-F238E27FC236}">
                <a16:creationId xmlns:a16="http://schemas.microsoft.com/office/drawing/2014/main" id="{3D3AB4FE-E9B0-436F-9804-AB8D8352B3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개인 결과</a:t>
            </a:r>
          </a:p>
        </p:txBody>
      </p:sp>
      <p:sp>
        <p:nvSpPr>
          <p:cNvPr id="26" name="Text 23">
            <a:extLst xmlns:a="http://schemas.openxmlformats.org/drawingml/2006/main">
              <a:ext uri="{FF2B5EF4-FFF2-40B4-BE49-F238E27FC236}">
                <a16:creationId xmlns:a16="http://schemas.microsoft.com/office/drawing/2014/main" id="{11875FD6-6CB6-40CF-BE5D-931858FEA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내 변화 리포트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결과 CSV</a:t>
            </a:r>
          </a:p>
        </p:txBody>
      </p:sp>
      <p:sp>
        <p:nvSpPr>
          <p:cNvPr id="27" name="Shape 24">
            <a:extLst xmlns:a="http://schemas.openxmlformats.org/drawingml/2006/main">
              <a:ext uri="{FF2B5EF4-FFF2-40B4-BE49-F238E27FC236}">
                <a16:creationId xmlns:a16="http://schemas.microsoft.com/office/drawing/2014/main" id="{96A554A3-71BB-4BD8-ADB9-78815C733A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A0E10"/>
          </a:solidFill>
          <a:ln xmlns:a="http://schemas.openxmlformats.org/drawingml/2006/main" w="12700">
            <a:solidFill>
              <a:srgbClr val="0A0E10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28" name="Text 25">
            <a:extLst xmlns:a="http://schemas.openxmlformats.org/drawingml/2006/main">
              <a:ext uri="{FF2B5EF4-FFF2-40B4-BE49-F238E27FC236}">
                <a16:creationId xmlns:a16="http://schemas.microsoft.com/office/drawing/2014/main" id="{6F877655-4879-46FC-9EBF-4753ACB5F8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9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9" name="Text 26">
            <a:extLst xmlns:a="http://schemas.openxmlformats.org/drawingml/2006/main">
              <a:ext uri="{FF2B5EF4-FFF2-40B4-BE49-F238E27FC236}">
                <a16:creationId xmlns:a16="http://schemas.microsoft.com/office/drawing/2014/main" id="{BE550DE3-D125-447F-A9EC-72F0E54B2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조직 결과</a:t>
            </a:r>
          </a:p>
        </p:txBody>
      </p:sp>
      <p:sp>
        <p:nvSpPr>
          <p:cNvPr id="30" name="Text 27">
            <a:extLst xmlns:a="http://schemas.openxmlformats.org/drawingml/2006/main">
              <a:ext uri="{FF2B5EF4-FFF2-40B4-BE49-F238E27FC236}">
                <a16:creationId xmlns:a16="http://schemas.microsoft.com/office/drawing/2014/main" id="{628BC621-A9F5-432B-870B-6B3704E34E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72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교육 전후 리포트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프로젝트 새로고침</a:t>
            </a:r>
          </a:p>
        </p:txBody>
      </p:sp>
      <p:sp>
        <p:nvSpPr>
          <p:cNvPr id="31" name="Shape 28">
            <a:extLst xmlns:a="http://schemas.openxmlformats.org/drawingml/2006/main">
              <a:ext uri="{FF2B5EF4-FFF2-40B4-BE49-F238E27FC236}">
                <a16:creationId xmlns:a16="http://schemas.microsoft.com/office/drawing/2014/main" id="{1DAA8528-FAD8-4B7F-9389-0AB49B43B5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6953060"/>
            <a:ext cx="3143726" cy="91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00B5AC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32" name="Text 29">
            <a:extLst xmlns:a="http://schemas.openxmlformats.org/drawingml/2006/main">
              <a:ext uri="{FF2B5EF4-FFF2-40B4-BE49-F238E27FC236}">
                <a16:creationId xmlns:a16="http://schemas.microsoft.com/office/drawing/2014/main" id="{1CA61648-0CC5-4E14-BDEA-A3F57C861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134130"/>
            <a:ext cx="3143726" cy="16278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9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33" name="Text 30">
            <a:extLst xmlns:a="http://schemas.openxmlformats.org/drawingml/2006/main">
              <a:ext uri="{FF2B5EF4-FFF2-40B4-BE49-F238E27FC236}">
                <a16:creationId xmlns:a16="http://schemas.microsoft.com/office/drawing/2014/main" id="{25709CAD-3028-460F-8460-A230793AE3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429500"/>
            <a:ext cx="3143726" cy="24784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KMA 검수</a:t>
            </a:r>
          </a:p>
        </p:txBody>
      </p:sp>
      <p:sp>
        <p:nvSpPr>
          <p:cNvPr id="34" name="Text 31">
            <a:extLst xmlns:a="http://schemas.openxmlformats.org/drawingml/2006/main">
              <a:ext uri="{FF2B5EF4-FFF2-40B4-BE49-F238E27FC236}">
                <a16:creationId xmlns:a16="http://schemas.microsoft.com/office/drawing/2014/main" id="{9348CF7F-B2E7-42B4-AECE-37EB59C313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7772400"/>
            <a:ext cx="3143726" cy="4572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관리자 대시보드</a:t>
            </a:r>
          </a:p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문항은행 검수</a:t>
            </a:r>
          </a:p>
        </p:txBody>
      </p:sp>
      <p:sp>
        <p:nvSpPr>
          <p:cNvPr id="38" name="Text 35">
            <a:extLst xmlns:a="http://schemas.openxmlformats.org/drawingml/2006/main">
              <a:ext uri="{FF2B5EF4-FFF2-40B4-BE49-F238E27FC236}">
                <a16:creationId xmlns:a16="http://schemas.microsoft.com/office/drawing/2014/main" id="{262D4CCB-80F4-4177-93B6-4CE9FF1969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98A4A6"/>
                </a:solidFill>
                <a:latin typeface="Pretendard"/>
                <a:ea typeface="Pretendard"/>
                <a:cs typeface="Pretendard"/>
              </a:rPr>
              <a:t>11</a:t>
            </a:r>
          </a:p>
        </p:txBody>
      </p:sp>
      <p:sp>
        <p:nvSpPr>
          <p:cNvPr id="3" name="Shape 0">
            <a:extLst xmlns:a="http://schemas.openxmlformats.org/drawingml/2006/main">
              <a:ext uri="{FF2B5EF4-FFF2-40B4-BE49-F238E27FC236}">
                <a16:creationId xmlns:a16="http://schemas.microsoft.com/office/drawing/2014/main" id="{C23A4B73-AE3C-952C-FF8B-B9B24C870D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Text 4">
            <a:extLst xmlns:a="http://schemas.openxmlformats.org/drawingml/2006/main">
              <a:ext uri="{FF2B5EF4-FFF2-40B4-BE49-F238E27FC236}">
                <a16:creationId xmlns:a16="http://schemas.microsoft.com/office/drawing/2014/main" id="{99A9A140-5B7D-C748-6354-81546788C9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610115" y="900326"/>
            <a:ext cx="1578368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BUTTON REFERENCE</a:t>
            </a:r>
          </a:p>
        </p:txBody>
      </p:sp>
      <p:sp>
        <p:nvSpPr>
          <p:cNvPr id="7" name="Text 4">
            <a:extLst xmlns:a="http://schemas.openxmlformats.org/drawingml/2006/main">
              <a:ext uri="{FF2B5EF4-FFF2-40B4-BE49-F238E27FC236}">
                <a16:creationId xmlns:a16="http://schemas.microsoft.com/office/drawing/2014/main" id="{7B8CEDBE-7D90-4A6A-9273-96AEE50309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14400"/>
            <a:ext cx="2322095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REFERENCE</a:t>
            </a:r>
          </a:p>
        </p:txBody>
      </p:sp>
    </p:spTree>
    <p:extLst>
      <p:ext uri="{BB962C8B-B14F-4D97-AF65-F5344CB8AC3E}">
        <p14:creationId xmlns:p14="http://schemas.microsoft.com/office/powerpoint/2010/main" val="427711529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0" name="Shape 0">
            <a:extLst xmlns:a="http://schemas.openxmlformats.org/drawingml/2006/main">
              <a:ext uri="{FF2B5EF4-FFF2-40B4-BE49-F238E27FC236}">
                <a16:creationId xmlns:a16="http://schemas.microsoft.com/office/drawing/2014/main" id="{DFFD3695-F4CE-7F05-F62D-9234A7C5CA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0939" y="1000353"/>
            <a:ext cx="15986124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10160">
            <a:gradFill rotWithShape="1">
              <a:gsLst>
                <a:gs pos="50000">
                  <a:srgbClr val="73C9BD"/>
                </a:gs>
                <a:gs pos="0">
                  <a:srgbClr val="6C7476"/>
                </a:gs>
                <a:gs pos="100000">
                  <a:srgbClr val="73C9BD"/>
                </a:gs>
              </a:gsLst>
              <a:lin ang="0" scaled="1"/>
              <a:tileRect/>
            </a:gra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pic>
        <p:nvPicPr>
          <p:cNvPr id="54" name="Image 0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083307dad0468b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476756" y="6782105"/>
            <a:ext cx="9334195" cy="9144"/>
          </a:xfrm>
          <a:prstGeom xmlns:a="http://schemas.openxmlformats.org/drawingml/2006/main" prst="rect">
            <a:avLst/>
          </a:prstGeom>
        </p:spPr>
      </p:pic>
      <p:pic>
        <p:nvPicPr>
          <p:cNvPr id="55" name="Image 1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0ca117d8c8b40db"/>
          <a:srcRect xmlns:a="http://schemas.openxmlformats.org/drawingml/2006/main" l="-2083" t="0" r="-2083" b="0"/>
          <a:stretch xmlns:a="http://schemas.openxmlformats.org/drawingml/2006/main"/>
        </p:blipFill>
        <p:spPr>
          <a:xfrm xmlns:a="http://schemas.openxmlformats.org/drawingml/2006/main">
            <a:off x="1143000" y="9334195"/>
            <a:ext cx="16002000" cy="9144"/>
          </a:xfrm>
          <a:prstGeom xmlns:a="http://schemas.openxmlformats.org/drawingml/2006/main" prst="rect">
            <a:avLst/>
          </a:prstGeom>
        </p:spPr>
      </p:pic>
      <p:sp>
        <p:nvSpPr>
          <p:cNvPr id="8" name="Shape 4">
            <a:extLst xmlns:a="http://schemas.openxmlformats.org/drawingml/2006/main">
              <a:ext uri="{FF2B5EF4-FFF2-40B4-BE49-F238E27FC236}">
                <a16:creationId xmlns:a16="http://schemas.microsoft.com/office/drawing/2014/main" id="{55A03E1A-500F-43BA-8D8D-2C40EDAE40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B5AC"/>
          </a:solidFill>
          <a:ln xmlns:a="http://schemas.openxmlformats.org/drawingml/2006/main" w="12700">
            <a:solidFill>
              <a:srgbClr val="FFFFFF">
                <a:alpha val="0"/>
              </a:srgbClr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hape 5">
            <a:extLst xmlns:a="http://schemas.openxmlformats.org/drawingml/2006/main">
              <a:ext uri="{FF2B5EF4-FFF2-40B4-BE49-F238E27FC236}">
                <a16:creationId xmlns:a16="http://schemas.microsoft.com/office/drawing/2014/main" id="{0E9CCB4B-2805-4887-882D-B4B8F38B9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Shape 6">
            <a:extLst xmlns:a="http://schemas.openxmlformats.org/drawingml/2006/main">
              <a:ext uri="{FF2B5EF4-FFF2-40B4-BE49-F238E27FC236}">
                <a16:creationId xmlns:a16="http://schemas.microsoft.com/office/drawing/2014/main" id="{C676C237-6975-4C28-82DF-27164021D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Shape 7">
            <a:extLst xmlns:a="http://schemas.openxmlformats.org/drawingml/2006/main">
              <a:ext uri="{FF2B5EF4-FFF2-40B4-BE49-F238E27FC236}">
                <a16:creationId xmlns:a16="http://schemas.microsoft.com/office/drawing/2014/main" id="{E49BBD11-29AE-4DE3-A09E-F9003C101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Shape 8">
            <a:extLst xmlns:a="http://schemas.openxmlformats.org/drawingml/2006/main">
              <a:ext uri="{FF2B5EF4-FFF2-40B4-BE49-F238E27FC236}">
                <a16:creationId xmlns:a16="http://schemas.microsoft.com/office/drawing/2014/main" id="{3BF5E9EB-F52C-4C5A-AFBC-A0724921C1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Shape 9">
            <a:extLst xmlns:a="http://schemas.openxmlformats.org/drawingml/2006/main">
              <a:ext uri="{FF2B5EF4-FFF2-40B4-BE49-F238E27FC236}">
                <a16:creationId xmlns:a16="http://schemas.microsoft.com/office/drawing/2014/main" id="{E639CFC6-290C-42BA-AAAD-725CE6DC0F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38544"/>
            <a:ext cx="286207" cy="286207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12700">
            <a:solidFill>
              <a:srgbClr val="00B5AC"/>
            </a:solidFill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 12">
            <a:extLst xmlns:a="http://schemas.openxmlformats.org/drawingml/2006/main">
              <a:ext uri="{FF2B5EF4-FFF2-40B4-BE49-F238E27FC236}">
                <a16:creationId xmlns:a16="http://schemas.microsoft.com/office/drawing/2014/main" id="{C3C3DC5B-79EE-452E-B0C7-5323746F52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14500"/>
            <a:ext cx="9525305" cy="135331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접속코드·GitHub 연결·</a:t>
            </a:r>
          </a:p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48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5명 공개 기준을 먼저 확인하세요</a:t>
            </a:r>
          </a:p>
        </p:txBody>
      </p:sp>
      <p:sp>
        <p:nvSpPr>
          <p:cNvPr id="17" name="Text 13">
            <a:extLst xmlns:a="http://schemas.openxmlformats.org/drawingml/2006/main">
              <a:ext uri="{FF2B5EF4-FFF2-40B4-BE49-F238E27FC236}">
                <a16:creationId xmlns:a16="http://schemas.microsoft.com/office/drawing/2014/main" id="{19E43FD1-69AB-4180-AB23-736C3ED61A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810305"/>
            <a:ext cx="8572500" cy="715061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6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기획검증용 합성 데이터 전용입니다. Streamlit Secrets에 GitHub PAT·저장소·접속코드를 등록합니다. 실운영에서는 자체 서버 DB로 전환하세요.</a:t>
            </a:r>
          </a:p>
        </p:txBody>
      </p:sp>
      <p:sp>
        <p:nvSpPr>
          <p:cNvPr id="20" name="Text 16">
            <a:extLst xmlns:a="http://schemas.openxmlformats.org/drawingml/2006/main">
              <a:ext uri="{FF2B5EF4-FFF2-40B4-BE49-F238E27FC236}">
                <a16:creationId xmlns:a16="http://schemas.microsoft.com/office/drawing/2014/main" id="{415FDC9C-48C3-48EB-8973-21C532BF21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195" y="6638544"/>
            <a:ext cx="286207" cy="2862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FFFFFF"/>
                </a:solidFill>
                <a:latin typeface="Pretendard"/>
                <a:ea typeface="Pretendard"/>
                <a:cs typeface="Pretendard"/>
              </a:defRPr>
            </a:pPr>
            <a:r>
              <a:rPr sz="800">
                <a:solidFill>
                  <a:srgbClr val="FFFFFF"/>
                </a:solidFill>
                <a:latin typeface="Pretendard"/>
                <a:ea typeface="Pretendard"/>
                <a:cs typeface="Pretendard"/>
              </a:rPr>
              <a:t>01</a:t>
            </a:r>
          </a:p>
        </p:txBody>
      </p:sp>
      <p:sp>
        <p:nvSpPr>
          <p:cNvPr id="21" name="Text 17">
            <a:extLst xmlns:a="http://schemas.openxmlformats.org/drawingml/2006/main">
              <a:ext uri="{FF2B5EF4-FFF2-40B4-BE49-F238E27FC236}">
                <a16:creationId xmlns:a16="http://schemas.microsoft.com/office/drawing/2014/main" id="{79D4B285-3741-488C-AE8F-790DDB810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76956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8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02</a:t>
            </a:r>
          </a:p>
        </p:txBody>
      </p:sp>
      <p:sp>
        <p:nvSpPr>
          <p:cNvPr id="22" name="Text 18">
            <a:extLst xmlns:a="http://schemas.openxmlformats.org/drawingml/2006/main">
              <a:ext uri="{FF2B5EF4-FFF2-40B4-BE49-F238E27FC236}">
                <a16:creationId xmlns:a16="http://schemas.microsoft.com/office/drawing/2014/main" id="{B9A4515C-4CF3-4CC7-BB34-F3C881FDE7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19802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8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03</a:t>
            </a:r>
          </a:p>
        </p:txBody>
      </p:sp>
      <p:sp>
        <p:nvSpPr>
          <p:cNvPr id="23" name="Text 19">
            <a:extLst xmlns:a="http://schemas.openxmlformats.org/drawingml/2006/main">
              <a:ext uri="{FF2B5EF4-FFF2-40B4-BE49-F238E27FC236}">
                <a16:creationId xmlns:a16="http://schemas.microsoft.com/office/drawing/2014/main" id="{BC3F31E1-5500-4C62-A986-5A2D52877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62649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8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04</a:t>
            </a:r>
          </a:p>
        </p:txBody>
      </p:sp>
      <p:sp>
        <p:nvSpPr>
          <p:cNvPr id="24" name="Text 20">
            <a:extLst xmlns:a="http://schemas.openxmlformats.org/drawingml/2006/main">
              <a:ext uri="{FF2B5EF4-FFF2-40B4-BE49-F238E27FC236}">
                <a16:creationId xmlns:a16="http://schemas.microsoft.com/office/drawing/2014/main" id="{97726A4D-1C6D-416F-9AA1-C89C80D89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495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8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05</a:t>
            </a:r>
          </a:p>
        </p:txBody>
      </p:sp>
      <p:sp>
        <p:nvSpPr>
          <p:cNvPr id="25" name="Text 21">
            <a:extLst xmlns:a="http://schemas.openxmlformats.org/drawingml/2006/main">
              <a:ext uri="{FF2B5EF4-FFF2-40B4-BE49-F238E27FC236}">
                <a16:creationId xmlns:a16="http://schemas.microsoft.com/office/drawing/2014/main" id="{371A4D62-57C3-43EA-B275-5C716565B6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49256" y="6648145"/>
            <a:ext cx="286207" cy="26700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8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06</a:t>
            </a:r>
          </a:p>
        </p:txBody>
      </p:sp>
      <p:sp>
        <p:nvSpPr>
          <p:cNvPr id="26" name="Text 22">
            <a:extLst xmlns:a="http://schemas.openxmlformats.org/drawingml/2006/main">
              <a:ext uri="{FF2B5EF4-FFF2-40B4-BE49-F238E27FC236}">
                <a16:creationId xmlns:a16="http://schemas.microsoft.com/office/drawing/2014/main" id="{FEE894BA-ED08-4782-879A-A6A0D93658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5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접속코드 오류</a:t>
            </a:r>
          </a:p>
        </p:txBody>
      </p:sp>
      <p:sp>
        <p:nvSpPr>
          <p:cNvPr id="27" name="Text 23">
            <a:extLst xmlns:a="http://schemas.openxmlformats.org/drawingml/2006/main">
              <a:ext uri="{FF2B5EF4-FFF2-40B4-BE49-F238E27FC236}">
                <a16:creationId xmlns:a16="http://schemas.microsoft.com/office/drawing/2014/main" id="{FCB2D47B-38DC-428D-9401-8439B13B4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공유 코드 다시 입력</a:t>
            </a:r>
          </a:p>
        </p:txBody>
      </p:sp>
      <p:sp>
        <p:nvSpPr>
          <p:cNvPr id="28" name="Text 24">
            <a:extLst xmlns:a="http://schemas.openxmlformats.org/drawingml/2006/main">
              <a:ext uri="{FF2B5EF4-FFF2-40B4-BE49-F238E27FC236}">
                <a16:creationId xmlns:a16="http://schemas.microsoft.com/office/drawing/2014/main" id="{1B3FAAC6-34DB-4740-BC91-526756D390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5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GitHub 미연결</a:t>
            </a:r>
          </a:p>
        </p:txBody>
      </p:sp>
      <p:sp>
        <p:nvSpPr>
          <p:cNvPr id="29" name="Text 25">
            <a:extLst xmlns:a="http://schemas.openxmlformats.org/drawingml/2006/main">
              <a:ext uri="{FF2B5EF4-FFF2-40B4-BE49-F238E27FC236}">
                <a16:creationId xmlns:a16="http://schemas.microsoft.com/office/drawing/2014/main" id="{609AE952-13E5-41C0-8499-84492CE50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858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Secrets · PAT 확인</a:t>
            </a:r>
          </a:p>
        </p:txBody>
      </p:sp>
      <p:sp>
        <p:nvSpPr>
          <p:cNvPr id="30" name="Text 26">
            <a:extLst xmlns:a="http://schemas.openxmlformats.org/drawingml/2006/main">
              <a:ext uri="{FF2B5EF4-FFF2-40B4-BE49-F238E27FC236}">
                <a16:creationId xmlns:a16="http://schemas.microsoft.com/office/drawing/2014/main" id="{A385B14C-0A4B-4E96-B75A-5C11FA833B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5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5명 미만 비공개</a:t>
            </a:r>
          </a:p>
        </p:txBody>
      </p:sp>
      <p:sp>
        <p:nvSpPr>
          <p:cNvPr id="31" name="Text 27">
            <a:extLst xmlns:a="http://schemas.openxmlformats.org/drawingml/2006/main">
              <a:ext uri="{FF2B5EF4-FFF2-40B4-BE49-F238E27FC236}">
                <a16:creationId xmlns:a16="http://schemas.microsoft.com/office/drawing/2014/main" id="{58B8A766-BC78-43EC-A80A-DC8CC4CD46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29607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표본 보호 정상 동작</a:t>
            </a:r>
          </a:p>
        </p:txBody>
      </p:sp>
      <p:sp>
        <p:nvSpPr>
          <p:cNvPr id="32" name="Text 28">
            <a:extLst xmlns:a="http://schemas.openxmlformats.org/drawingml/2006/main">
              <a:ext uri="{FF2B5EF4-FFF2-40B4-BE49-F238E27FC236}">
                <a16:creationId xmlns:a16="http://schemas.microsoft.com/office/drawing/2014/main" id="{F94BEDD4-E69A-45CB-92AF-1F081A7594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5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저장·복원 실패</a:t>
            </a:r>
          </a:p>
        </p:txBody>
      </p:sp>
      <p:sp>
        <p:nvSpPr>
          <p:cNvPr id="33" name="Text 29">
            <a:extLst xmlns:a="http://schemas.openxmlformats.org/drawingml/2006/main">
              <a:ext uri="{FF2B5EF4-FFF2-40B4-BE49-F238E27FC236}">
                <a16:creationId xmlns:a16="http://schemas.microsoft.com/office/drawing/2014/main" id="{A557F20A-9E54-482C-B95B-4A164FF188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72454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동일 코드·ID · JSON 확인</a:t>
            </a:r>
          </a:p>
        </p:txBody>
      </p:sp>
      <p:sp>
        <p:nvSpPr>
          <p:cNvPr id="34" name="Text 30">
            <a:extLst xmlns:a="http://schemas.openxmlformats.org/drawingml/2006/main">
              <a:ext uri="{FF2B5EF4-FFF2-40B4-BE49-F238E27FC236}">
                <a16:creationId xmlns:a16="http://schemas.microsoft.com/office/drawing/2014/main" id="{2F01A551-9FA6-41F0-90CC-CD8914708B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5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demo-data 저장</a:t>
            </a:r>
          </a:p>
        </p:txBody>
      </p:sp>
      <p:sp>
        <p:nvSpPr>
          <p:cNvPr id="35" name="Text 31">
            <a:extLst xmlns:a="http://schemas.openxmlformats.org/drawingml/2006/main">
              <a:ext uri="{FF2B5EF4-FFF2-40B4-BE49-F238E27FC236}">
                <a16:creationId xmlns:a16="http://schemas.microsoft.com/office/drawing/2014/main" id="{2F56802D-9FC0-46D8-BB13-A34B6A5867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15300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합성 데이터 전용 확인</a:t>
            </a:r>
          </a:p>
        </p:txBody>
      </p:sp>
      <p:sp>
        <p:nvSpPr>
          <p:cNvPr id="36" name="Text 32">
            <a:extLst xmlns:a="http://schemas.openxmlformats.org/drawingml/2006/main">
              <a:ext uri="{FF2B5EF4-FFF2-40B4-BE49-F238E27FC236}">
                <a16:creationId xmlns:a16="http://schemas.microsoft.com/office/drawing/2014/main" id="{20AE0D34-4484-413E-A09D-20B22915EB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239305"/>
            <a:ext cx="1524305" cy="247802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0A0E10"/>
                </a:solidFill>
                <a:latin typeface="Pretendard"/>
                <a:ea typeface="Pretendard"/>
                <a:cs typeface="Pretendard"/>
              </a:defRPr>
            </a:pPr>
            <a:r>
              <a:rPr sz="1500">
                <a:solidFill>
                  <a:srgbClr val="0A0E10"/>
                </a:solidFill>
                <a:latin typeface="Pretendard"/>
                <a:ea typeface="Pretendard"/>
                <a:cs typeface="Pretendard"/>
              </a:rPr>
              <a:t>연결 없이 사용</a:t>
            </a:r>
          </a:p>
        </p:txBody>
      </p:sp>
      <p:sp>
        <p:nvSpPr>
          <p:cNvPr id="37" name="Text 33">
            <a:extLst xmlns:a="http://schemas.openxmlformats.org/drawingml/2006/main">
              <a:ext uri="{FF2B5EF4-FFF2-40B4-BE49-F238E27FC236}">
                <a16:creationId xmlns:a16="http://schemas.microsoft.com/office/drawing/2014/main" id="{9D580D4D-B2D7-49BE-8321-783180D51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58146" y="7582205"/>
            <a:ext cx="1524305" cy="448056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05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세션 · JSON · CSV 사용</a:t>
            </a:r>
          </a:p>
        </p:txBody>
      </p:sp>
      <p:sp>
        <p:nvSpPr>
          <p:cNvPr id="39" name="Text 35">
            <a:extLst xmlns:a="http://schemas.openxmlformats.org/drawingml/2006/main">
              <a:ext uri="{FF2B5EF4-FFF2-40B4-BE49-F238E27FC236}">
                <a16:creationId xmlns:a16="http://schemas.microsoft.com/office/drawing/2014/main" id="{6D54F027-2C71-4711-88CC-C99E29FC3F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430500" y="9620402"/>
            <a:ext cx="1714500" cy="17190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98A4A6"/>
                </a:solidFill>
                <a:latin typeface="Pretendard"/>
                <a:ea typeface="Pretendard"/>
                <a:cs typeface="Pretendard"/>
              </a:defRPr>
            </a:pPr>
            <a:r>
              <a:rPr sz="1100">
                <a:solidFill>
                  <a:srgbClr val="98A4A6"/>
                </a:solidFill>
                <a:latin typeface="Pretendard"/>
                <a:ea typeface="Pretendard"/>
                <a:cs typeface="Pretendard"/>
              </a:rPr>
              <a:t>12</a:t>
            </a:r>
          </a:p>
        </p:txBody>
      </p:sp>
      <p:sp>
        <p:nvSpPr>
          <p:cNvPr id="14" name="Text 10">
            <a:extLst xmlns:a="http://schemas.openxmlformats.org/drawingml/2006/main">
              <a:ext uri="{FF2B5EF4-FFF2-40B4-BE49-F238E27FC236}">
                <a16:creationId xmlns:a16="http://schemas.microsoft.com/office/drawing/2014/main" id="{9F0C2400-A4E8-4661-877A-68C2953EE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900326"/>
            <a:ext cx="1965090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>
            <a:noFill/>
          </a:ln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>
            <a:lvl1pPr indent="0">
              <a:buNone/>
              <a:defRPr sz="1300" spc="297"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lvl1pPr>
          </a:lstStyle>
          <a:p xmlns:a="http://schemas.openxmlformats.org/drawingml/2006/main">
            <a:pPr algn="l">
              <a:buNone/>
              <a:defRPr>
                <a:solidFill>
                  <a:srgbClr val="6C7476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6C7476"/>
                </a:solidFill>
                <a:latin typeface="Pretendard"/>
                <a:ea typeface="Pretendard"/>
                <a:cs typeface="Pretendard"/>
              </a:rPr>
              <a:t>QUICK START</a:t>
            </a:r>
          </a:p>
        </p:txBody>
      </p:sp>
      <p:sp>
        <p:nvSpPr>
          <p:cNvPr id="43" name="Text 4">
            <a:extLst xmlns:a="http://schemas.openxmlformats.org/drawingml/2006/main">
              <a:ext uri="{FF2B5EF4-FFF2-40B4-BE49-F238E27FC236}">
                <a16:creationId xmlns:a16="http://schemas.microsoft.com/office/drawing/2014/main" id="{FC0E9950-180D-5539-F231-2D96284EE6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21602" y="900326"/>
            <a:ext cx="1365937" cy="237744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</p:spPr>
        <p:txBody>
          <a:bodyPr xmlns:a="http://schemas.openxmlformats.org/drawingml/2006/main" wrap="non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buNone/>
              <a:defRPr>
                <a:solidFill>
                  <a:srgbClr val="00B5AC"/>
                </a:solidFill>
                <a:latin typeface="Pretendard"/>
                <a:ea typeface="Pretendard"/>
                <a:cs typeface="Pretendard"/>
              </a:defRPr>
            </a:pPr>
            <a:r>
              <a:rPr sz="1300">
                <a:solidFill>
                  <a:srgbClr val="00B5AC"/>
                </a:solidFill>
                <a:latin typeface="Pretendard"/>
                <a:ea typeface="Pretendard"/>
                <a:cs typeface="Pretendard"/>
              </a:rPr>
              <a:t>START</a:t>
            </a:r>
          </a:p>
        </p:txBody>
      </p:sp>
    </p:spTree>
    <p:extLst>
      <p:ext uri="{BB962C8B-B14F-4D97-AF65-F5344CB8AC3E}">
        <p14:creationId xmlns:p14="http://schemas.microsoft.com/office/powerpoint/2010/main" val="829460187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2026-08-20T05:33:30.4730000Z</dcterms:created>
  <dcterms:modified xsi:type="dcterms:W3CDTF">2026-08-20T05:33:30.4730000Z</dcterms:modified>
</coreProperties>
</file>
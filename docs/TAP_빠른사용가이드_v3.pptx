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04650ad4664257" /><Relationship Type="http://schemas.openxmlformats.org/officeDocument/2006/relationships/extended-properties" Target="/docProps/app.xml" Id="R0aa0c22cdbb042ea" /><Relationship Type="http://schemas.openxmlformats.org/officeDocument/2006/relationships/officeDocument" Target="/ppt/presentation.xml" Id="R553fdf31e5184d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0eaf6342e314e9a"/>
  </p:sldMasterIdLst>
  <p:notesMasterIdLst>
    <p:notesMasterId xmlns:r="http://schemas.openxmlformats.org/officeDocument/2006/relationships" r:id="Rc0b7dc3b28d048a9"/>
  </p:notesMasterIdLst>
  <p:sldIdLst>
    <p:sldId xmlns:r="http://schemas.openxmlformats.org/officeDocument/2006/relationships" id="256" r:id="Rf6fd2150cc2f4470"/>
    <p:sldId xmlns:r="http://schemas.openxmlformats.org/officeDocument/2006/relationships" id="257" r:id="R52da3efd086647a5"/>
    <p:sldId xmlns:r="http://schemas.openxmlformats.org/officeDocument/2006/relationships" id="258" r:id="Rfff92b360c5f416c"/>
    <p:sldId xmlns:r="http://schemas.openxmlformats.org/officeDocument/2006/relationships" id="259" r:id="Raf72f16d494f4204"/>
    <p:sldId xmlns:r="http://schemas.openxmlformats.org/officeDocument/2006/relationships" id="260" r:id="R808a6952d0e748b5"/>
    <p:sldId xmlns:r="http://schemas.openxmlformats.org/officeDocument/2006/relationships" id="261" r:id="R88b0607fcea748a8"/>
    <p:sldId xmlns:r="http://schemas.openxmlformats.org/officeDocument/2006/relationships" id="262" r:id="Rde67c377e91c4915"/>
    <p:sldId xmlns:r="http://schemas.openxmlformats.org/officeDocument/2006/relationships" id="263" r:id="R81dedd68c9424d06"/>
    <p:sldId xmlns:r="http://schemas.openxmlformats.org/officeDocument/2006/relationships" id="264" r:id="R43c7c6c74ca94923"/>
    <p:sldId xmlns:r="http://schemas.openxmlformats.org/officeDocument/2006/relationships" id="265" r:id="Rfcf3d71f9cd2401c"/>
    <p:sldId xmlns:r="http://schemas.openxmlformats.org/officeDocument/2006/relationships" id="266" r:id="R580be1fdd5464110"/>
    <p:sldId xmlns:r="http://schemas.openxmlformats.org/officeDocument/2006/relationships" id="267" r:id="Re7abb756e9cf4791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f7f6872de444530" /><Relationship Type="http://schemas.openxmlformats.org/officeDocument/2006/relationships/slideMaster" Target="/ppt/slideMasters/slideMaster1.xml" Id="R40eaf6342e314e9a" /><Relationship Type="http://schemas.openxmlformats.org/officeDocument/2006/relationships/notesMaster" Target="/ppt/notesMasters/notesMaster1.xml" Id="Rc0b7dc3b28d048a9" /><Relationship Type="http://schemas.openxmlformats.org/officeDocument/2006/relationships/presProps" Target="/ppt/presProps.xml" Id="Rff9de85711414b7f" /><Relationship Type="http://schemas.openxmlformats.org/officeDocument/2006/relationships/viewProps" Target="/ppt/viewProps.xml" Id="R960fb0f5ba6f4922" /><Relationship Type="http://schemas.openxmlformats.org/officeDocument/2006/relationships/tableStyles" Target="/ppt/tableStyles.xml" Id="R90a4e29703774ba4" /><Relationship Type="http://schemas.openxmlformats.org/officeDocument/2006/relationships/slide" Target="/ppt/slides/slide1.xml" Id="Rf6fd2150cc2f4470" /><Relationship Type="http://schemas.openxmlformats.org/officeDocument/2006/relationships/slide" Target="/ppt/slides/slide2.xml" Id="R52da3efd086647a5" /><Relationship Type="http://schemas.openxmlformats.org/officeDocument/2006/relationships/slide" Target="/ppt/slides/slide3.xml" Id="Rfff92b360c5f416c" /><Relationship Type="http://schemas.openxmlformats.org/officeDocument/2006/relationships/slide" Target="/ppt/slides/slide4.xml" Id="Raf72f16d494f4204" /><Relationship Type="http://schemas.openxmlformats.org/officeDocument/2006/relationships/slide" Target="/ppt/slides/slide5.xml" Id="R808a6952d0e748b5" /><Relationship Type="http://schemas.openxmlformats.org/officeDocument/2006/relationships/slide" Target="/ppt/slides/slide6.xml" Id="R88b0607fcea748a8" /><Relationship Type="http://schemas.openxmlformats.org/officeDocument/2006/relationships/slide" Target="/ppt/slides/slide7.xml" Id="Rde67c377e91c4915" /><Relationship Type="http://schemas.openxmlformats.org/officeDocument/2006/relationships/slide" Target="/ppt/slides/slide8.xml" Id="R81dedd68c9424d06" /><Relationship Type="http://schemas.openxmlformats.org/officeDocument/2006/relationships/slide" Target="/ppt/slides/slide9.xml" Id="R43c7c6c74ca94923" /><Relationship Type="http://schemas.openxmlformats.org/officeDocument/2006/relationships/slide" Target="/ppt/slides/slide10.xml" Id="Rfcf3d71f9cd2401c" /><Relationship Type="http://schemas.openxmlformats.org/officeDocument/2006/relationships/slide" Target="/ppt/slides/slide11.xml" Id="R580be1fdd5464110" /><Relationship Type="http://schemas.openxmlformats.org/officeDocument/2006/relationships/slide" Target="/ppt/slides/slide12.xml" Id="Re7abb756e9cf47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94ba5731e2442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a73a3eccb4421a" /><Relationship Type="http://schemas.openxmlformats.org/officeDocument/2006/relationships/notesMaster" Target="/ppt/notesMasters/notesMaster1.xml" Id="Re6d6a5fb8a0b41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0c64999fe2442d" /><Relationship Type="http://schemas.openxmlformats.org/officeDocument/2006/relationships/notesMaster" Target="/ppt/notesMasters/notesMaster1.xml" Id="R3eeaf2f2646742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0dfb854a2bf4dd9" /><Relationship Type="http://schemas.openxmlformats.org/officeDocument/2006/relationships/notesMaster" Target="/ppt/notesMasters/notesMaster1.xml" Id="Ra22a829231fa4d3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776a8da2ba4d27" /><Relationship Type="http://schemas.openxmlformats.org/officeDocument/2006/relationships/notesMaster" Target="/ppt/notesMasters/notesMaster1.xml" Id="Rbe3eb92f00284c3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9e9087e6f26458d" /><Relationship Type="http://schemas.openxmlformats.org/officeDocument/2006/relationships/notesMaster" Target="/ppt/notesMasters/notesMaster1.xml" Id="Re4370a851323407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da0bfbf9d3b491e" /><Relationship Type="http://schemas.openxmlformats.org/officeDocument/2006/relationships/notesMaster" Target="/ppt/notesMasters/notesMaster1.xml" Id="Rce8f8529acd1455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ebfa611717a4bea" /><Relationship Type="http://schemas.openxmlformats.org/officeDocument/2006/relationships/notesMaster" Target="/ppt/notesMasters/notesMaster1.xml" Id="R046384331ae24ad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966255aa431475f" /><Relationship Type="http://schemas.openxmlformats.org/officeDocument/2006/relationships/notesMaster" Target="/ppt/notesMasters/notesMaster1.xml" Id="R2924daea718547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a46fd35bcf2417b" /><Relationship Type="http://schemas.openxmlformats.org/officeDocument/2006/relationships/notesMaster" Target="/ppt/notesMasters/notesMaster1.xml" Id="R779ea853b45e4b3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88baa0d33d94b40" /><Relationship Type="http://schemas.openxmlformats.org/officeDocument/2006/relationships/notesMaster" Target="/ppt/notesMasters/notesMaster1.xml" Id="R4a9ef10a4530419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eea7b7eabe84efd" /><Relationship Type="http://schemas.openxmlformats.org/officeDocument/2006/relationships/notesMaster" Target="/ppt/notesMasters/notesMaster1.xml" Id="R87fa664a7833472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4a481a0c0df4270" /><Relationship Type="http://schemas.openxmlformats.org/officeDocument/2006/relationships/notesMaster" Target="/ppt/notesMasters/notesMaster1.xml" Id="R7ae22eda5937411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2026-08-16.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2026-08-16.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2026-08-16.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Screenshot: locally verified TAP screen (dashboard.png), 2026-08-16.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2026-08-16.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Screenshot: locally verified TAP screen (assessment.png), 2026-08-16.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2026-08-16.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Screenshot: locally verified TAP screen (organization-report.png), 2026-08-16.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2026-08-16.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Screenshot: locally verified TAP screen (question-bank.png), 2026-08-16.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2026-08-16.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2026-08-16.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95031dff9c476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cfc823fd3f4aa0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DC10F393-A48F-F642-66FB-6D14653B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hape 1">
            <a:extLst xmlns:a="http://schemas.openxmlformats.org/drawingml/2006/main">
              <a:ext uri="{FF2B5EF4-FFF2-40B4-BE49-F238E27FC236}">
                <a16:creationId xmlns:a16="http://schemas.microsoft.com/office/drawing/2014/main" id="{FDA6C402-FDB4-6270-C720-21D2D901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STUDIO_TOC">
    <p:bg>
      <p:bgPr>
        <a:solidFill xmlns:a="http://schemas.openxmlformats.org/drawingml/2006/main">
          <a:srgbClr val="DD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hape 0">
            <a:extLst xmlns:a="http://schemas.openxmlformats.org/drawingml/2006/main">
              <a:ext uri="{FF2B5EF4-FFF2-40B4-BE49-F238E27FC236}">
                <a16:creationId xmlns:a16="http://schemas.microsoft.com/office/drawing/2014/main" id="{30DB86DE-E6F1-C0EE-E966-8CE196B1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00353"/>
            <a:ext cx="1828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a1b251695644870" /><Relationship Type="http://schemas.openxmlformats.org/officeDocument/2006/relationships/slideLayout" Target="/ppt/slideLayouts/slideLayout1.xml" Id="Rc7b6c295babc4081" /><Relationship Type="http://schemas.openxmlformats.org/officeDocument/2006/relationships/slideLayout" Target="/ppt/slideLayouts/slideLayout2.xml" Id="R33121d4346bd42a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b6c295babc4081"/>
    <p:sldLayoutId xmlns:r="http://schemas.openxmlformats.org/officeDocument/2006/relationships" id="2147483650" r:id="R33121d4346bd42a4"/>
  </p:sldLayoutIdLst>
  <p:hf sldNum="0" hdr="0" ftr="0" dt="0"/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e63bd1d9ac411d" /><Relationship Type="http://schemas.openxmlformats.org/officeDocument/2006/relationships/image" Target="/ppt/media/image.png" Id="R1191bf66b1ee4606" /><Relationship Type="http://schemas.openxmlformats.org/officeDocument/2006/relationships/image" Target="/ppt/media/image2.png" Id="R5b8f0aced05d44ab" /><Relationship Type="http://schemas.openxmlformats.org/officeDocument/2006/relationships/notesSlide" Target="/ppt/notesSlides/notesSlide1.xml" Id="R78c3e039061e4bb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cd0a94218c46c6" /><Relationship Type="http://schemas.openxmlformats.org/officeDocument/2006/relationships/image" Target="/ppt/media/image2.png" Id="Rc44ab1c3ecbc43cc" /><Relationship Type="http://schemas.openxmlformats.org/officeDocument/2006/relationships/notesSlide" Target="/ppt/notesSlides/notesSlide2.xml" Id="R020e9361e8e448d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e22cc493b84f7a" /><Relationship Type="http://schemas.openxmlformats.org/officeDocument/2006/relationships/image" Target="/ppt/media/image2.png" Id="R5c318ab4289e4462" /><Relationship Type="http://schemas.openxmlformats.org/officeDocument/2006/relationships/notesSlide" Target="/ppt/notesSlides/notesSlide3.xml" Id="Rac4eb819c31a424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6711003d5b44dd" /><Relationship Type="http://schemas.openxmlformats.org/officeDocument/2006/relationships/image" Target="/ppt/media/image2.png" Id="R275224034b4c4077" /><Relationship Type="http://schemas.openxmlformats.org/officeDocument/2006/relationships/notesSlide" Target="/ppt/notesSlides/notesSlide4.xml" Id="R2d5805d200714b0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6930def0844558" /><Relationship Type="http://schemas.openxmlformats.org/officeDocument/2006/relationships/image" Target="/ppt/media/image2.png" Id="R3a8c950a55314ba2" /><Relationship Type="http://schemas.openxmlformats.org/officeDocument/2006/relationships/notesSlide" Target="/ppt/notesSlides/notesSlide5.xml" Id="Rb011c3e380904c2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8f2a4ce934406f" /><Relationship Type="http://schemas.openxmlformats.org/officeDocument/2006/relationships/image" Target="/ppt/media/image3.png" Id="R8840d189b4c0478f" /><Relationship Type="http://schemas.openxmlformats.org/officeDocument/2006/relationships/image" Target="/ppt/media/image2.png" Id="Rf8968bbfc97a4c84" /><Relationship Type="http://schemas.openxmlformats.org/officeDocument/2006/relationships/notesSlide" Target="/ppt/notesSlides/notesSlide6.xml" Id="R9d1acd9d64c449c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e09552106942fb" /><Relationship Type="http://schemas.openxmlformats.org/officeDocument/2006/relationships/image" Target="/ppt/media/image2.png" Id="R15b75468e27742e7" /><Relationship Type="http://schemas.openxmlformats.org/officeDocument/2006/relationships/image" Target="/ppt/media/image.jpeg" Id="R41e779f8b0fe4820" /><Relationship Type="http://schemas.openxmlformats.org/officeDocument/2006/relationships/notesSlide" Target="/ppt/notesSlides/notesSlide7.xml" Id="R527158fd84af431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59b6600ee04f02" /><Relationship Type="http://schemas.openxmlformats.org/officeDocument/2006/relationships/image" Target="/ppt/media/image2.png" Id="Rffc9af59d12848ab" /><Relationship Type="http://schemas.openxmlformats.org/officeDocument/2006/relationships/image" Target="/ppt/media/image2.jpeg" Id="R0118d6b0b4b64c45" /><Relationship Type="http://schemas.openxmlformats.org/officeDocument/2006/relationships/notesSlide" Target="/ppt/notesSlides/notesSlide8.xml" Id="Ra422cd5ebe16444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863bfd71984eaf" /><Relationship Type="http://schemas.openxmlformats.org/officeDocument/2006/relationships/image" Target="/ppt/media/image2.png" Id="R5ace817cbf6b42a7" /><Relationship Type="http://schemas.openxmlformats.org/officeDocument/2006/relationships/image" Target="/ppt/media/image3.jpeg" Id="Rcf74acda9f634211" /><Relationship Type="http://schemas.openxmlformats.org/officeDocument/2006/relationships/notesSlide" Target="/ppt/notesSlides/notesSlide9.xml" Id="R6bc6e2aa11cd4ad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86ff7eb09c47d9" /><Relationship Type="http://schemas.openxmlformats.org/officeDocument/2006/relationships/image" Target="/ppt/media/image2.png" Id="R4e6f0c8fcf3a4c27" /><Relationship Type="http://schemas.openxmlformats.org/officeDocument/2006/relationships/image" Target="/ppt/media/image4.jpeg" Id="R3c9eb3b9534140a7" /><Relationship Type="http://schemas.openxmlformats.org/officeDocument/2006/relationships/notesSlide" Target="/ppt/notesSlides/notesSlide10.xml" Id="R69876cb6b8dd463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ed3f3d00484649" /><Relationship Type="http://schemas.openxmlformats.org/officeDocument/2006/relationships/image" Target="/ppt/media/image2.png" Id="R56f4f1d3ecab48fc" /><Relationship Type="http://schemas.openxmlformats.org/officeDocument/2006/relationships/notesSlide" Target="/ppt/notesSlides/notesSlide11.xml" Id="R4c2beed03ef34ee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4c3b10fd744a88" /><Relationship Type="http://schemas.openxmlformats.org/officeDocument/2006/relationships/image" Target="/ppt/media/image3.png" Id="Re2bd4fc8e10a4ea9" /><Relationship Type="http://schemas.openxmlformats.org/officeDocument/2006/relationships/image" Target="/ppt/media/image2.png" Id="R0c4145a04c5743f5" /><Relationship Type="http://schemas.openxmlformats.org/officeDocument/2006/relationships/notesSlide" Target="/ppt/notesSlides/notesSlide12.xml" Id="R34ba3d89f2db4fd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91bf66b1ee4606"/>
          <a:srcRect xmlns:a="http://schemas.openxmlformats.org/drawingml/2006/main" l="0" t="-400" r="0" b="-400"/>
          <a:stretch xmlns:a="http://schemas.openxmlformats.org/drawingml/2006/main"/>
        </p:blipFill>
        <p:spPr>
          <a:xfrm xmlns:a="http://schemas.openxmlformats.org/drawingml/2006/main">
            <a:off x="1154116" y="2514600"/>
            <a:ext cx="457200" cy="19202"/>
          </a:xfrm>
          <a:prstGeom xmlns:a="http://schemas.openxmlformats.org/drawingml/2006/main" prst="rect">
            <a:avLst/>
          </a:prstGeom>
        </p:spPr>
      </p:pic>
      <p:pic>
        <p:nvPicPr>
          <p:cNvPr id="2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8f0aced05d44ab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7588BFF-A375-4EE5-86EC-882455CAF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57150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TAP USER GUIDE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A6555D4-4FC0-43F5-89EA-710ADBB5F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333195"/>
            <a:ext cx="571500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6C7476"/>
                </a:solidFill>
                <a:latin typeface="페이퍼로지 5 Medium"/>
                <a:ea typeface="페이퍼로지 5 Medium"/>
                <a:cs typeface="페이퍼로지 5 Medium"/>
              </a:rPr>
              <a:t>회원사 교육 전후 역량평가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F94598D-D2EA-447C-A288-E759C5A6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1485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8"/>
              </a:spcAft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3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TAP 사용설명서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54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교육 전후 변화를 다음 개선으로</a:t>
            </a:r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01895F6A-EFDF-4122-8361-5A1B7C553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7239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교육담당자 · 참여자 · KMA 관리자  |  2026.08</a:t>
            </a:r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63249269-3EBF-411F-9214-578C112E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39305"/>
            <a:ext cx="886054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000"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rPr>
              <a:t>이해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498378CE-77A5-42F4-9386-8900A1B4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9132" y="7295998"/>
            <a:ext cx="47549" cy="4754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7827250-D715-47E9-BF85-D371494E4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588" y="7239305"/>
            <a:ext cx="1095451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000"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rPr>
              <a:t>사용 순서</a:t>
            </a:r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B004A06-9C22-4464-A98C-947C74A7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203" y="7295998"/>
            <a:ext cx="47549" cy="4754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3355592F-483C-412C-AFF7-1A7C1D0A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2659" y="7239305"/>
            <a:ext cx="486461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000"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rPr>
              <a:t>버튼 안내</a:t>
            </a:r>
          </a:p>
        </p:txBody>
      </p:sp>
    </p:spTree>
    <p:extLst>
      <p:ext uri="{BB962C8B-B14F-4D97-AF65-F5344CB8AC3E}">
        <p14:creationId xmlns:p14="http://schemas.microsoft.com/office/powerpoint/2010/main" val="11975760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4ab1c3ecbc43cc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FA59CA-2888-E92C-D36A-7C087629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762061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TAP은 교육 전후의 변화를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같은 기준으로 확인합니다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F01E7FD-710D-70CA-AB54-FFD4CBA4B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7429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교육 전 출발점을 기록하고, 현업 적용 8~10주 후 같은 행동문항으로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다시 측정해 변화와 현업 적용환경을 확인합니다.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C979613-820C-68B0-3020-76B2B004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476695"/>
            <a:ext cx="228600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FF477ABB-A118-6E27-2F73-2B9EDE14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810451"/>
            <a:ext cx="2286000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9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사전검사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4B672A9E-C4D6-5620-194E-059E6E40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29246"/>
            <a:ext cx="2286000" cy="50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교육 전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출발점 기록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0188F215-E8C2-D2C2-6890-A9D7E20D5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598" y="6476695"/>
            <a:ext cx="228600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802773F1-F230-E5B7-AB67-E3B93F9D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598" y="6810451"/>
            <a:ext cx="2286000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9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사후검사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92620C19-402F-1A79-B79C-487B4E6A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598" y="7229246"/>
            <a:ext cx="2286000" cy="50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같은 문항으로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현업 행동 재측정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D33D5E3-3E55-FA73-07C8-351FBE38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195" y="6476695"/>
            <a:ext cx="228600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C86F90E-30AA-F6C6-C349-5ACAB495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195" y="6810451"/>
            <a:ext cx="2286000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9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다음 행동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56088DD1-10B8-BAE8-4A3D-AB14DA41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195" y="7229246"/>
            <a:ext cx="2286000" cy="50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짝지은 변화와 전이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조건 확인</a:t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96E0A1F2-D7C3-2D5B-5BB7-AD6A734A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02</a:t>
            </a:r>
          </a:p>
        </p:txBody>
      </p:sp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CDD74CE-8565-9840-73F8-F32FDA42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4">
            <a:extLst xmlns:a="http://schemas.openxmlformats.org/drawingml/2006/main">
              <a:ext uri="{FF2B5EF4-FFF2-40B4-BE49-F238E27FC236}">
                <a16:creationId xmlns:a16="http://schemas.microsoft.com/office/drawing/2014/main" id="{2921C518-2F6B-707E-1DAC-2C05193F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6593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2D81AE81-1ADF-EC5B-0BB4-A65E66445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999" y="900326"/>
            <a:ext cx="1638701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SERVICE SUMMARY</a:t>
            </a:r>
          </a:p>
        </p:txBody>
      </p:sp>
    </p:spTree>
    <p:extLst>
      <p:ext uri="{BB962C8B-B14F-4D97-AF65-F5344CB8AC3E}">
        <p14:creationId xmlns:p14="http://schemas.microsoft.com/office/powerpoint/2010/main" val="168236174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hape 0">
            <a:extLst xmlns:a="http://schemas.openxmlformats.org/drawingml/2006/main">
              <a:ext uri="{FF2B5EF4-FFF2-40B4-BE49-F238E27FC236}">
                <a16:creationId xmlns:a16="http://schemas.microsoft.com/office/drawing/2014/main" id="{EDC866E3-24F5-49DE-AD0B-5E6E8D8A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57C3B50-DC20-4F8A-B5CC-3156A334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5695" y="1714500"/>
            <a:ext cx="7239305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318ab4289e4462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9F889484-E45F-4FEE-BEAA-0F19B096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43759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ROLE &amp; ACCESS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800BFA6-B5DA-4B8B-8072-6FE99AD7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0010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역할마다 필요한 화면과</a:t>
            </a:r>
            <a:endParaRPr sz="4800">
              <a:solidFill>
                <a:srgbClr val="0A0E10"/>
              </a:solidFill>
              <a:latin typeface="페이퍼로지 2 ExtraLight"/>
              <a:ea typeface="페이퍼로지 2 ExtraLight"/>
              <a:cs typeface="페이퍼로지 2 ExtraLight"/>
            </a:endParaRP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기본 열람범위가 다릅니다</a:t>
            </a:r>
            <a:endParaRPr sz="4800">
              <a:solidFill>
                <a:srgbClr val="0A0E10"/>
              </a:solidFill>
              <a:latin typeface="페이퍼로지 6 SemiBold"/>
              <a:ea typeface="페이퍼로지 6 SemiBold"/>
              <a:cs typeface="페이퍼로지 6 SemiBold"/>
            </a:endParaRP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9084758-1CD5-4C2D-8E2D-0F5EF636D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7429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역할 전환은 데모 화면 안내용이며 실제 운영 권한 인증을 대신하지 않습니다.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DD5AB2B7-DC51-4B74-9025-5A22A787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8C38AD6-6B0F-4B1B-9621-8BFBA7DA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62025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교육담당자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A1CE548-484D-4A33-9ED7-2E464BA0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00646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교육 일정 · 조직 변화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FAF3B7E-D856-4CE0-979E-3C20F8F1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286500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F020F00B-53B8-4678-BEC1-E0267DE4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62025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참여자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42C3DDD-61D8-405A-BD62-70ABE0E5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7000646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사전·사후 · 내 변화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82429BE4-CDA5-4001-A698-E2180F1F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810805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D5E2A1D7-74E9-4087-BC3E-73178F26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14364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관리자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BC530BDB-D51B-4622-AEB9-DB0AAA7B5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524951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운영현황 · 문항검수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0FB7444-4885-4E76-8E01-B6ABBAE6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7810805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07BC6A3-AD8A-496B-A61D-5B304433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814364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공통 원칙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D8A459E-A2D9-4E3E-94FE-C42BF67DE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8524951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개인정보 최소 공개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71015A9-AF87-4399-A204-FADF0CD7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03</a:t>
            </a:r>
          </a:p>
        </p:txBody>
      </p:sp>
      <p:sp>
        <p:nvSpPr>
          <p:cNvPr id="30" name="Text 4">
            <a:extLst xmlns:a="http://schemas.openxmlformats.org/drawingml/2006/main">
              <a:ext uri="{FF2B5EF4-FFF2-40B4-BE49-F238E27FC236}">
                <a16:creationId xmlns:a16="http://schemas.microsoft.com/office/drawing/2014/main" id="{EB6CD4AC-0BA3-CCDE-E960-058897DF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7074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32" name="concept-flow-1">
            <a:extLst xmlns:a="http://schemas.openxmlformats.org/drawingml/2006/main">
              <a:ext uri="{FF2B5EF4-FFF2-40B4-BE49-F238E27FC236}">
                <a16:creationId xmlns:a16="http://schemas.microsoft.com/office/drawing/2014/main" id="{717CD388-9B7B-4143-8144-38D00D7A5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357524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concept-flow-2">
            <a:extLst xmlns:a="http://schemas.openxmlformats.org/drawingml/2006/main">
              <a:ext uri="{FF2B5EF4-FFF2-40B4-BE49-F238E27FC236}">
                <a16:creationId xmlns:a16="http://schemas.microsoft.com/office/drawing/2014/main" id="{EAD99F34-9C65-45AF-B900-84DB2C53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357524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concept-badge">
            <a:extLst xmlns:a="http://schemas.openxmlformats.org/drawingml/2006/main">
              <a:ext uri="{FF2B5EF4-FFF2-40B4-BE49-F238E27FC236}">
                <a16:creationId xmlns:a16="http://schemas.microsoft.com/office/drawing/2014/main" id="{A2B430A5-542F-4F96-849E-393283C2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3262024"/>
            <a:ext cx="26670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0B5AC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7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역할별 화면 · 접근 분리</a:t>
            </a:r>
          </a:p>
        </p:txBody>
      </p:sp>
      <p:sp>
        <p:nvSpPr>
          <p:cNvPr id="35" name="concept-a">
            <a:extLst xmlns:a="http://schemas.openxmlformats.org/drawingml/2006/main">
              <a:ext uri="{FF2B5EF4-FFF2-40B4-BE49-F238E27FC236}">
                <a16:creationId xmlns:a16="http://schemas.microsoft.com/office/drawing/2014/main" id="{4913A229-4B0F-49E1-AD0D-040DBCD6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690774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교육담당자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조직 운영</a:t>
            </a:r>
          </a:p>
        </p:txBody>
      </p:sp>
      <p:sp>
        <p:nvSpPr>
          <p:cNvPr id="36" name="concept-b">
            <a:extLst xmlns:a="http://schemas.openxmlformats.org/drawingml/2006/main">
              <a:ext uri="{FF2B5EF4-FFF2-40B4-BE49-F238E27FC236}">
                <a16:creationId xmlns:a16="http://schemas.microsoft.com/office/drawing/2014/main" id="{0C0ADA75-9D8F-485A-AFFB-44A12F4E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690774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참여자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본인 결과</a:t>
            </a:r>
          </a:p>
        </p:txBody>
      </p:sp>
      <p:sp>
        <p:nvSpPr>
          <p:cNvPr id="37" name="concept-ab">
            <a:extLst xmlns:a="http://schemas.openxmlformats.org/drawingml/2006/main">
              <a:ext uri="{FF2B5EF4-FFF2-40B4-BE49-F238E27FC236}">
                <a16:creationId xmlns:a16="http://schemas.microsoft.com/office/drawing/2014/main" id="{A6F7D5E1-03AC-4618-A7BC-7F6748D1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690774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관리자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도구 품질</a:t>
            </a:r>
          </a:p>
        </p:txBody>
      </p:sp>
      <p:sp>
        <p:nvSpPr>
          <p:cNvPr id="38" name="concept-result-a">
            <a:extLst xmlns:a="http://schemas.openxmlformats.org/drawingml/2006/main">
              <a:ext uri="{FF2B5EF4-FFF2-40B4-BE49-F238E27FC236}">
                <a16:creationId xmlns:a16="http://schemas.microsoft.com/office/drawing/2014/main" id="{D308B340-70F6-40D2-B87F-2B77ED54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786274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N≥5 집계</a:t>
            </a:r>
          </a:p>
        </p:txBody>
      </p:sp>
      <p:sp>
        <p:nvSpPr>
          <p:cNvPr id="39" name="concept-result-b">
            <a:extLst xmlns:a="http://schemas.openxmlformats.org/drawingml/2006/main">
              <a:ext uri="{FF2B5EF4-FFF2-40B4-BE49-F238E27FC236}">
                <a16:creationId xmlns:a16="http://schemas.microsoft.com/office/drawing/2014/main" id="{2C67017C-0697-481B-A615-F01504C4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6786274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공유는 선택</a:t>
            </a:r>
          </a:p>
        </p:txBody>
      </p:sp>
      <p:sp>
        <p:nvSpPr>
          <p:cNvPr id="40" name="concept-result-ab">
            <a:extLst xmlns:a="http://schemas.openxmlformats.org/drawingml/2006/main">
              <a:ext uri="{FF2B5EF4-FFF2-40B4-BE49-F238E27FC236}">
                <a16:creationId xmlns:a16="http://schemas.microsoft.com/office/drawing/2014/main" id="{79A65F2B-A3FB-4CFC-84B5-E8FBBFF2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0" y="6786274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점수 기본 미열람</a:t>
            </a:r>
          </a:p>
        </p:txBody>
      </p:sp>
      <p:sp>
        <p:nvSpPr>
          <p:cNvPr id="41" name="concept-month-1">
            <a:extLst xmlns:a="http://schemas.openxmlformats.org/drawingml/2006/main">
              <a:ext uri="{FF2B5EF4-FFF2-40B4-BE49-F238E27FC236}">
                <a16:creationId xmlns:a16="http://schemas.microsoft.com/office/drawing/2014/main" id="{7F624207-AA90-48B2-9A90-37E6FF88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233574"/>
            <a:ext cx="37147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1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교육담당자 · 참여자</a:t>
            </a:r>
          </a:p>
        </p:txBody>
      </p:sp>
      <p:sp>
        <p:nvSpPr>
          <p:cNvPr id="42" name="concept-month-2">
            <a:extLst xmlns:a="http://schemas.openxmlformats.org/drawingml/2006/main">
              <a:ext uri="{FF2B5EF4-FFF2-40B4-BE49-F238E27FC236}">
                <a16:creationId xmlns:a16="http://schemas.microsoft.com/office/drawing/2014/main" id="{E967CC4D-5CCF-4290-8FF2-C83C7CD6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0" y="4233574"/>
            <a:ext cx="16192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1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KMA</a:t>
            </a:r>
          </a:p>
        </p:txBody>
      </p:sp>
    </p:spTree>
    <p:extLst>
      <p:ext uri="{BB962C8B-B14F-4D97-AF65-F5344CB8AC3E}">
        <p14:creationId xmlns:p14="http://schemas.microsoft.com/office/powerpoint/2010/main" val="112463061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Shape 0">
            <a:extLst xmlns:a="http://schemas.openxmlformats.org/drawingml/2006/main">
              <a:ext uri="{FF2B5EF4-FFF2-40B4-BE49-F238E27FC236}">
                <a16:creationId xmlns:a16="http://schemas.microsoft.com/office/drawing/2014/main" id="{171F3167-D0F6-A154-3969-882D5381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6910152-35D2-44BA-B745-A951087A6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5224034b4c4077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01D4990-29A3-4468-AD6C-B50C06EA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668604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RESULT USE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0474DB0-9A5B-4CE3-AE6B-55D4443B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전후 변화와 전이 조건으로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다음 개선을 정합니다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3CA359B-CBBA-44AE-9F0B-F9279297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572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사후점수만으로 교육효과를 단정하지 않습니다.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적용기회 · 상사지원 · 도구 · 권한을 함께 봅니다.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1EB2A4FA-C378-46BA-9B70-8E966295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82872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971020C2-BC00-4FEB-868A-A7DDB966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96051"/>
            <a:ext cx="8287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 리포트 · 본인의 사전·사후 변화 확인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1AD8DDF0-7039-4E27-8B11-2D413AA2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58154"/>
            <a:ext cx="8287207" cy="277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동일 문항의 전후 점수 · 관찰 변화 · 현업 적용환경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51D52D4-BF9F-4AEC-A9D4-540643CD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48195"/>
            <a:ext cx="82872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DD8F7B3A-A440-4EC2-98B6-B68C90AE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29246"/>
            <a:ext cx="8287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조직 리포트 · 짝지어진 집단 변화 확인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A2EB170-DEF1-4950-BC23-6D00056C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사전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0F0B1C30-E9DC-4507-A357-EFB59F4E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출발점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774F5C4-63C0-4BB8-9997-93CEC477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805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사후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54549F4-E392-4989-B19C-6113A80F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805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관찰 변화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BE03D512-C8BF-4877-ADFC-96AA1806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3695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맥락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950766F9-1E33-49C8-A166-FE4CD03B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3695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적용환경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5D20431E-E24E-4484-AEB4-E8CEB73E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공개</a:t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666938FE-E18C-48A1-9545-991822C1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N≥5 집계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304613-E79C-40DC-BC1B-D2BDFA925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762695"/>
            <a:ext cx="82872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비교집단이 없으면 교육의 인과효과가 아니라 ‘교육 전후 관찰된 변화’로 표현합니다.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F9198117-1B7C-4488-A0A9-1F9A2681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04</a:t>
            </a:r>
          </a:p>
        </p:txBody>
      </p:sp>
      <p:sp>
        <p:nvSpPr>
          <p:cNvPr id="39" name="Text 4">
            <a:extLst xmlns:a="http://schemas.openxmlformats.org/drawingml/2006/main">
              <a:ext uri="{FF2B5EF4-FFF2-40B4-BE49-F238E27FC236}">
                <a16:creationId xmlns:a16="http://schemas.microsoft.com/office/drawing/2014/main" id="{622A1526-965E-A627-17A6-4B5087A2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7579" y="900326"/>
            <a:ext cx="1773934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41" name="product-annual-line">
            <a:extLst xmlns:a="http://schemas.openxmlformats.org/drawingml/2006/main">
              <a:ext uri="{FF2B5EF4-FFF2-40B4-BE49-F238E27FC236}">
                <a16:creationId xmlns:a16="http://schemas.microsoft.com/office/drawing/2014/main" id="{B82F41F6-AE80-4DA9-9F68-9385B2E2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47675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product-theme-line">
            <a:extLst xmlns:a="http://schemas.openxmlformats.org/drawingml/2006/main">
              <a:ext uri="{FF2B5EF4-FFF2-40B4-BE49-F238E27FC236}">
                <a16:creationId xmlns:a16="http://schemas.microsoft.com/office/drawing/2014/main" id="{B13F3F1A-3F16-4DF9-BB84-AE79B2612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19125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product-badge">
            <a:extLst xmlns:a="http://schemas.openxmlformats.org/drawingml/2006/main">
              <a:ext uri="{FF2B5EF4-FFF2-40B4-BE49-F238E27FC236}">
                <a16:creationId xmlns:a16="http://schemas.microsoft.com/office/drawing/2014/main" id="{3760D9C3-F3F9-490A-BE76-9018B51F1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2571750"/>
            <a:ext cx="26670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0B5AC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6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교육 전후 해석의 흐름</a:t>
            </a:r>
          </a:p>
        </p:txBody>
      </p:sp>
      <p:sp>
        <p:nvSpPr>
          <p:cNvPr id="44" name="product-week-1회차">
            <a:extLst xmlns:a="http://schemas.openxmlformats.org/drawingml/2006/main">
              <a:ext uri="{FF2B5EF4-FFF2-40B4-BE49-F238E27FC236}">
                <a16:creationId xmlns:a16="http://schemas.microsoft.com/office/drawing/2014/main" id="{913EB834-8A3F-46C3-A5AF-4239B34A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3333750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개인</a:t>
            </a:r>
          </a:p>
        </p:txBody>
      </p:sp>
      <p:sp>
        <p:nvSpPr>
          <p:cNvPr id="45" name="product-week-2회차">
            <a:extLst xmlns:a="http://schemas.openxmlformats.org/drawingml/2006/main">
              <a:ext uri="{FF2B5EF4-FFF2-40B4-BE49-F238E27FC236}">
                <a16:creationId xmlns:a16="http://schemas.microsoft.com/office/drawing/2014/main" id="{22583FA1-351B-4078-810F-BA5ECE2A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3333750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조직</a:t>
            </a:r>
          </a:p>
        </p:txBody>
      </p:sp>
      <p:sp>
        <p:nvSpPr>
          <p:cNvPr id="46" name="product-week-3회차">
            <a:extLst xmlns:a="http://schemas.openxmlformats.org/drawingml/2006/main">
              <a:ext uri="{FF2B5EF4-FFF2-40B4-BE49-F238E27FC236}">
                <a16:creationId xmlns:a16="http://schemas.microsoft.com/office/drawing/2014/main" id="{1DA250B1-DC53-40ED-AD75-C55B993F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0" y="3333750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결정</a:t>
            </a:r>
          </a:p>
        </p:txBody>
      </p:sp>
      <p:sp>
        <p:nvSpPr>
          <p:cNvPr id="47" name="product-annual-label">
            <a:extLst xmlns:a="http://schemas.openxmlformats.org/drawingml/2006/main">
              <a:ext uri="{FF2B5EF4-FFF2-40B4-BE49-F238E27FC236}">
                <a16:creationId xmlns:a16="http://schemas.microsoft.com/office/drawing/2014/main" id="{D2F84F77-15D2-4019-985F-C148DA68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4048125"/>
            <a:ext cx="1381125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리포트</a:t>
            </a:r>
          </a:p>
        </p:txBody>
      </p:sp>
      <p:sp>
        <p:nvSpPr>
          <p:cNvPr id="48" name="product-theme-label">
            <a:extLst xmlns:a="http://schemas.openxmlformats.org/drawingml/2006/main">
              <a:ext uri="{FF2B5EF4-FFF2-40B4-BE49-F238E27FC236}">
                <a16:creationId xmlns:a16="http://schemas.microsoft.com/office/drawing/2014/main" id="{73C35CB7-594D-4761-9194-430E0566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5762625"/>
            <a:ext cx="1381125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다음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행동</a:t>
            </a:r>
          </a:p>
        </p:txBody>
      </p:sp>
      <p:sp>
        <p:nvSpPr>
          <p:cNvPr id="49" name="annual-A">
            <a:extLst xmlns:a="http://schemas.openxmlformats.org/drawingml/2006/main">
              <a:ext uri="{FF2B5EF4-FFF2-40B4-BE49-F238E27FC236}">
                <a16:creationId xmlns:a16="http://schemas.microsoft.com/office/drawing/2014/main" id="{3E0747A5-2467-4FCF-A3AE-B07303EE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095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사전</a:t>
            </a:r>
          </a:p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출발점</a:t>
            </a:r>
          </a:p>
        </p:txBody>
      </p:sp>
      <p:sp>
        <p:nvSpPr>
          <p:cNvPr id="50" name="theme-A">
            <a:extLst xmlns:a="http://schemas.openxmlformats.org/drawingml/2006/main">
              <a:ext uri="{FF2B5EF4-FFF2-40B4-BE49-F238E27FC236}">
                <a16:creationId xmlns:a16="http://schemas.microsoft.com/office/drawing/2014/main" id="{CA249E1C-D3E3-49DE-9559-039A8241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8102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전이</a:t>
            </a:r>
          </a:p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조건</a:t>
            </a:r>
          </a:p>
        </p:txBody>
      </p:sp>
      <p:sp>
        <p:nvSpPr>
          <p:cNvPr id="51" name="annual-B">
            <a:extLst xmlns:a="http://schemas.openxmlformats.org/drawingml/2006/main">
              <a:ext uri="{FF2B5EF4-FFF2-40B4-BE49-F238E27FC236}">
                <a16:creationId xmlns:a16="http://schemas.microsoft.com/office/drawing/2014/main" id="{524F543A-20B4-4A6D-BC7D-F7835365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4095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사후</a:t>
            </a:r>
          </a:p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재측정</a:t>
            </a:r>
          </a:p>
        </p:txBody>
      </p:sp>
      <p:sp>
        <p:nvSpPr>
          <p:cNvPr id="52" name="theme-B">
            <a:extLst xmlns:a="http://schemas.openxmlformats.org/drawingml/2006/main">
              <a:ext uri="{FF2B5EF4-FFF2-40B4-BE49-F238E27FC236}">
                <a16:creationId xmlns:a16="http://schemas.microsoft.com/office/drawing/2014/main" id="{ED8BD520-A6CF-436B-AB1A-A4465F5F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58102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교육</a:t>
            </a:r>
          </a:p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보완</a:t>
            </a:r>
          </a:p>
        </p:txBody>
      </p:sp>
      <p:sp>
        <p:nvSpPr>
          <p:cNvPr id="53" name="annual-A+B">
            <a:extLst xmlns:a="http://schemas.openxmlformats.org/drawingml/2006/main">
              <a:ext uri="{FF2B5EF4-FFF2-40B4-BE49-F238E27FC236}">
                <a16:creationId xmlns:a16="http://schemas.microsoft.com/office/drawing/2014/main" id="{0FD316B6-4539-49B5-87E1-DDF9631D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4095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짝지은</a:t>
            </a:r>
          </a:p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변화</a:t>
            </a:r>
          </a:p>
        </p:txBody>
      </p:sp>
      <p:sp>
        <p:nvSpPr>
          <p:cNvPr id="54" name="theme-A+B">
            <a:extLst xmlns:a="http://schemas.openxmlformats.org/drawingml/2006/main">
              <a:ext uri="{FF2B5EF4-FFF2-40B4-BE49-F238E27FC236}">
                <a16:creationId xmlns:a16="http://schemas.microsoft.com/office/drawing/2014/main" id="{67D05F8C-4624-454C-97BA-E6F20C96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58102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환경</a:t>
            </a:r>
          </a:p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개선</a:t>
            </a:r>
          </a:p>
        </p:txBody>
      </p:sp>
      <p:sp>
        <p:nvSpPr>
          <p:cNvPr id="55" name="product-benefit">
            <a:extLst xmlns:a="http://schemas.openxmlformats.org/drawingml/2006/main">
              <a:ext uri="{FF2B5EF4-FFF2-40B4-BE49-F238E27FC236}">
                <a16:creationId xmlns:a16="http://schemas.microsoft.com/office/drawing/2014/main" id="{0C6965AD-0789-46DC-B44E-F64BBF73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7334250"/>
            <a:ext cx="43815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2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개인 순위가 아니라 같은 사람의 전후 변화를 확인</a:t>
            </a:r>
          </a:p>
        </p:txBody>
      </p:sp>
    </p:spTree>
    <p:extLst>
      <p:ext uri="{BB962C8B-B14F-4D97-AF65-F5344CB8AC3E}">
        <p14:creationId xmlns:p14="http://schemas.microsoft.com/office/powerpoint/2010/main" val="110971394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8c950a55314ba2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30EFA37-99E2-42F7-9B30-C86EB20D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286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개인순위 · 인사평가 ·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소수집단 공개는 하지 않습니다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63E0293-CB7C-4821-A850-B5D20056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706"/>
            <a:ext cx="8572500" cy="6281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교육개발용 자기보고 전후 평가입니다. 아래 여섯 가지 경계를 지켜 사용합니다.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F5621F2-7E1A-417F-A7BC-C1D1C7E4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305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C9B1CA6-5EFE-423D-8385-F9414181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34356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99714DA-1B0A-44B9-A5CC-57117CC1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707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개인순위 없음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C3F7DAF-2F7C-490D-8692-BC8E5196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2607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백분위 · 규준 아님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F14EE024-6A3C-48F6-91EC-F06E76E5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53305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23BA0B2-799B-4814-972B-4F339610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34356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199BE3A-107D-44AD-B647-87EC264D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29707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인사평가 금지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3B3DB5B-314A-4E06-805C-10692F76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772607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채용 · 승진 · 보상 금지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21EFE92-4587-4748-B14A-9D9F2D68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53305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6AC1DD-1138-4608-95E4-ACC4AD4C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134356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10E28FE-FEC6-4772-BB61-56C1706C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29707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개인결과 공유는 선택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D6979E87-403E-4A3C-8CB0-8D20F828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72607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본인 동의 필요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F11405C-2B35-4634-B2B2-F84CE1D1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953098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D156304-AB10-4748-9C89-1A8DBA3D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134149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D3AB4FE-E9B0-436F-9804-AB8D8352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429500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N&lt;5 비공개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11875FD6-6CB6-40CF-BE5D-931858FE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772400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공개 최소기준일 뿐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96A554A3-71BB-4BD8-ADB9-78815C73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953098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F877655-4879-46FC-9EBF-4753ACB5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134149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E550DE3-D125-447F-A9EC-72F0E54B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429500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공개 데모 실데이터 금지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28BC621-A9F5-432B-870B-6B3704E3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772400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세션에만 임시 저장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1DAA8528-FAD8-4B7F-9389-0AB49B43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953098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00B5A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CA61648-0CC5-4E14-BDEA-A3F57C86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134149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25709CAD-3028-460F-8460-A230793A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429500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인과효과 아님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348CF7F-B2E7-42B4-AECE-37EB59C3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772400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비교집단 없으면 관찰 변화</a:t>
            </a:r>
          </a:p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62D4CCB-80F4-4177-93B6-4CE9FF19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05</a:t>
            </a:r>
          </a:p>
        </p:txBody>
      </p:sp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C23A4B73-AE3C-952C-FF8B-B9B24C87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9A9A140-5B7D-C748-6354-81546788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B8CEDBE-7D90-4A6A-9273-96AEE503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571500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SAFE USE</a:t>
            </a:r>
          </a:p>
        </p:txBody>
      </p:sp>
    </p:spTree>
    <p:extLst>
      <p:ext uri="{BB962C8B-B14F-4D97-AF65-F5344CB8AC3E}">
        <p14:creationId xmlns:p14="http://schemas.microsoft.com/office/powerpoint/2010/main" val="42771152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Shape 0">
            <a:extLst xmlns:a="http://schemas.openxmlformats.org/drawingml/2006/main">
              <a:ext uri="{FF2B5EF4-FFF2-40B4-BE49-F238E27FC236}">
                <a16:creationId xmlns:a16="http://schemas.microsoft.com/office/drawing/2014/main" id="{DFFD3695-F4CE-7F05-F62D-9234A7C5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BE36D6B-AAE7-4745-BBE8-7F3E095C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805" y="1524305"/>
            <a:ext cx="5905195" cy="742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40d189b4c0478f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476756" y="6782105"/>
            <a:ext cx="9334195" cy="9144"/>
          </a:xfrm>
          <a:prstGeom xmlns:a="http://schemas.openxmlformats.org/drawingml/2006/main" prst="rect">
            <a:avLst/>
          </a:prstGeom>
        </p:spPr>
      </p:pic>
      <p:pic>
        <p:nvPicPr>
          <p:cNvPr id="6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968bbfc97a4c84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55A03E1A-500F-43BA-8D8D-2C40EDAE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0E9CCB4B-2805-4887-882D-B4B8F38B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676C237-6975-4C28-82DF-27164021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49BBD11-29AE-4DE3-A09E-F9003C10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BF5E9EB-F52C-4C5A-AFBC-A0724921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639CFC6-290C-42BA-AAAD-725CE6DC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3C3DC5B-79EE-452E-B0C7-5323746F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305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사전 완료 - 기준파일 저장 -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사후 복원·비교 순서입니다</a:t>
            </a:r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19E43FD1-69AB-4180-AB23-736C3ED6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572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사전 완료 직후 기준파일 JSON을 저장하고, 8~10주 뒤 불러와 사후검사를 시작합니다.</a:t>
            </a:r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415FDC9C-48C3-48EB-8973-21C532BF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9D4B285-3741-488C-AE8F-790DDB81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9A4515C-4CF3-4CC7-BB34-F3C881FD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C3F31E1-5500-4C62-A986-5A2D5287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97726A4D-1C6D-416F-9AA1-C89C80D8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371A4D62-57C3-43EA-B275-5C716565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FEE894BA-ED08-4782-879A-A6A0D936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교육·평가 설정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FCB2D47B-38DC-428D-9401-8439B13B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교육일 · 전후 기간 · 역량</a:t>
            </a:r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1B3FAAC6-34DB-4740-BC91-526756D3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사전검사</a:t>
            </a:r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609AE952-13E5-41C0-8499-84492CE5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동일 ID · 동일 문항</a:t>
            </a:r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385B14C-0A4B-4E96-B75A-5C11FA83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기준파일 저장</a:t>
            </a:r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58B8A766-BC78-43EC-A80A-DC8CC4C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JSON 내려받기</a:t>
            </a:r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F94BEDD4-E69A-45CB-92AF-1F081A75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8~10주 후 복원</a:t>
            </a:r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A557F20A-9E54-482C-B95B-4A164FF1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JSON 업로드 · 확인</a:t>
            </a:r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2F01A551-9FA6-41F0-90CC-CD891470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사후검사</a:t>
            </a:r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2F56802D-9FC0-46D8-BB13-A34B6A58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같은 문항 · 최근 8주</a:t>
            </a:r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20AE0D34-4484-413E-A09D-20B22915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전후 비교</a:t>
            </a:r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D580D4D-B2D7-49BE-8321-783180D5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짝지은 변화 · 전이</a:t>
            </a:r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6D54F027-2C71-4711-88CC-C99E29F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06</a:t>
            </a:r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9F0C2400-A4E8-4661-877A-68C2953E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999" y="900326"/>
            <a:ext cx="2341345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HOW IT WORKS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FC0E9950-180D-5539-F231-2D96284E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6593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PROCESS</a:t>
            </a:r>
          </a:p>
        </p:txBody>
      </p:sp>
      <p:sp>
        <p:nvSpPr>
          <p:cNvPr id="53" name="journey-orbit">
            <a:extLst xmlns:a="http://schemas.openxmlformats.org/drawingml/2006/main">
              <a:ext uri="{FF2B5EF4-FFF2-40B4-BE49-F238E27FC236}">
                <a16:creationId xmlns:a16="http://schemas.microsoft.com/office/drawing/2014/main" id="{BE1C8383-40D3-45B9-83F5-153EABFD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57500"/>
            <a:ext cx="5048250" cy="5143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C7D9DA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4" name="journey-a-card">
            <a:extLst xmlns:a="http://schemas.openxmlformats.org/drawingml/2006/main">
              <a:ext uri="{FF2B5EF4-FFF2-40B4-BE49-F238E27FC236}">
                <a16:creationId xmlns:a16="http://schemas.microsoft.com/office/drawing/2014/main" id="{80A3C995-7464-4B56-940C-C5C7327C9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8625" y="3333750"/>
            <a:ext cx="17145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57150" rIns="7620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1. 설정·사전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ID 입력·응답</a:t>
            </a:r>
          </a:p>
        </p:txBody>
      </p:sp>
      <p:sp>
        <p:nvSpPr>
          <p:cNvPr id="55" name="journey-b-card">
            <a:extLst xmlns:a="http://schemas.openxmlformats.org/drawingml/2006/main">
              <a:ext uri="{FF2B5EF4-FFF2-40B4-BE49-F238E27FC236}">
                <a16:creationId xmlns:a16="http://schemas.microsoft.com/office/drawing/2014/main" id="{B01C52AA-9481-4E17-8479-B9E602CF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625" y="3333750"/>
            <a:ext cx="17145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57150" rIns="7620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2. 기준파일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JSON 저장</a:t>
            </a:r>
          </a:p>
        </p:txBody>
      </p:sp>
      <p:sp>
        <p:nvSpPr>
          <p:cNvPr id="56" name="journey-hub">
            <a:extLst xmlns:a="http://schemas.openxmlformats.org/drawingml/2006/main">
              <a:ext uri="{FF2B5EF4-FFF2-40B4-BE49-F238E27FC236}">
                <a16:creationId xmlns:a16="http://schemas.microsoft.com/office/drawing/2014/main" id="{5DD05311-937C-4606-8996-474A450C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73125" y="466725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TAP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전후 비교</a:t>
            </a:r>
          </a:p>
        </p:txBody>
      </p:sp>
      <p:sp>
        <p:nvSpPr>
          <p:cNvPr id="57" name="journey-ab-card">
            <a:extLst xmlns:a="http://schemas.openxmlformats.org/drawingml/2006/main">
              <a:ext uri="{FF2B5EF4-FFF2-40B4-BE49-F238E27FC236}">
                <a16:creationId xmlns:a16="http://schemas.microsoft.com/office/drawing/2014/main" id="{6BB557C9-D1B7-4AE7-9DB1-2E871989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6858000"/>
            <a:ext cx="1809750" cy="1095375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57150" rIns="7620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3–4. 8~10주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복원·사후</a:t>
            </a:r>
          </a:p>
        </p:txBody>
      </p:sp>
    </p:spTree>
    <p:extLst>
      <p:ext uri="{BB962C8B-B14F-4D97-AF65-F5344CB8AC3E}">
        <p14:creationId xmlns:p14="http://schemas.microsoft.com/office/powerpoint/2010/main" val="82946018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b75468e27742e7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EDUCATION MANAGER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관리자 대시보드는 현재 세션의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실제 상태만 보여줍니다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사전검사는 프로젝트를 만든 동일 브라우저에서만 시작합니다. 홈은 0/1 프로젝트·참여자와 전후 상태를 표시하며 서버 DB·타 브라우저는 합산하지 않습니다.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대시보드 확인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프로젝트 · 참여자 0/1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사전·사후 응답 · 완료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짝지은 완료 상태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프로젝트 설정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교육평가 프로젝트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교육일 · 전후 기간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역량 선택 · 저장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07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e779f8b0fe4820"/>
          <a:stretch xmlns:a="http://schemas.openxmlformats.org/drawingml/2006/main"/>
        </p:blipFill>
        <p:spPr>
          <a:xfrm xmlns:a="http://schemas.openxmlformats.org/drawingml/2006/main" flipH="0" flipV="0">
            <a:off x="10668286" y="3619563"/>
            <a:ext cx="6096286" cy="34291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c9af59d12848ab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PARTICIPANT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교육 참여자 ID를 입력하고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실제 검사를 진행합니다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ID가 비어 있어도 문항은 보이지만 저장은 차단됩니다. 사전 완료 뒤 기준파일 JSON을 저장하고, 사후 시작 전에 업로드해 복원합니다.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검사 순서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교육 참여자 ID 입력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응답 선택 → 다음 문항 →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사전 완료 → 기준파일 저장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사후 복원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동일 ID로 접속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기준파일 JSON 업로드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복원 확인 → 사후검사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08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18d6b0b4b64c45"/>
          <a:stretch xmlns:a="http://schemas.openxmlformats.org/drawingml/2006/main"/>
        </p:blipFill>
        <p:spPr>
          <a:xfrm xmlns:a="http://schemas.openxmlformats.org/drawingml/2006/main" flipH="0" flipV="0">
            <a:off x="10668286" y="3619563"/>
            <a:ext cx="6096286" cy="34291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ce817cbf6b42a7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ORGANIZATION REPORT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개인 결과 CSV를 취합해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조직 전후 리포트를 만듭니다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참여자별 결과 CSV를 조직결과 CSV로 합쳐 업로드합니다. 동일 ID를 짝지으며 역량별 N≥5만 공개하고, ‘예시 리포트 보기’는 샘플입니다.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준비 순서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개인 결과 CSV 취합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조직결과 CSV로 병합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조직 리포트에 업로드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해석 기준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동일 ID · 역량 · 버전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역량별 짝지은 N≥5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예시 · 실데이터 구분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09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74acda9f634211"/>
          <a:stretch xmlns:a="http://schemas.openxmlformats.org/drawingml/2006/main"/>
        </p:blipFill>
        <p:spPr>
          <a:xfrm xmlns:a="http://schemas.openxmlformats.org/drawingml/2006/main" flipH="0" flipV="0">
            <a:off x="10668286" y="3619563"/>
            <a:ext cx="6096286" cy="34291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6f0c8fcf3a4c27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KMA ADMIN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실제 세션과 KMA 운영 목업을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구분해 확인합니다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교육담당자 홈은 현재 브라우저 실데이터입니다. KMA ‘회원사 운영 화면’의 회원사·프로젝트 수치는 목업이며 문항 검수와 별개입니다.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화면 구분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교육담당자 홈 = 실세션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KMA 운영 화면 = 목업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타 브라우저 미합산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검수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전체 문항은행 검수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필터 결과 CSV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파일럿 후보 CSV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10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9eb3b9534140a7"/>
          <a:stretch xmlns:a="http://schemas.openxmlformats.org/drawingml/2006/main"/>
        </p:blipFill>
        <p:spPr>
          <a:xfrm xmlns:a="http://schemas.openxmlformats.org/drawingml/2006/main" flipH="0" flipV="0">
            <a:off x="10668286" y="3619563"/>
            <a:ext cx="6096286" cy="34291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f4f1d3ecab48fc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30EFA37-99E2-42F7-9B30-C86EB20D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286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기타 버튼은 최신 명칭으로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확인하면 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63E0293-CB7C-4821-A850-B5D20056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706"/>
            <a:ext cx="8572500" cy="6281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자주 찾는 기능만 모았습니다. 상세 순서는 앞선 역할별 화면을 따르세요.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F5621F2-7E1A-417F-A7BC-C1D1C7E4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286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C9B1CA6-5EFE-423D-8385-F9414181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34356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99714DA-1B0A-44B9-A5CC-57117CC1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726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시작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C3F7DAF-2F7C-490D-8692-BC8E5196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2626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처음 사용 안내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사용설명서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F14EE024-6A3C-48F6-91EC-F06E76E5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53286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23BA0B2-799B-4814-972B-4F339610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34356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199BE3A-107D-44AD-B647-87EC264D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29726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이동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3B3DB5B-314A-4E06-805C-10692F76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772626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교육평가 프로젝트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사전·사후 검사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21EFE92-4587-4748-B14A-9D9F2D68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53286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6AC1DD-1138-4608-95E4-ACC4AD4C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134356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10E28FE-FEC6-4772-BB61-56C1706C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29726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응답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D6979E87-403E-4A3C-8CB0-8D20F828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72626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다음 문항 →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이전 문항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F11405C-2B35-4634-B2B2-F84CE1D1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953060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D156304-AB10-4748-9C89-1A8DBA3D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134130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D3AB4FE-E9B0-436F-9804-AB8D8352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429500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 결과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11875FD6-6CB6-40CF-BE5D-931858FE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772400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내 변화 리포트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결과 CSV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96A554A3-71BB-4BD8-ADB9-78815C73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953060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F877655-4879-46FC-9EBF-4753ACB5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134130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E550DE3-D125-447F-A9EC-72F0E54B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429500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조직 결과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28BC621-A9F5-432B-870B-6B3704E3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772400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예시 리포트 보기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조직결과 CSV 업로드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1DAA8528-FAD8-4B7F-9389-0AB49B43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953060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00B5A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CA61648-0CC5-4E14-BDEA-A3F57C86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134130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25709CAD-3028-460F-8460-A230793A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429500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검수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348CF7F-B2E7-42B4-AECE-37EB59C3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772400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회원사 운영 화면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전체 문항은행 검수</a:t>
            </a:r>
          </a:p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62D4CCB-80F4-4177-93B6-4CE9FF19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11</a:t>
            </a:r>
          </a:p>
        </p:txBody>
      </p:sp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C23A4B73-AE3C-952C-FF8B-B9B24C87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9A9A140-5B7D-C748-6354-81546788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BUTTON REFERENCE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B8CEDBE-7D90-4A6A-9273-96AEE503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322095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REFERENCE</a:t>
            </a:r>
          </a:p>
        </p:txBody>
      </p:sp>
    </p:spTree>
    <p:extLst>
      <p:ext uri="{BB962C8B-B14F-4D97-AF65-F5344CB8AC3E}">
        <p14:creationId xmlns:p14="http://schemas.microsoft.com/office/powerpoint/2010/main" val="42771152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Shape 0">
            <a:extLst xmlns:a="http://schemas.openxmlformats.org/drawingml/2006/main">
              <a:ext uri="{FF2B5EF4-FFF2-40B4-BE49-F238E27FC236}">
                <a16:creationId xmlns:a16="http://schemas.microsoft.com/office/drawing/2014/main" id="{DFFD3695-F4CE-7F05-F62D-9234A7C5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bd4fc8e10a4ea9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476756" y="6782105"/>
            <a:ext cx="9334195" cy="9144"/>
          </a:xfrm>
          <a:prstGeom xmlns:a="http://schemas.openxmlformats.org/drawingml/2006/main" prst="rect">
            <a:avLst/>
          </a:prstGeom>
        </p:spPr>
      </p:pic>
      <p:pic>
        <p:nvPicPr>
          <p:cNvPr id="5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4145a04c5743f5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55A03E1A-500F-43BA-8D8D-2C40EDAE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0E9CCB4B-2805-4887-882D-B4B8F38B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676C237-6975-4C28-82DF-27164021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49BBD11-29AE-4DE3-A09E-F9003C10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BF5E9EB-F52C-4C5A-AFBC-A0724921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639CFC6-290C-42BA-AAAD-725CE6DC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3C3DC5B-79EE-452E-B0C7-5323746F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305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기준파일·N&lt;5·세션 초기화를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먼저 확인하세요</a:t>
            </a:r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19E43FD1-69AB-4180-AB23-736C3ED6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572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브라우저 세션은 서버 DB가 아닙니다. 기준파일과 결과 CSV를 내려받아 보관하고, 필요하면 사이드바의 사용설명서 PDF를 확인하세요.</a:t>
            </a:r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415FDC9C-48C3-48EB-8973-21C532BF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9D4B285-3741-488C-AE8F-790DDB81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9A4515C-4CF3-4CC7-BB34-F3C881FD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C3F31E1-5500-4C62-A986-5A2D5287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97726A4D-1C6D-416F-9AA1-C89C80D8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371A4D62-57C3-43EA-B275-5C716565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FEE894BA-ED08-4782-879A-A6A0D936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기준파일 없음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FCB2D47B-38DC-428D-9401-8439B13B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사전 완료 후 JSON 저장</a:t>
            </a:r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1B3FAAC6-34DB-4740-BC91-526756D3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사후 복원 실패</a:t>
            </a:r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609AE952-13E5-41C0-8499-84492CE5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동일 ID · JSON 확인</a:t>
            </a:r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385B14C-0A4B-4E96-B75A-5C11FA83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N&lt;5 비공개</a:t>
            </a:r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58B8A766-BC78-43EC-A80A-DC8CC4C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표본 보호 정상 동작</a:t>
            </a:r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F94BEDD4-E69A-45CB-92AF-1F081A75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세션 초기화</a:t>
            </a:r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A557F20A-9E54-482C-B95B-4A164FF1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프로젝트 다시 설정</a:t>
            </a:r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2F01A551-9FA6-41F0-90CC-CD891470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조직결과 없음</a:t>
            </a:r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2F56802D-9FC0-46D8-BB13-A34B6A58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CSV 업로드 확인</a:t>
            </a:r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20AE0D34-4484-413E-A09D-20B22915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다시 시작</a:t>
            </a:r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D580D4D-B2D7-49BE-8321-783180D5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실제 검사 메뉴 확인</a:t>
            </a:r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6D54F027-2C71-4711-88CC-C99E29F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12</a:t>
            </a:r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9F0C2400-A4E8-4661-877A-68C2953E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00326"/>
            <a:ext cx="196509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QUICK START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FC0E9950-180D-5539-F231-2D96284E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6593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START</a:t>
            </a:r>
          </a:p>
        </p:txBody>
      </p:sp>
    </p:spTree>
    <p:extLst>
      <p:ext uri="{BB962C8B-B14F-4D97-AF65-F5344CB8AC3E}">
        <p14:creationId xmlns:p14="http://schemas.microsoft.com/office/powerpoint/2010/main" val="82946018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2026-08-16T14:39:25.6660000Z</dcterms:created>
  <dcterms:modified xsi:type="dcterms:W3CDTF">2026-08-16T14:39:25.6660000Z</dcterms:modified>
</coreProperties>
</file>
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81dc1cda504acc" /><Relationship Type="http://schemas.openxmlformats.org/officeDocument/2006/relationships/extended-properties" Target="/docProps/app.xml" Id="R09c1e3ed9f1b4961" /><Relationship Type="http://schemas.openxmlformats.org/officeDocument/2006/relationships/officeDocument" Target="/ppt/presentation.xml" Id="Rd11b43e7d6604c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20472008974a1d"/>
  </p:sldMasterIdLst>
  <p:notesMasterIdLst>
    <p:notesMasterId xmlns:r="http://schemas.openxmlformats.org/officeDocument/2006/relationships" r:id="R096a56edf142478c"/>
  </p:notesMasterIdLst>
  <p:sldIdLst>
    <p:sldId xmlns:r="http://schemas.openxmlformats.org/officeDocument/2006/relationships" id="256" r:id="R41e08460129448c1"/>
    <p:sldId xmlns:r="http://schemas.openxmlformats.org/officeDocument/2006/relationships" id="257" r:id="R655071f9956d4fe9"/>
    <p:sldId xmlns:r="http://schemas.openxmlformats.org/officeDocument/2006/relationships" id="258" r:id="Rcca29bbd7a764706"/>
    <p:sldId xmlns:r="http://schemas.openxmlformats.org/officeDocument/2006/relationships" id="259" r:id="R28db28515c0a425c"/>
    <p:sldId xmlns:r="http://schemas.openxmlformats.org/officeDocument/2006/relationships" id="260" r:id="Ra5826dd3c5c844ec"/>
    <p:sldId xmlns:r="http://schemas.openxmlformats.org/officeDocument/2006/relationships" id="261" r:id="Rd3ce055be7f14429"/>
    <p:sldId xmlns:r="http://schemas.openxmlformats.org/officeDocument/2006/relationships" id="262" r:id="R12e6224f31b441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68538ec86d4ed8" /><Relationship Type="http://schemas.openxmlformats.org/officeDocument/2006/relationships/slideMaster" Target="/ppt/slideMasters/slideMaster1.xml" Id="R5f20472008974a1d" /><Relationship Type="http://schemas.openxmlformats.org/officeDocument/2006/relationships/notesMaster" Target="/ppt/notesMasters/notesMaster1.xml" Id="R096a56edf142478c" /><Relationship Type="http://schemas.openxmlformats.org/officeDocument/2006/relationships/presProps" Target="/ppt/presProps.xml" Id="R0772023f35f14bd8" /><Relationship Type="http://schemas.openxmlformats.org/officeDocument/2006/relationships/viewProps" Target="/ppt/viewProps.xml" Id="R2692f544ca614616" /><Relationship Type="http://schemas.openxmlformats.org/officeDocument/2006/relationships/tableStyles" Target="/ppt/tableStyles.xml" Id="R7dac417dfadf48bd" /><Relationship Type="http://schemas.openxmlformats.org/officeDocument/2006/relationships/slide" Target="/ppt/slides/slide1.xml" Id="R41e08460129448c1" /><Relationship Type="http://schemas.openxmlformats.org/officeDocument/2006/relationships/slide" Target="/ppt/slides/slide2.xml" Id="R655071f9956d4fe9" /><Relationship Type="http://schemas.openxmlformats.org/officeDocument/2006/relationships/slide" Target="/ppt/slides/slide3.xml" Id="Rcca29bbd7a764706" /><Relationship Type="http://schemas.openxmlformats.org/officeDocument/2006/relationships/slide" Target="/ppt/slides/slide4.xml" Id="R28db28515c0a425c" /><Relationship Type="http://schemas.openxmlformats.org/officeDocument/2006/relationships/slide" Target="/ppt/slides/slide5.xml" Id="Ra5826dd3c5c844ec" /><Relationship Type="http://schemas.openxmlformats.org/officeDocument/2006/relationships/slide" Target="/ppt/slides/slide6.xml" Id="Rd3ce055be7f14429" /><Relationship Type="http://schemas.openxmlformats.org/officeDocument/2006/relationships/slide" Target="/ppt/slides/slide7.xml" Id="R12e6224f31b441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b37196451744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7136f44dea4ac2" /><Relationship Type="http://schemas.openxmlformats.org/officeDocument/2006/relationships/notesMaster" Target="/ppt/notesMasters/notesMaster1.xml" Id="R0daea53a72d14b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a5c5da0ab04720" /><Relationship Type="http://schemas.openxmlformats.org/officeDocument/2006/relationships/notesMaster" Target="/ppt/notesMasters/notesMaster1.xml" Id="Rf7ba45f669614c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f1a3a09a9841da" /><Relationship Type="http://schemas.openxmlformats.org/officeDocument/2006/relationships/notesMaster" Target="/ppt/notesMasters/notesMaster1.xml" Id="R88711f49258345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6f4747b1c04ada" /><Relationship Type="http://schemas.openxmlformats.org/officeDocument/2006/relationships/notesMaster" Target="/ppt/notesMasters/notesMaster1.xml" Id="R1062ae6dd7b048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5be40f9178410e" /><Relationship Type="http://schemas.openxmlformats.org/officeDocument/2006/relationships/notesMaster" Target="/ppt/notesMasters/notesMaster1.xml" Id="Re895676fe0a34d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ea22790fff4a52" /><Relationship Type="http://schemas.openxmlformats.org/officeDocument/2006/relationships/notesMaster" Target="/ppt/notesMasters/notesMaster1.xml" Id="Ra606474b610d46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193a5321e1413f" /><Relationship Type="http://schemas.openxmlformats.org/officeDocument/2006/relationships/notesMaster" Target="/ppt/notesMasters/notesMaster1.xml" Id="R3c4513d5f9e04a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/workspace/scratch/c648007a125e/project_sources/11-LXP-LOOP-.pdf, pp.2–10</a:t>
            </a:r>
          </a:p>
          <a:p xmlns:a="http://schemas.openxmlformats.org/drawingml/2006/main">
            <a:r>
              <a:t>- /workspace/scratch/c648007a125e/project_sources/01-KMA-stud.io-.pdf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대한민국 개인정보 보호법: https://www.law.go.kr/법령/개인정보보호법</a:t>
            </a:r>
          </a:p>
          <a:p xmlns:a="http://schemas.openxmlformats.org/drawingml/2006/main">
            <a:r>
              <a:t>- 개인정보보호위원회: https://www.pipc.go.kr/np/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/workspace/scratch/c648007a125e/project_sources/11-LXP-LOOP-.pdf, pp.4–10</a:t>
            </a:r>
          </a:p>
          <a:p xmlns:a="http://schemas.openxmlformats.org/drawingml/2006/main">
            <a:r>
              <a:t>- /workspace/scratch/c648007a125e/project_sources/04-stud.io-LXP-.pdf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AERA, APA, NCME, Standards for Educational and Psychological Testing: https://www.testingstandards.net/uploads/7/6/6/4/76643089/standards_2014edition.pdf</a:t>
            </a:r>
          </a:p>
          <a:p xmlns:a="http://schemas.openxmlformats.org/drawingml/2006/main">
            <a:r>
              <a:t>- 대한민국 개인정보 보호법: https://www.law.go.kr/법령/개인정보보호법</a:t>
            </a:r>
          </a:p>
          <a:p xmlns:a="http://schemas.openxmlformats.org/drawingml/2006/main">
            <a:r>
              <a:t>- /workspace/scratch/c648007a125e/project_sources/11-LXP-LOOP-.pdf, pp.2–10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CDC, Cognitive Interviewing: https://www.cdc.gov/nchs/ccqder/question-evaluation/cognitive-interviewing.html</a:t>
            </a:r>
          </a:p>
          <a:p xmlns:a="http://schemas.openxmlformats.org/drawingml/2006/main">
            <a:r>
              <a:t>- TAP MVP CORE8 32-item working draft, 2026-08-09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Sample values are mock/demo data from TAP MVP working mockup, 2026-08-09; not actual assessment results.</a:t>
            </a:r>
          </a:p>
          <a:p xmlns:a="http://schemas.openxmlformats.org/drawingml/2006/main">
            <a:r>
              <a:t>- AERA, APA, NCME, Standards for Educational and Psychological Testing: https://www.testingstandards.net/uploads/7/6/6/4/76643089/standards_2014edition.pdf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Sample values are mock/demo data from TAP MVP working mockup, 2026-08-09; not actual assessment results.</a:t>
            </a:r>
          </a:p>
          <a:p xmlns:a="http://schemas.openxmlformats.org/drawingml/2006/main">
            <a:r>
              <a:t>- 대한민국 개인정보 보호법: https://www.law.go.kr/법령/개인정보보호법</a:t>
            </a:r>
          </a:p>
          <a:p xmlns:a="http://schemas.openxmlformats.org/drawingml/2006/main">
            <a:r>
              <a:t>- 개인정보보호위원회: https://www.pipc.go.kr/np/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b0c5bfa0649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47f95f64624000" /><Relationship Type="http://schemas.openxmlformats.org/officeDocument/2006/relationships/slideLayout" Target="/ppt/slideLayouts/slideLayout1.xml" Id="R1b610f512d7146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610f512d7146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f126291d54d3f" /><Relationship Type="http://schemas.openxmlformats.org/officeDocument/2006/relationships/notesSlide" Target="/ppt/notesSlides/notesSlide1.xml" Id="R2e2761b60827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54516462f4cb5" /><Relationship Type="http://schemas.openxmlformats.org/officeDocument/2006/relationships/notesSlide" Target="/ppt/notesSlides/notesSlide2.xml" Id="Rf4b20d1f9a0f48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ac3c7dc174241" /><Relationship Type="http://schemas.openxmlformats.org/officeDocument/2006/relationships/notesSlide" Target="/ppt/notesSlides/notesSlide3.xml" Id="Rb7e46e0fc3e440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29757b5344fc3" /><Relationship Type="http://schemas.openxmlformats.org/officeDocument/2006/relationships/notesSlide" Target="/ppt/notesSlides/notesSlide4.xml" Id="R115e4123ff1642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60a412b4f44af" /><Relationship Type="http://schemas.openxmlformats.org/officeDocument/2006/relationships/notesSlide" Target="/ppt/notesSlides/notesSlide5.xml" Id="Rdf758a6d4d854f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f31534bc14a96" /><Relationship Type="http://schemas.openxmlformats.org/officeDocument/2006/relationships/notesSlide" Target="/ppt/notesSlides/notesSlide6.xml" Id="R131282c841ae4f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5ee0d6be24f06" /><Relationship Type="http://schemas.openxmlformats.org/officeDocument/2006/relationships/notesSlide" Target="/ppt/notesSlides/notesSlide7.xml" Id="Reab83cf60def4f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타원 13">
            <a:extLst xmlns:a="http://schemas.openxmlformats.org/drawingml/2006/main">
              <a:ext uri="{FF2B5EF4-FFF2-40B4-BE49-F238E27FC236}">
                <a16:creationId xmlns:a16="http://schemas.microsoft.com/office/drawing/2014/main" id="{AF414990-5C77-44E3-81F9-54E21107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4229100" cy="422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타원 1">
            <a:extLst xmlns:a="http://schemas.openxmlformats.org/drawingml/2006/main">
              <a:ext uri="{FF2B5EF4-FFF2-40B4-BE49-F238E27FC236}">
                <a16:creationId xmlns:a16="http://schemas.microsoft.com/office/drawing/2014/main" id="{341F5AEB-DF41-4071-AB22-BA42E56E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905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D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타원 2">
            <a:extLst xmlns:a="http://schemas.openxmlformats.org/drawingml/2006/main">
              <a:ext uri="{FF2B5EF4-FFF2-40B4-BE49-F238E27FC236}">
                <a16:creationId xmlns:a16="http://schemas.microsoft.com/office/drawing/2014/main" id="{32401C7C-9C4E-4125-9393-1CF83998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192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C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EBD6369-D9F5-43AE-929C-FBEC84A9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BEEDE4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BEEDE4"/>
                </a:solidFill>
                <a:latin typeface="Pretendard"/>
                <a:ea typeface="Pretendard"/>
                <a:cs typeface="Pretendard"/>
              </a:rPr>
              <a:t>KMA  |  TAP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97052D9-029E-459C-9447-D44B083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TAP 빠른 사용 가이드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B45F538-5634-42EB-B1BA-A5C3795E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BEEDE4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BEEDE4"/>
                </a:solidFill>
                <a:latin typeface="Pretendard"/>
                <a:ea typeface="Pretendard"/>
                <a:cs typeface="Pretendard"/>
              </a:rPr>
              <a:t>프로젝트 설정부터 결과 확인까지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BEEDE4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BEEDE4"/>
                </a:solidFill>
                <a:latin typeface="Pretendard"/>
                <a:ea typeface="Pretendard"/>
                <a:cs typeface="Pretendard"/>
              </a:rPr>
              <a:t>처음 쓰는 분을 위한 7장 안내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63D19487-3310-49DC-9954-487245BA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C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CD32E6C-CEE0-4776-A2BC-D245064C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회원사 무료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CADF1036-5B95-41C4-9A3A-19BFA996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577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C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EBB6A484-349A-4278-929A-11CFA2C1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BEEDE4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EEDE4"/>
                </a:solidFill>
                <a:latin typeface="Pretendard"/>
                <a:ea typeface="Pretendard"/>
                <a:cs typeface="Pretendard"/>
              </a:rPr>
              <a:t>최근 8주 행동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70CB052B-7CBD-4CDF-8E77-3252F7A3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C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0C75828B-1BC7-423F-B3D1-96D2D081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053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BEEDE4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EEDE4"/>
                </a:solidFill>
                <a:latin typeface="Pretendard"/>
                <a:ea typeface="Pretendard"/>
                <a:cs typeface="Pretendard"/>
              </a:rPr>
              <a:t>개인순위 없음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D09E376-C9B2-4AD6-8362-5B86C977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2026.08  ·  KMA</a:t>
            </a:r>
          </a:p>
        </p:txBody>
      </p:sp>
    </p:spTree>
    <p:extLst>
      <p:ext uri="{BB962C8B-B14F-4D97-AF65-F5344CB8AC3E}">
        <p14:creationId xmlns:p14="http://schemas.microsoft.com/office/powerpoint/2010/main" val="623336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C26049-6556-47DB-9CB0-61FE1AED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rPr>
              <a:t>01. 역할별 메뉴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62852A-2E4B-4A5E-9E19-0B028945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내 역할에 필요한 메뉴만 보면 됩니다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255E3F61-001E-4B72-887C-3E96D52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7C09248-B92E-4354-907D-2117A45E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KMA  |  TAP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08FD05D-1821-4A83-ACBB-99687DA9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B7B548E9-EC04-4ECC-BC7C-45F1F3EF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5151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처음 사용 안내  ·  역할 전환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FB49C89E-0976-453D-B71C-732CB96E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219450" cy="3771900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D090D9D9-F673-4548-A4B7-031485E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219450" cy="9715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타원 8">
            <a:extLst xmlns:a="http://schemas.openxmlformats.org/drawingml/2006/main">
              <a:ext uri="{FF2B5EF4-FFF2-40B4-BE49-F238E27FC236}">
                <a16:creationId xmlns:a16="http://schemas.microsoft.com/office/drawing/2014/main" id="{31813554-08B9-4A78-A223-CB78FAE7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3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83468E81-CC5B-4A13-AF1E-3A0B286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526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참여자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8C6A58B3-E18C-4194-B49F-89D5151D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336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B73C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4B73C9"/>
                </a:solidFill>
                <a:latin typeface="Pretendard"/>
                <a:ea typeface="Pretendard"/>
                <a:cs typeface="Pretendard"/>
              </a:rPr>
              <a:t>응답·내 결과</a:t>
            </a:r>
          </a:p>
        </p:txBody>
      </p:sp>
      <p:sp>
        <p:nvSpPr>
          <p:cNvPr id="12" name="타원 11">
            <a:extLst xmlns:a="http://schemas.openxmlformats.org/drawingml/2006/main">
              <a:ext uri="{FF2B5EF4-FFF2-40B4-BE49-F238E27FC236}">
                <a16:creationId xmlns:a16="http://schemas.microsoft.com/office/drawing/2014/main" id="{58626F84-86F4-4D0F-9AB9-04009E7C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3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E8B687D1-8FC2-42E1-A2BA-B4AC8A86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진단 참여</a:t>
            </a:r>
          </a:p>
        </p:txBody>
      </p:sp>
      <p:sp>
        <p:nvSpPr>
          <p:cNvPr id="14" name="타원 13">
            <a:extLst xmlns:a="http://schemas.openxmlformats.org/drawingml/2006/main">
              <a:ext uri="{FF2B5EF4-FFF2-40B4-BE49-F238E27FC236}">
                <a16:creationId xmlns:a16="http://schemas.microsoft.com/office/drawing/2014/main" id="{B3D312E1-8E94-4BD8-A037-F4B7822D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3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EE5B8387-76AB-4A80-AC8E-4A1EEECE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내 리포트</a:t>
            </a:r>
          </a:p>
        </p:txBody>
      </p:sp>
      <p:sp>
        <p:nvSpPr>
          <p:cNvPr id="16" name="타원 15">
            <a:extLst xmlns:a="http://schemas.openxmlformats.org/drawingml/2006/main">
              <a:ext uri="{FF2B5EF4-FFF2-40B4-BE49-F238E27FC236}">
                <a16:creationId xmlns:a16="http://schemas.microsoft.com/office/drawing/2014/main" id="{0844C2B2-D893-4A9F-9E2B-454E03AA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3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79007AAC-6A0A-4293-BF1E-D824123F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공유 동의 선택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65984B45-87DA-4A98-859A-9AE912B8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3219450" cy="3771900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BBAD4500-DAE0-42AF-90CB-BBD74799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3219450" cy="9715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타원 19">
            <a:extLst xmlns:a="http://schemas.openxmlformats.org/drawingml/2006/main">
              <a:ext uri="{FF2B5EF4-FFF2-40B4-BE49-F238E27FC236}">
                <a16:creationId xmlns:a16="http://schemas.microsoft.com/office/drawing/2014/main" id="{34E3EBBC-EACE-41E6-A5BB-649F9E39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A88082C-A8C9-46DF-937C-BBA492FC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526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회원사 교육담당자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10459827-06BC-4313-AC4A-53AB17B0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336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9F93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9F93"/>
                </a:solidFill>
                <a:latin typeface="Pretendard"/>
                <a:ea typeface="Pretendard"/>
                <a:cs typeface="Pretendard"/>
              </a:rPr>
              <a:t>설정·익명 집계</a:t>
            </a:r>
          </a:p>
        </p:txBody>
      </p:sp>
      <p:sp>
        <p:nvSpPr>
          <p:cNvPr id="23" name="타원 22">
            <a:extLst xmlns:a="http://schemas.openxmlformats.org/drawingml/2006/main">
              <a:ext uri="{FF2B5EF4-FFF2-40B4-BE49-F238E27FC236}">
                <a16:creationId xmlns:a16="http://schemas.microsoft.com/office/drawing/2014/main" id="{4A340286-B1DD-47C7-A3CD-39D94E86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26137E9-0AF2-436D-BAEA-353AE05D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진단 프로젝트</a:t>
            </a:r>
          </a:p>
        </p:txBody>
      </p:sp>
      <p:sp>
        <p:nvSpPr>
          <p:cNvPr id="25" name="타원 24">
            <a:extLst xmlns:a="http://schemas.openxmlformats.org/drawingml/2006/main">
              <a:ext uri="{FF2B5EF4-FFF2-40B4-BE49-F238E27FC236}">
                <a16:creationId xmlns:a16="http://schemas.microsoft.com/office/drawing/2014/main" id="{1C62FED5-F162-4616-B778-B54932DE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71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0169F5B3-E673-4748-8D1E-AF9A0325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완료현황 확인</a:t>
            </a:r>
          </a:p>
        </p:txBody>
      </p:sp>
      <p:sp>
        <p:nvSpPr>
          <p:cNvPr id="27" name="타원 26">
            <a:extLst xmlns:a="http://schemas.openxmlformats.org/drawingml/2006/main">
              <a:ext uri="{FF2B5EF4-FFF2-40B4-BE49-F238E27FC236}">
                <a16:creationId xmlns:a16="http://schemas.microsoft.com/office/drawing/2014/main" id="{F1A6C721-5D20-43C5-802C-736B72DC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958641A9-46A8-46F8-AA7C-F89AF60C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조직 리포트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C13CA6E6-1F24-4EB8-A014-2A41975C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62100"/>
            <a:ext cx="3219450" cy="3771900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BE5048F6-955C-4C42-86A2-4B08A907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62100"/>
            <a:ext cx="3219450" cy="9715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EE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타원 30">
            <a:extLst xmlns:a="http://schemas.openxmlformats.org/drawingml/2006/main">
              <a:ext uri="{FF2B5EF4-FFF2-40B4-BE49-F238E27FC236}">
                <a16:creationId xmlns:a16="http://schemas.microsoft.com/office/drawing/2014/main" id="{91B55C06-1D42-49E6-AF0E-B331F098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5B1D3FA2-F8FA-41BF-B467-E71DC17D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KMA 운영자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1F832FE7-88F3-4D42-8EA5-32DD5205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657C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7657C6"/>
                </a:solidFill>
                <a:latin typeface="Pretendard"/>
                <a:ea typeface="Pretendard"/>
                <a:cs typeface="Pretendard"/>
              </a:rPr>
              <a:t>운영·문항 검수</a:t>
            </a:r>
          </a:p>
        </p:txBody>
      </p:sp>
      <p:sp>
        <p:nvSpPr>
          <p:cNvPr id="34" name="타원 33">
            <a:extLst xmlns:a="http://schemas.openxmlformats.org/drawingml/2006/main">
              <a:ext uri="{FF2B5EF4-FFF2-40B4-BE49-F238E27FC236}">
                <a16:creationId xmlns:a16="http://schemas.microsoft.com/office/drawing/2014/main" id="{F1DFDDDC-2BE4-487F-B2BE-D5B646D5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926D801E-EDB0-4DF8-A0F7-255B9C04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KMA 대시보드</a:t>
            </a:r>
          </a:p>
        </p:txBody>
      </p:sp>
      <p:sp>
        <p:nvSpPr>
          <p:cNvPr id="36" name="타원 35">
            <a:extLst xmlns:a="http://schemas.openxmlformats.org/drawingml/2006/main">
              <a:ext uri="{FF2B5EF4-FFF2-40B4-BE49-F238E27FC236}">
                <a16:creationId xmlns:a16="http://schemas.microsoft.com/office/drawing/2014/main" id="{B84F8E44-704E-452A-A3AE-F17F79E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71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1A7525E7-74F7-4119-A99B-8812E654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문항은행·검수</a:t>
            </a:r>
          </a:p>
        </p:txBody>
      </p:sp>
      <p:sp>
        <p:nvSpPr>
          <p:cNvPr id="38" name="타원 37">
            <a:extLst xmlns:a="http://schemas.openxmlformats.org/drawingml/2006/main">
              <a:ext uri="{FF2B5EF4-FFF2-40B4-BE49-F238E27FC236}">
                <a16:creationId xmlns:a16="http://schemas.microsoft.com/office/drawing/2014/main" id="{8925C877-453F-4DA1-AE4A-E64F8031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7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A9F59DF0-70AD-48F1-BC4A-89FCC62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과정 매핑·감사</a:t>
            </a:r>
          </a:p>
        </p:txBody>
      </p:sp>
      <p:sp>
        <p:nvSpPr>
          <p:cNvPr id="40" name="사각형: 둥근 모서리 39">
            <a:extLst xmlns:a="http://schemas.openxmlformats.org/drawingml/2006/main">
              <a:ext uri="{FF2B5EF4-FFF2-40B4-BE49-F238E27FC236}">
                <a16:creationId xmlns:a16="http://schemas.microsoft.com/office/drawing/2014/main" id="{4F699841-8352-4126-87CD-819B038C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49655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55423160-7C41-4D5F-B61F-976BFF2F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43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기본 원칙</a:t>
            </a: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7CFC005A-9850-44C2-AACF-3EEB15AE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959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HR은 개인 문항응답을 보지 않으며, 개인 리포트는 본인 동의 시에만 별도 열람</a:t>
            </a:r>
          </a:p>
        </p:txBody>
      </p:sp>
    </p:spTree>
    <p:extLst>
      <p:ext uri="{BB962C8B-B14F-4D97-AF65-F5344CB8AC3E}">
        <p14:creationId xmlns:p14="http://schemas.microsoft.com/office/powerpoint/2010/main" val="185897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2F1299F-AB21-4257-A977-7FE2585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rPr>
              <a:t>02. 전체 사용 흐름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FE5F35-113C-4D03-8591-30428A9B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전체 사용 흐름은 네 단계입니다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669245AE-13A0-4D58-94BA-74BF0390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3C38589-60F9-41B9-827B-084D92C9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KMA  |  TAP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0F655F4-269E-4E3F-9702-B2D93744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C26C721-B20E-4A65-B9C7-4386EFD0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5151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처음 사용 안내  ·  4단계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4FC3E45-9781-400D-9F4D-215FA721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처음에는 아래 순서만 따라가면 됩니다.</a:t>
            </a:r>
          </a:p>
        </p:txBody>
      </p:sp>
      <p:sp>
        <p:nvSpPr>
          <p:cNvPr id="8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0E49355E-AD88-47BC-9323-4CCB42F6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575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9F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화살표: 갈매기형 수장 8">
            <a:extLst xmlns:a="http://schemas.openxmlformats.org/drawingml/2006/main">
              <a:ext uri="{FF2B5EF4-FFF2-40B4-BE49-F238E27FC236}">
                <a16:creationId xmlns:a16="http://schemas.microsoft.com/office/drawing/2014/main" id="{67246EDF-9CEF-428F-AD79-828DE48C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24175"/>
            <a:ext cx="22860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FDF936BF-0194-4AC9-BAA9-7828D4F6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575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9F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화살표: 갈매기형 수장 10">
            <a:extLst xmlns:a="http://schemas.openxmlformats.org/drawingml/2006/main">
              <a:ext uri="{FF2B5EF4-FFF2-40B4-BE49-F238E27FC236}">
                <a16:creationId xmlns:a16="http://schemas.microsoft.com/office/drawing/2014/main" id="{6CDD2CC8-4D46-4A29-AC15-5437DDD2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24175"/>
            <a:ext cx="22860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선 연결선 11">
            <a:extLst xmlns:a="http://schemas.openxmlformats.org/drawingml/2006/main">
              <a:ext uri="{FF2B5EF4-FFF2-40B4-BE49-F238E27FC236}">
                <a16:creationId xmlns:a16="http://schemas.microsoft.com/office/drawing/2014/main" id="{CAE5D06C-D177-4C20-9021-0C01A741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575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9F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화살표: 갈매기형 수장 12">
            <a:extLst xmlns:a="http://schemas.openxmlformats.org/drawingml/2006/main">
              <a:ext uri="{FF2B5EF4-FFF2-40B4-BE49-F238E27FC236}">
                <a16:creationId xmlns:a16="http://schemas.microsoft.com/office/drawing/2014/main" id="{E7E6ED1E-F20F-4D23-BAE9-4AF1F8F7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24175"/>
            <a:ext cx="22860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D6F4262E-1DAA-400E-87CE-F1DE68F0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2860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타원 14">
            <a:extLst xmlns:a="http://schemas.openxmlformats.org/drawingml/2006/main">
              <a:ext uri="{FF2B5EF4-FFF2-40B4-BE49-F238E27FC236}">
                <a16:creationId xmlns:a16="http://schemas.microsoft.com/office/drawing/2014/main" id="{6BA63756-A337-489F-98FA-8A2CE6DE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7C7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C73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C4C0376C-BE0E-4C65-A1F0-3275E233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프로젝트 설정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ACB8B0BB-CDD5-470B-A5F2-C04FFE1D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대상·기간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역량·목표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652AEEF-EA8F-47B1-98D7-5CF45972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22860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타원 18">
            <a:extLst xmlns:a="http://schemas.openxmlformats.org/drawingml/2006/main">
              <a:ext uri="{FF2B5EF4-FFF2-40B4-BE49-F238E27FC236}">
                <a16:creationId xmlns:a16="http://schemas.microsoft.com/office/drawing/2014/main" id="{139F15F9-D715-49A3-9AE5-09077162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7C7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C73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78FCD1E4-F388-4FEB-8650-9FCC9369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24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행동 응답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33D11041-D429-403C-B450-A7CFDE03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최근 8주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1~5점·기회 없음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6FC14B95-5BAD-419B-A033-83435A4E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47900"/>
            <a:ext cx="22860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타원 22">
            <a:extLst xmlns:a="http://schemas.openxmlformats.org/drawingml/2006/main">
              <a:ext uri="{FF2B5EF4-FFF2-40B4-BE49-F238E27FC236}">
                <a16:creationId xmlns:a16="http://schemas.microsoft.com/office/drawing/2014/main" id="{1EE19C2D-7FFF-4C3A-AF5D-9F865DED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7C7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7C73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F4ED416B-1369-4479-BE1B-4356B195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857CB497-C2E4-454F-92E4-1A638995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38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개인 패턴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익명 조직 집계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A3EA08CE-AE15-46B0-96D5-CF739CBE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47900"/>
            <a:ext cx="2286000" cy="2381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타원 26">
            <a:extLst xmlns:a="http://schemas.openxmlformats.org/drawingml/2006/main">
              <a:ext uri="{FF2B5EF4-FFF2-40B4-BE49-F238E27FC236}">
                <a16:creationId xmlns:a16="http://schemas.microsoft.com/office/drawing/2014/main" id="{A1A6DB1E-1E37-4DB9-8498-1164DD89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75D69969-00EA-417A-BE15-28D4D384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24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행동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C3A23C93-1BD6-4819-A424-01FE47E2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BEEDE4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BEEDE4"/>
                </a:solidFill>
                <a:latin typeface="Pretendard"/>
                <a:ea typeface="Pretendard"/>
                <a:cs typeface="Pretendard"/>
              </a:rPr>
              <a:t>교육 검토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BEEDE4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BEEDE4"/>
                </a:solidFill>
                <a:latin typeface="Pretendard"/>
                <a:ea typeface="Pretendard"/>
                <a:cs typeface="Pretendard"/>
              </a:rPr>
              <a:t>조직환경 개선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0FF2CCFF-4151-4A20-A79C-A9D7473A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29200"/>
            <a:ext cx="84963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DEE90825-2CF8-48A8-9E02-494E2004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578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87C73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7C73"/>
                </a:solidFill>
                <a:latin typeface="Pretendard"/>
                <a:ea typeface="Pretendard"/>
                <a:cs typeface="Pretendard"/>
              </a:rPr>
              <a:t>저장 안내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B9DD4311-2E4C-4771-856E-339F6270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197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공개 데모 응답은 브라우저 세션에만 임시 저장됩니다</a:t>
            </a:r>
          </a:p>
        </p:txBody>
      </p:sp>
    </p:spTree>
    <p:extLst>
      <p:ext uri="{BB962C8B-B14F-4D97-AF65-F5344CB8AC3E}">
        <p14:creationId xmlns:p14="http://schemas.microsoft.com/office/powerpoint/2010/main" val="4234900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8D3C6D4-37AD-4B07-B8CB-4E1456C8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rPr>
              <a:t>03. 프로젝트 설정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79317D-06B4-4F3B-A4BE-1EE64947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프로젝트는 네 가지만 정하면 됩니다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F281731-2D53-4ACD-9D83-04F23B88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C76B409-0A0B-4BED-A1BD-E740483A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KMA  |  TAP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E5F0470-1D76-4D1D-87FC-96345C48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283CD30-3897-40AD-BC16-5451EACE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5151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처음 사용 안내  ·  프로젝트 설정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45F14BD-A6A8-48D4-814B-AECED5A7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교육담당자 화면에서 아래 항목을 확인한 뒤 저장합니다.</a:t>
            </a:r>
          </a:p>
        </p:txBody>
      </p:sp>
      <p:sp>
        <p:nvSpPr>
          <p:cNvPr id="8" name="타원 7">
            <a:extLst xmlns:a="http://schemas.openxmlformats.org/drawingml/2006/main">
              <a:ext uri="{FF2B5EF4-FFF2-40B4-BE49-F238E27FC236}">
                <a16:creationId xmlns:a16="http://schemas.microsoft.com/office/drawing/2014/main" id="{FD86B36A-A919-4643-A503-9D1CCD22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32E8862C-8122-45E3-96CF-709BE990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8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기본 정보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C6FDEAC3-AE3D-4C86-A359-C9EBDE85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720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프로젝트명 · 대상 직급 · 진단기간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96C12C34-7435-4836-A476-8793C1A8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859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19E644A-248C-4B7B-9366-2925B589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335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87C73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87C73"/>
                </a:solidFill>
                <a:latin typeface="Pretendard"/>
                <a:ea typeface="Pretendard"/>
                <a:cs typeface="Pretendard"/>
              </a:rPr>
              <a:t>필수</a:t>
            </a:r>
          </a:p>
        </p:txBody>
      </p:sp>
      <p:sp>
        <p:nvSpPr>
          <p:cNvPr id="13" name="타원 12">
            <a:extLst xmlns:a="http://schemas.openxmlformats.org/drawingml/2006/main">
              <a:ext uri="{FF2B5EF4-FFF2-40B4-BE49-F238E27FC236}">
                <a16:creationId xmlns:a16="http://schemas.microsoft.com/office/drawing/2014/main" id="{B9FBD706-58F5-4D86-A7D6-67D8F094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6D59186-2D9D-41E8-B616-F4BC063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역량 선택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C12EAA5F-11DA-45C9-ADF8-FC81B37A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720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기본역량 확인 + 선택역량 최대 4개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2C856E6D-C96D-43A5-8AA1-A3BE9528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098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11055EDB-0527-4074-973B-1DF20799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6574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87C73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87C73"/>
                </a:solidFill>
                <a:latin typeface="Pretendard"/>
                <a:ea typeface="Pretendard"/>
                <a:cs typeface="Pretendard"/>
              </a:rPr>
              <a:t>필수</a:t>
            </a:r>
          </a:p>
        </p:txBody>
      </p:sp>
      <p:sp>
        <p:nvSpPr>
          <p:cNvPr id="18" name="타원 17">
            <a:extLst xmlns:a="http://schemas.openxmlformats.org/drawingml/2006/main">
              <a:ext uri="{FF2B5EF4-FFF2-40B4-BE49-F238E27FC236}">
                <a16:creationId xmlns:a16="http://schemas.microsoft.com/office/drawing/2014/main" id="{86FEB134-E2C4-4CB6-B624-A97B5E8A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DA1CD389-EBCD-485E-93A9-B01342BE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목표 수준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E88B0988-D72C-425E-B904-757DE4C4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720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현재 3.5는 임시 기대빈도 · 사내 기준 확인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B85C6EC8-6D1C-414E-A149-EEE502EC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7179335A-8FA3-49A9-A903-FB50F24D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3813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87C73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87C73"/>
                </a:solidFill>
                <a:latin typeface="Pretendard"/>
                <a:ea typeface="Pretendard"/>
                <a:cs typeface="Pretendard"/>
              </a:rPr>
              <a:t>임시</a:t>
            </a:r>
          </a:p>
        </p:txBody>
      </p:sp>
      <p:sp>
        <p:nvSpPr>
          <p:cNvPr id="23" name="타원 22">
            <a:extLst xmlns:a="http://schemas.openxmlformats.org/drawingml/2006/main">
              <a:ext uri="{FF2B5EF4-FFF2-40B4-BE49-F238E27FC236}">
                <a16:creationId xmlns:a16="http://schemas.microsoft.com/office/drawing/2014/main" id="{114E6436-904A-4024-849B-C081B9E2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A1D86DF-7B35-4915-AD52-D6FE7FAB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추천 조건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9F33A2E-BB4A-4B35-9ED9-C6587C51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720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격차 원인 · 선호 방식 · 관심과정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BE2595E1-6FCD-464B-8D36-AAACFA09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576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1AF54C4D-EADF-4BCF-8B08-80AAD821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052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87C73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87C73"/>
                </a:solidFill>
                <a:latin typeface="Pretendard"/>
                <a:ea typeface="Pretendard"/>
                <a:cs typeface="Pretendard"/>
              </a:rPr>
              <a:t>선택</a:t>
            </a:r>
          </a:p>
        </p:txBody>
      </p:sp>
      <p:sp>
        <p:nvSpPr>
          <p:cNvPr id="28" name="타원 27">
            <a:extLst xmlns:a="http://schemas.openxmlformats.org/drawingml/2006/main">
              <a:ext uri="{FF2B5EF4-FFF2-40B4-BE49-F238E27FC236}">
                <a16:creationId xmlns:a16="http://schemas.microsoft.com/office/drawing/2014/main" id="{3C61D46E-7FE3-4D16-8BBB-B21A2B8C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C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610B9F30-BB39-404B-89A0-EBDB35AE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저장·이동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67D644FF-BCB3-4A89-8B43-FC0EB308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720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설정 저장 후 참여자 화면 확인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D28B1C2D-E64C-49C2-907C-62E50A40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81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2A283D51-9043-48B7-9DF2-B06E7671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8291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EA4DE148-E030-467B-A3AB-3F860552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02A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C5DA7F0F-75DE-400A-86E1-8F785540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번에 완료  ·  설정 저장 후 참여자 화면 확인</a:t>
            </a:r>
          </a:p>
        </p:txBody>
      </p:sp>
    </p:spTree>
    <p:extLst>
      <p:ext uri="{BB962C8B-B14F-4D97-AF65-F5344CB8AC3E}">
        <p14:creationId xmlns:p14="http://schemas.microsoft.com/office/powerpoint/2010/main" val="621640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4B59A35-4267-4F5E-8831-9254A550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rPr>
              <a:t>04. 행동 응답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E7E469-F7D3-4163-ABA9-00EDFF30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최근 8주 실제 행동을 한 문항씩 답합니다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E916314F-6942-4C37-977D-DEABCC62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C7E26EA-2D37-4EFE-902D-4BC8B3C8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KMA  |  TAP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2F0C38A8-6BC2-4C29-8048-B0D0188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0A94B1E-2669-4786-A659-BB3F1190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5151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처음 사용 안내  ·  응답 방법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E850EDB1-14AB-4F28-A003-396974F3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역량명은 응답 중 숨기고 문항 순서는 섞어서 보여줍니다.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EFD914CA-8626-495D-AE97-3BAF6CDB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200650" cy="16954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A602A568-E070-41BF-9DDC-F4203367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D9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E9D4FFE5-18F2-4EB1-B5AF-64619386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050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하지 마세요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E2396B41-DFB0-4F5C-9854-B31DDBCE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175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좋아 보이는 답을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175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추측하지 않기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296F7E0F-37B5-4E56-A0E0-2903991E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5200650" cy="16954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8B6149EB-9489-4641-B164-F9156198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ED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748B83E2-63A9-4718-95B3-446C655F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050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0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87C73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7C73"/>
                </a:solidFill>
                <a:latin typeface="Pretendard"/>
                <a:ea typeface="Pretendard"/>
                <a:cs typeface="Pretendard"/>
              </a:rPr>
              <a:t>이렇게 답하세요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CC11163F-0F17-48A0-B197-4F5C1EB3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최근 8주에 실제로 한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행동 빈도 선택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F3D2265E-38C2-4D86-B8FA-90FC17EB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A9F93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A9F93"/>
                </a:solidFill>
                <a:latin typeface="Pretendard"/>
                <a:ea typeface="Pretendard"/>
                <a:cs typeface="Pretendard"/>
              </a:rPr>
              <a:t>응답척도</a:t>
            </a:r>
          </a:p>
        </p:txBody>
      </p:sp>
      <p:sp>
        <p:nvSpPr>
          <p:cNvPr id="17" name="타원 16">
            <a:extLst xmlns:a="http://schemas.openxmlformats.org/drawingml/2006/main">
              <a:ext uri="{FF2B5EF4-FFF2-40B4-BE49-F238E27FC236}">
                <a16:creationId xmlns:a16="http://schemas.microsoft.com/office/drawing/2014/main" id="{F49D273C-CD7A-4253-A4DF-496C0C2B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C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F3FA0CB7-8B66-4C08-933E-0287C01B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전혀 안 함</a:t>
            </a:r>
          </a:p>
        </p:txBody>
      </p:sp>
      <p:sp>
        <p:nvSpPr>
          <p:cNvPr id="19" name="타원 18">
            <a:extLst xmlns:a="http://schemas.openxmlformats.org/drawingml/2006/main">
              <a:ext uri="{FF2B5EF4-FFF2-40B4-BE49-F238E27FC236}">
                <a16:creationId xmlns:a16="http://schemas.microsoft.com/office/drawing/2014/main" id="{CD0A3913-8CFD-4EE3-8127-E0C8F248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38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C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6944462B-C56B-444A-9367-7B158573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드물게</a:t>
            </a:r>
          </a:p>
        </p:txBody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B69A7EA7-687D-47C9-B54E-3F601184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38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C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F272BEFC-68AA-4EF1-A34E-F8E1AF66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292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가끔</a:t>
            </a:r>
          </a:p>
        </p:txBody>
      </p:sp>
      <p:sp>
        <p:nvSpPr>
          <p:cNvPr id="23" name="타원 22">
            <a:extLst xmlns:a="http://schemas.openxmlformats.org/drawingml/2006/main">
              <a:ext uri="{FF2B5EF4-FFF2-40B4-BE49-F238E27FC236}">
                <a16:creationId xmlns:a16="http://schemas.microsoft.com/office/drawing/2014/main" id="{D5FD2426-66E3-4B1E-9F0C-8E1F3E6E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38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C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C67621BB-56D1-45CF-9FB6-5295628B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292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자주</a:t>
            </a:r>
          </a:p>
        </p:txBody>
      </p:sp>
      <p:sp>
        <p:nvSpPr>
          <p:cNvPr id="25" name="타원 24">
            <a:extLst xmlns:a="http://schemas.openxmlformats.org/drawingml/2006/main">
              <a:ext uri="{FF2B5EF4-FFF2-40B4-BE49-F238E27FC236}">
                <a16:creationId xmlns:a16="http://schemas.microsoft.com/office/drawing/2014/main" id="{7DAB7D52-AE83-47B3-8231-D80520D0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38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5D20A19E-4DB8-4644-A029-994F319A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292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거의 항상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26CED5DE-9BB8-44CD-806C-3D4E83DF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43400"/>
            <a:ext cx="23431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6D3DA0E1-3E25-4894-872F-8D8BC7A3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14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별도 선택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73F8001A-E8D5-449E-8675-4D93323F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3870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해당 업무 없음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수행 기회 없음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0B1C4151-4266-4810-ADFD-E297DA55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2A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F5D77954-11E1-417D-AC53-728A0667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버튼 순서:  저장하고 다음  →  마지막 문항에서 결과 보기</a:t>
            </a:r>
          </a:p>
        </p:txBody>
      </p:sp>
    </p:spTree>
    <p:extLst>
      <p:ext uri="{BB962C8B-B14F-4D97-AF65-F5344CB8AC3E}">
        <p14:creationId xmlns:p14="http://schemas.microsoft.com/office/powerpoint/2010/main" val="1039494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FBEDDAA-1F3E-4877-ABE4-224D2077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rPr>
              <a:t>05. 개인 결과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1282C4-49D5-4239-86A7-63BA3A79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결과는 순위가 아니라 다음 행동을 찾는 화면입니다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1D482487-D120-4C03-BEF1-21D68BF7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D8E5359-19D8-44D4-9A24-6E462804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KMA  |  TAP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96F8121-C7DE-48AB-A38B-6113F427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5EB3399-686A-4F6F-B7DE-7D0851F0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5151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처음 사용 안내  ·  결과 해석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4E4167E1-3BDF-4C74-8DE0-6AE39F1C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5730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86F08AC7-3FC9-46DE-8540-25BBC7B9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04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안내 예시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F5A19B74-1B5B-4617-BF10-CE34D2F9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781800" cy="4038600"/>
          </a:xfrm>
          <a:prstGeom xmlns:a="http://schemas.openxmlformats.org/drawingml/2006/main" prst="roundRect">
            <a:avLst>
              <a:gd name="adj" fmla="val 5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FF645D39-0CCC-4940-8AC9-FA37B3C4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리포트에서 확인할 것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CA5897AD-32CB-4FFE-89F7-402D1C08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240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1~5 행동빈도  ·  0~100은 선형 환산지수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F76F5E46-F574-4488-97F2-5D4EB85E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행동빈도(1~5)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C3EE8557-C6F2-43D9-9E23-DA416489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3714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A88C792E-F0BA-4EE1-930B-4E54490D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326898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B9F3F960-D20E-4DB5-891E-E9779F6C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1FE7A383-5B49-488F-B919-D163901F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유효 응답수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41FA82CE-836C-48B2-A894-E6DB609D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0350"/>
            <a:ext cx="3714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AB8C1DF0-82E1-4FEA-B9D1-A0135CBE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0350"/>
            <a:ext cx="312039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9F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0A7085FD-F767-443C-A8B9-C67A0C7F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43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27183194-E7B8-4B16-A084-C711822C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수행 기회 없음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C7193688-C45B-4FDF-9BA7-9848CD0B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3714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43E014EE-7EBB-444C-A6B1-5C373896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282321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3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A6854E98-4F2D-41BE-90C3-F9BA70AA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분리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145B452-076E-45ED-AC7F-1D4685C0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미응답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569FE254-0032-4494-BA41-8C3B6C71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62350"/>
            <a:ext cx="3714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ABFA38F-6669-450A-8D0F-B633EA2A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62350"/>
            <a:ext cx="274891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3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9CF1A525-FFAE-4194-99B0-85F4F805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분리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04C457A4-B2C6-4265-89F0-B2B9BEBC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목표와의 격차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338BC4F9-1A90-49F3-90B1-25F36446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3714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9813AE4E-9618-40D5-8AF6-7DAD7908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26003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3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C522DDDD-97BA-4D9D-B838-591B50CE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임시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92EAA954-AEC7-4AFE-968A-B79F4009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교육 추천 이유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82E4BBF6-EE1E-42B1-89F0-6734762B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24350"/>
            <a:ext cx="3714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13339F7A-E5D8-4DBE-AD78-C7CE4DBB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24350"/>
            <a:ext cx="252603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3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1A7AF863-EEC5-4093-B2F0-88C8801B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표시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02A166B8-07E7-4818-ACBF-234D1B69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공유 동의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F27F7052-01F5-4ACD-9776-7CBFA5D1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05350"/>
            <a:ext cx="3714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39404660-3FC1-4BB0-9405-A3AF659A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05350"/>
            <a:ext cx="230314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3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08CEAD7C-BB61-4461-92F5-2A4B7A77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48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선택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94B67FC7-5D94-405E-8794-A83F30E9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해석 제한</a:t>
            </a:r>
          </a:p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9EE4D481-3801-45C5-BCF9-F51D7323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86350"/>
            <a:ext cx="3714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4554CCA1-7357-46D2-9058-A9DF4630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86350"/>
            <a:ext cx="208026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C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00B74505-C613-41DC-B2AB-99AEE3C0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필수</a:t>
            </a: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FB41ABB-38F9-49DD-A329-E7EA1572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8862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102A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52257206-4CD2-4101-9867-9FFCD721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C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C6A3F6E5-C645-4061-89AD-218B1BD9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335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읽기 원칙</a:t>
            </a:r>
          </a:p>
        </p:txBody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75B14BC1-C4CA-4801-860C-5C7035DA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개인 순위·백분위 아님</a:t>
            </a: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48BC0B47-C1EC-436A-8D54-DD379E4A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EEDE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BEEDE4"/>
                </a:solidFill>
                <a:latin typeface="Pretendard"/>
                <a:ea typeface="Pretendard"/>
                <a:cs typeface="Pretendard"/>
              </a:rPr>
              <a:t>높고 낮음은 개인의 우열이나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EEDE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BEEDE4"/>
                </a:solidFill>
                <a:latin typeface="Pretendard"/>
                <a:ea typeface="Pretendard"/>
                <a:cs typeface="Pretendard"/>
              </a:rPr>
              <a:t>백분위를 뜻하지 않습니다.</a:t>
            </a:r>
          </a:p>
        </p:txBody>
      </p:sp>
      <p:sp>
        <p:nvSpPr>
          <p:cNvPr id="49" name="사각형: 둥근 모서리 48">
            <a:extLst xmlns:a="http://schemas.openxmlformats.org/drawingml/2006/main">
              <a:ext uri="{FF2B5EF4-FFF2-40B4-BE49-F238E27FC236}">
                <a16:creationId xmlns:a16="http://schemas.microsoft.com/office/drawing/2014/main" id="{2E76B521-5A27-4161-B76C-8FC8CF10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33800"/>
            <a:ext cx="38862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D440C06B-4942-42FA-BBFD-A68B0767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1447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D9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직사각형 50">
            <a:extLst xmlns:a="http://schemas.openxmlformats.org/drawingml/2006/main">
              <a:ext uri="{FF2B5EF4-FFF2-40B4-BE49-F238E27FC236}">
                <a16:creationId xmlns:a16="http://schemas.microsoft.com/office/drawing/2014/main" id="{E8B35481-1428-4721-96D8-23C09495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10025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다음 행동</a:t>
            </a:r>
          </a:p>
        </p:txBody>
      </p:sp>
      <p:sp>
        <p:nvSpPr>
          <p:cNvPr id="52" name="직사각형 51">
            <a:extLst xmlns:a="http://schemas.openxmlformats.org/drawingml/2006/main">
              <a:ext uri="{FF2B5EF4-FFF2-40B4-BE49-F238E27FC236}">
                <a16:creationId xmlns:a16="http://schemas.microsoft.com/office/drawing/2014/main" id="{7A7F9717-CB21-49C4-ABC0-441B90F4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00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교육과 조직개선 구분</a:t>
            </a:r>
          </a:p>
        </p:txBody>
      </p:sp>
      <p:sp>
        <p:nvSpPr>
          <p:cNvPr id="53" name="직사각형 52">
            <a:extLst xmlns:a="http://schemas.openxmlformats.org/drawingml/2006/main">
              <a:ext uri="{FF2B5EF4-FFF2-40B4-BE49-F238E27FC236}">
                <a16:creationId xmlns:a16="http://schemas.microsoft.com/office/drawing/2014/main" id="{F1DADC72-3ADC-4797-8C48-6C10A614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57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업무환경·권한·도구를 확인한 뒤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교육 필요 여부를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2067183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2F608C5-1858-44A5-A377-31A89E26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9F93"/>
                </a:solidFill>
                <a:latin typeface="Pretendard"/>
                <a:ea typeface="Pretendard"/>
                <a:cs typeface="Pretendard"/>
              </a:rPr>
              <a:t>06. 조직 리포트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2EC9C4-2C7E-4626-BB79-1E769157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조직 리포트는 익명 집계만 보여줍니다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8FF6FDE0-BA3A-490C-9A72-B057B282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ABE4946-3549-48C4-A331-173C3CCC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KMA  |  TAP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67F94BC-32AF-4778-8817-EDEA1430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867FD400-40BE-465B-8C4B-6A09F6F6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5151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82918F"/>
                </a:solidFill>
                <a:latin typeface="Pretendard"/>
                <a:ea typeface="Pretendard"/>
                <a:cs typeface="Pretendard"/>
              </a:rPr>
              <a:t>처음 사용 안내  ·  조직 리포트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3C2B115E-491F-4EF0-9897-A98E1F15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5730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78E8A449-71EE-4C7A-B5FA-8A686220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04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사용 예시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833378C3-B8AA-4EB0-8D45-78E733E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12470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C9E18D61-9CF5-460F-9F8D-C73CA3D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CSV 준비와 출력 흐름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41FAA113-82F3-42C5-AFD9-8F373AA4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7914375C-FB0D-4167-B629-A3A4BB2B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81250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자료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4580DCB-691D-415B-8BF5-C725769C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812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점수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7534A8D-5C03-4222-81C3-5E423441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보호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F4247EE5-DD5B-4EC7-A8C0-66126614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8125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B59D45D0-01FA-4DFD-9568-406E3B43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812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E706E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D7083F42-3989-45A9-A663-A5D86D07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6667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7F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AFC89D83-D29C-443D-86C4-864D3699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업로드 없음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0FCD9ED1-B21B-49A8-AF73-70E29A20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71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580D4C95-E3BB-4EEA-B8DA-33004DB3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6858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2D9D08C9-D0A8-4EEA-9BA8-6420D71D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81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3A80222A-4DB8-4065-A841-7C788AE0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6858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BEED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D25AB75A-646D-46FC-B66E-D2F6E59D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81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표시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28232856-2D0E-4AF5-BCCD-EB6C8DE6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05125"/>
            <a:ext cx="6858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BEED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CFDB28BB-06DE-4B93-BC23-DB0A2A1E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81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화면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7BBB5C27-28AD-4F1B-A240-C9086801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6858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AD9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DA1AE614-0273-48AC-B6FF-4F6C8BBA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예시 리포트</a:t>
            </a:r>
          </a:p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7ED85301-B1DD-4B52-82E2-DD37182B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6667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DF5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C048EA1E-7731-4325-8C91-8B458AD9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CSV 업로드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37D7F2CE-4D0E-4572-AFC7-32A3CA4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52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필수열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0633248B-0F4F-478E-8348-0EDFF41F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86175"/>
            <a:ext cx="6858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ABEF17E0-BA8C-4BB5-AE96-D29B43B9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1~5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BF394510-E313-42C4-A78F-E749F787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86175"/>
            <a:ext cx="6858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B0D9513E-0454-46BF-95A0-9741C87C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623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N≥5</a:t>
            </a: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791DEFA9-5D15-48C2-9B7B-FCDF57AE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86175"/>
            <a:ext cx="6858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A986565F-9585-46B0-AD23-B401050B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623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HTML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004411DA-E4DB-4F4D-B3EE-DE6BE731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86175"/>
            <a:ext cx="6858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AD9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1788964F-BE74-451A-AE90-CAF2EE7A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인쇄·PDF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DF6691B5-9AC2-4E87-9549-1AB22B07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6667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9DAD514B-633D-417F-9260-721C97CB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2A2A"/>
                </a:solidFill>
                <a:latin typeface="Pretendard"/>
                <a:ea typeface="Pretendard"/>
                <a:cs typeface="Pretendard"/>
              </a:rPr>
              <a:t>오류·소수</a:t>
            </a: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C53F0696-D845-4D71-9172-70C84761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33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D8C498A3-3F77-43CC-95A9-53604E2C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점수·버전·N 기준 확인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65B04D05-8DEA-4733-9676-4F4CDC7D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543300" cy="4000500"/>
          </a:xfrm>
          <a:prstGeom xmlns:a="http://schemas.openxmlformats.org/drawingml/2006/main" prst="roundRect">
            <a:avLst>
              <a:gd name="adj" fmla="val 5914"/>
            </a:avLst>
          </a:prstGeom>
          <a:solidFill xmlns:a="http://schemas.openxmlformats.org/drawingml/2006/main">
            <a:srgbClr val="102A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6F78E9AC-ED15-45D0-BF42-CC513ED2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C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C098FC1A-B9D8-4883-8E5F-DBEB940D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3357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개인정보 우선</a:t>
            </a:r>
          </a:p>
        </p:txBody>
      </p:sp>
      <p:sp>
        <p:nvSpPr>
          <p:cNvPr id="46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0E5DD902-4BFE-4199-8530-A449FB3C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세 가지 사용 원칙</a:t>
            </a:r>
          </a:p>
        </p:txBody>
      </p:sp>
      <p:sp>
        <p:nvSpPr>
          <p:cNvPr id="47" name="타원 46">
            <a:extLst xmlns:a="http://schemas.openxmlformats.org/drawingml/2006/main">
              <a:ext uri="{FF2B5EF4-FFF2-40B4-BE49-F238E27FC236}">
                <a16:creationId xmlns:a16="http://schemas.microsoft.com/office/drawing/2014/main" id="{D6D9386A-90AE-40FB-ACAF-D935FCB1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F991E39F-D71C-4394-B33D-AE2EAF79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527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 개인정보·기밀자료 업로드 금지</a:t>
            </a:r>
          </a:p>
        </p:txBody>
      </p:sp>
      <p:sp>
        <p:nvSpPr>
          <p:cNvPr id="49" name="타원 48">
            <a:extLst xmlns:a="http://schemas.openxmlformats.org/drawingml/2006/main">
              <a:ext uri="{FF2B5EF4-FFF2-40B4-BE49-F238E27FC236}">
                <a16:creationId xmlns:a16="http://schemas.microsoft.com/office/drawing/2014/main" id="{2166DD00-7E5B-410F-B668-6400A626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0" name="직사각형 49">
            <a:extLst xmlns:a="http://schemas.openxmlformats.org/drawingml/2006/main">
              <a:ext uri="{FF2B5EF4-FFF2-40B4-BE49-F238E27FC236}">
                <a16:creationId xmlns:a16="http://schemas.microsoft.com/office/drawing/2014/main" id="{EDD9309C-9B5A-435B-974A-6DBF3FE2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957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N&lt;5 집단 점수는 자동 비공개</a:t>
            </a:r>
          </a:p>
        </p:txBody>
      </p:sp>
      <p:sp>
        <p:nvSpPr>
          <p:cNvPr id="51" name="타원 50">
            <a:extLst xmlns:a="http://schemas.openxmlformats.org/drawingml/2006/main">
              <a:ext uri="{FF2B5EF4-FFF2-40B4-BE49-F238E27FC236}">
                <a16:creationId xmlns:a16="http://schemas.microsoft.com/office/drawing/2014/main" id="{2E72EFA7-65AF-4CC8-99D0-392397A5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91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2" name="직사각형 51">
            <a:extLst xmlns:a="http://schemas.openxmlformats.org/drawingml/2006/main">
              <a:ext uri="{FF2B5EF4-FFF2-40B4-BE49-F238E27FC236}">
                <a16:creationId xmlns:a16="http://schemas.microsoft.com/office/drawing/2014/main" id="{5BA080E7-5CEC-4B4D-9195-86E6BC1C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386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인쇄용 HTML을 PDF로 저장</a:t>
            </a:r>
          </a:p>
        </p:txBody>
      </p:sp>
      <p:sp>
        <p:nvSpPr>
          <p:cNvPr id="53" name="직사각형 52">
            <a:extLst xmlns:a="http://schemas.openxmlformats.org/drawingml/2006/main">
              <a:ext uri="{FF2B5EF4-FFF2-40B4-BE49-F238E27FC236}">
                <a16:creationId xmlns:a16="http://schemas.microsoft.com/office/drawing/2014/main" id="{04BB892C-C5C3-4FA9-8BB4-61B5B3F2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055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BD4D3E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BD4D3E"/>
                </a:solidFill>
                <a:latin typeface="Pretendard"/>
                <a:ea typeface="Pretendard"/>
                <a:cs typeface="Pretendard"/>
              </a:rPr>
              <a:t>필수 7열은 ‘CSV 양식 내려받기’로 자동 제공  |  역량명은 한글로 통일</a:t>
            </a:r>
          </a:p>
        </p:txBody>
      </p:sp>
    </p:spTree>
    <p:extLst>
      <p:ext uri="{BB962C8B-B14F-4D97-AF65-F5344CB8AC3E}">
        <p14:creationId xmlns:p14="http://schemas.microsoft.com/office/powerpoint/2010/main" val="722512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2026-08-12T02:21:05.5980000Z</dcterms:created>
  <dcterms:modified xsi:type="dcterms:W3CDTF">2026-08-12T02:21:05.5980000Z</dcterms:modified>
</coreProperties>
</file>